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2.xml" ContentType="application/vnd.openxmlformats-officedocument.drawingml.chart+xml"/>
  <Override PartName="/ppt/notesSlides/notesSlide3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84" r:id="rId4"/>
    <p:sldId id="258" r:id="rId5"/>
    <p:sldId id="259" r:id="rId6"/>
    <p:sldId id="260" r:id="rId7"/>
    <p:sldId id="261" r:id="rId8"/>
    <p:sldId id="286" r:id="rId9"/>
    <p:sldId id="285" r:id="rId10"/>
    <p:sldId id="287" r:id="rId11"/>
    <p:sldId id="288" r:id="rId12"/>
    <p:sldId id="262" r:id="rId13"/>
    <p:sldId id="263" r:id="rId14"/>
    <p:sldId id="264" r:id="rId15"/>
    <p:sldId id="265" r:id="rId16"/>
    <p:sldId id="298" r:id="rId17"/>
    <p:sldId id="290" r:id="rId18"/>
    <p:sldId id="291" r:id="rId19"/>
    <p:sldId id="270" r:id="rId20"/>
    <p:sldId id="271" r:id="rId21"/>
    <p:sldId id="292" r:id="rId22"/>
    <p:sldId id="293" r:id="rId23"/>
    <p:sldId id="294" r:id="rId24"/>
    <p:sldId id="272" r:id="rId25"/>
    <p:sldId id="273" r:id="rId26"/>
    <p:sldId id="295" r:id="rId27"/>
    <p:sldId id="274" r:id="rId28"/>
    <p:sldId id="296" r:id="rId29"/>
    <p:sldId id="275" r:id="rId30"/>
    <p:sldId id="297" r:id="rId31"/>
    <p:sldId id="276" r:id="rId32"/>
    <p:sldId id="278" r:id="rId33"/>
    <p:sldId id="279" r:id="rId34"/>
    <p:sldId id="277" r:id="rId35"/>
    <p:sldId id="281" r:id="rId36"/>
    <p:sldId id="280" r:id="rId37"/>
    <p:sldId id="282" r:id="rId38"/>
    <p:sldId id="266" r:id="rId39"/>
    <p:sldId id="267" r:id="rId40"/>
    <p:sldId id="268" r:id="rId41"/>
    <p:sldId id="269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627F3-F340-4C2E-964E-CB14DB509ECB}" v="12" dt="2026-05-25T21:06:25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56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Ibrahem" userId="4bb17c700f7e0610" providerId="LiveId" clId="{679FE00C-A1F5-4663-B147-07DE6BF31BB9}"/>
    <pc:docChg chg="modSld">
      <pc:chgData name="Mohamed Ibrahem" userId="4bb17c700f7e0610" providerId="LiveId" clId="{679FE00C-A1F5-4663-B147-07DE6BF31BB9}" dt="2026-05-25T21:06:27.449" v="89" actId="20577"/>
      <pc:docMkLst>
        <pc:docMk/>
      </pc:docMkLst>
      <pc:sldChg chg="modSp mod">
        <pc:chgData name="Mohamed Ibrahem" userId="4bb17c700f7e0610" providerId="LiveId" clId="{679FE00C-A1F5-4663-B147-07DE6BF31BB9}" dt="2026-05-25T21:06:27.449" v="89" actId="20577"/>
        <pc:sldMkLst>
          <pc:docMk/>
          <pc:sldMk cId="0" sldId="256"/>
        </pc:sldMkLst>
        <pc:spChg chg="mod">
          <ac:chgData name="Mohamed Ibrahem" userId="4bb17c700f7e0610" providerId="LiveId" clId="{679FE00C-A1F5-4663-B147-07DE6BF31BB9}" dt="2026-05-25T21:06:27.449" v="89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Mohamed Ibrahem" userId="4bb17c700f7e0610" providerId="LiveId" clId="{679FE00C-A1F5-4663-B147-07DE6BF31BB9}" dt="2026-05-25T20:56:35.764" v="83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Mohamed Ibrahem" userId="4bb17c700f7e0610" providerId="LiveId" clId="{679FE00C-A1F5-4663-B147-07DE6BF31BB9}" dt="2026-05-25T20:56:23.429" v="75" actId="20577"/>
        <pc:sldMkLst>
          <pc:docMk/>
          <pc:sldMk cId="0" sldId="270"/>
        </pc:sldMkLst>
        <pc:spChg chg="mod">
          <ac:chgData name="Mohamed Ibrahem" userId="4bb17c700f7e0610" providerId="LiveId" clId="{679FE00C-A1F5-4663-B147-07DE6BF31BB9}" dt="2026-05-25T20:56:23.429" v="75" actId="20577"/>
          <ac:spMkLst>
            <pc:docMk/>
            <pc:sldMk cId="0" sldId="270"/>
            <ac:spMk id="7" creationId="{00000000-0000-0000-0000-000000000000}"/>
          </ac:spMkLst>
        </pc:spChg>
      </pc:sldChg>
      <pc:sldChg chg="modSp mod">
        <pc:chgData name="Mohamed Ibrahem" userId="4bb17c700f7e0610" providerId="LiveId" clId="{679FE00C-A1F5-4663-B147-07DE6BF31BB9}" dt="2026-05-22T17:27:08.573" v="63" actId="20577"/>
        <pc:sldMkLst>
          <pc:docMk/>
          <pc:sldMk cId="0" sldId="271"/>
        </pc:sldMkLst>
        <pc:spChg chg="mod">
          <ac:chgData name="Mohamed Ibrahem" userId="4bb17c700f7e0610" providerId="LiveId" clId="{679FE00C-A1F5-4663-B147-07DE6BF31BB9}" dt="2026-05-22T17:13:53.873" v="10" actId="20577"/>
          <ac:spMkLst>
            <pc:docMk/>
            <pc:sldMk cId="0" sldId="271"/>
            <ac:spMk id="8" creationId="{00000000-0000-0000-0000-000000000000}"/>
          </ac:spMkLst>
        </pc:spChg>
        <pc:spChg chg="mod">
          <ac:chgData name="Mohamed Ibrahem" userId="4bb17c700f7e0610" providerId="LiveId" clId="{679FE00C-A1F5-4663-B147-07DE6BF31BB9}" dt="2026-05-22T17:13:36.312" v="8" actId="20577"/>
          <ac:spMkLst>
            <pc:docMk/>
            <pc:sldMk cId="0" sldId="271"/>
            <ac:spMk id="13" creationId="{00000000-0000-0000-0000-000000000000}"/>
          </ac:spMkLst>
        </pc:spChg>
        <pc:spChg chg="mod">
          <ac:chgData name="Mohamed Ibrahem" userId="4bb17c700f7e0610" providerId="LiveId" clId="{679FE00C-A1F5-4663-B147-07DE6BF31BB9}" dt="2026-05-22T17:14:39.357" v="25" actId="20577"/>
          <ac:spMkLst>
            <pc:docMk/>
            <pc:sldMk cId="0" sldId="271"/>
            <ac:spMk id="18" creationId="{00000000-0000-0000-0000-000000000000}"/>
          </ac:spMkLst>
        </pc:spChg>
        <pc:spChg chg="mod">
          <ac:chgData name="Mohamed Ibrahem" userId="4bb17c700f7e0610" providerId="LiveId" clId="{679FE00C-A1F5-4663-B147-07DE6BF31BB9}" dt="2026-05-22T17:27:08.573" v="63" actId="2057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Mohamed Ibrahem" userId="4bb17c700f7e0610" providerId="LiveId" clId="{679FE00C-A1F5-4663-B147-07DE6BF31BB9}" dt="2026-05-22T17:14:45.622" v="26" actId="20577"/>
          <ac:spMkLst>
            <pc:docMk/>
            <pc:sldMk cId="0" sldId="271"/>
            <ac:spMk id="23" creationId="{00000000-0000-0000-0000-000000000000}"/>
          </ac:spMkLst>
        </pc:spChg>
        <pc:spChg chg="mod">
          <ac:chgData name="Mohamed Ibrahem" userId="4bb17c700f7e0610" providerId="LiveId" clId="{679FE00C-A1F5-4663-B147-07DE6BF31BB9}" dt="2026-05-22T17:16:17.433" v="32" actId="20577"/>
          <ac:spMkLst>
            <pc:docMk/>
            <pc:sldMk cId="0" sldId="271"/>
            <ac:spMk id="27" creationId="{00000000-0000-0000-0000-000000000000}"/>
          </ac:spMkLst>
        </pc:spChg>
      </pc:sldChg>
      <pc:sldChg chg="modSp mod">
        <pc:chgData name="Mohamed Ibrahem" userId="4bb17c700f7e0610" providerId="LiveId" clId="{679FE00C-A1F5-4663-B147-07DE6BF31BB9}" dt="2026-05-22T17:21:08.044" v="48" actId="14100"/>
        <pc:sldMkLst>
          <pc:docMk/>
          <pc:sldMk cId="0" sldId="272"/>
        </pc:sldMkLst>
        <pc:picChg chg="mod">
          <ac:chgData name="Mohamed Ibrahem" userId="4bb17c700f7e0610" providerId="LiveId" clId="{679FE00C-A1F5-4663-B147-07DE6BF31BB9}" dt="2026-05-22T17:21:08.044" v="48" actId="14100"/>
          <ac:picMkLst>
            <pc:docMk/>
            <pc:sldMk cId="0" sldId="272"/>
            <ac:picMk id="6" creationId="{00000000-0000-0000-0000-000000000000}"/>
          </ac:picMkLst>
        </pc:picChg>
      </pc:sldChg>
      <pc:sldChg chg="modSp mod">
        <pc:chgData name="Mohamed Ibrahem" userId="4bb17c700f7e0610" providerId="LiveId" clId="{679FE00C-A1F5-4663-B147-07DE6BF31BB9}" dt="2026-05-22T17:41:33.731" v="64" actId="20577"/>
        <pc:sldMkLst>
          <pc:docMk/>
          <pc:sldMk cId="0" sldId="278"/>
        </pc:sldMkLst>
        <pc:spChg chg="mod">
          <ac:chgData name="Mohamed Ibrahem" userId="4bb17c700f7e0610" providerId="LiveId" clId="{679FE00C-A1F5-4663-B147-07DE6BF31BB9}" dt="2026-05-22T17:41:33.731" v="64" actId="20577"/>
          <ac:spMkLst>
            <pc:docMk/>
            <pc:sldMk cId="0" sldId="278"/>
            <ac:spMk id="10" creationId="{00000000-0000-0000-0000-000000000000}"/>
          </ac:spMkLst>
        </pc:spChg>
      </pc:sldChg>
      <pc:sldChg chg="modSp mod">
        <pc:chgData name="Mohamed Ibrahem" userId="4bb17c700f7e0610" providerId="LiveId" clId="{679FE00C-A1F5-4663-B147-07DE6BF31BB9}" dt="2026-05-22T17:02:26.975" v="3" actId="20577"/>
        <pc:sldMkLst>
          <pc:docMk/>
          <pc:sldMk cId="3007688861" sldId="284"/>
        </pc:sldMkLst>
        <pc:spChg chg="mod">
          <ac:chgData name="Mohamed Ibrahem" userId="4bb17c700f7e0610" providerId="LiveId" clId="{679FE00C-A1F5-4663-B147-07DE6BF31BB9}" dt="2026-05-22T17:02:26.975" v="3" actId="20577"/>
          <ac:spMkLst>
            <pc:docMk/>
            <pc:sldMk cId="3007688861" sldId="284"/>
            <ac:spMk id="7" creationId="{73572666-3614-4DB7-F93E-39D65D360732}"/>
          </ac:spMkLst>
        </pc:spChg>
      </pc:sldChg>
      <pc:sldChg chg="modSp mod">
        <pc:chgData name="Mohamed Ibrahem" userId="4bb17c700f7e0610" providerId="LiveId" clId="{679FE00C-A1F5-4663-B147-07DE6BF31BB9}" dt="2026-05-22T17:20:06.919" v="46" actId="20577"/>
        <pc:sldMkLst>
          <pc:docMk/>
          <pc:sldMk cId="1346650615" sldId="294"/>
        </pc:sldMkLst>
        <pc:spChg chg="mod">
          <ac:chgData name="Mohamed Ibrahem" userId="4bb17c700f7e0610" providerId="LiveId" clId="{679FE00C-A1F5-4663-B147-07DE6BF31BB9}" dt="2026-05-22T17:20:06.919" v="46" actId="20577"/>
          <ac:spMkLst>
            <pc:docMk/>
            <pc:sldMk cId="1346650615" sldId="294"/>
            <ac:spMk id="16" creationId="{DFDD6823-FEFF-B1BE-056E-3E3BBB6BCE4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Arial"/>
              </a:rPr>
              <a:t>Churn Rate by Feature Category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B3-4720-A176-169563AB55C3}"/>
              </c:ext>
            </c:extLst>
          </c:dPt>
          <c:dPt>
            <c:idx val="1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B3-4720-A176-169563AB55C3}"/>
              </c:ext>
            </c:extLst>
          </c:dPt>
          <c:dPt>
            <c:idx val="2"/>
            <c:invertIfNegative val="0"/>
            <c:bubble3D val="0"/>
            <c:spPr>
              <a:solidFill>
                <a:srgbClr val="1B6C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B3-4720-A176-169563AB55C3}"/>
              </c:ext>
            </c:extLst>
          </c:dPt>
          <c:dPt>
            <c:idx val="3"/>
            <c:invertIfNegative val="0"/>
            <c:bubble3D val="0"/>
            <c:spPr>
              <a:solidFill>
                <a:srgbClr val="5BA4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B3-4720-A176-169563AB55C3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1B3-4720-A176-169563AB55C3}"/>
              </c:ext>
            </c:extLst>
          </c:dPt>
          <c:dPt>
            <c:idx val="5"/>
            <c:invertIfNegative val="0"/>
            <c:bubble3D val="0"/>
            <c:spPr>
              <a:solidFill>
                <a:srgbClr val="E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1B3-4720-A176-169563AB55C3}"/>
              </c:ext>
            </c:extLst>
          </c:dPt>
          <c:dPt>
            <c:idx val="6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1B3-4720-A176-169563AB55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Month-Month</c:v>
                </c:pt>
                <c:pt idx="1">
                  <c:v>Senior Citizen</c:v>
                </c:pt>
                <c:pt idx="2">
                  <c:v>No Partner</c:v>
                </c:pt>
                <c:pt idx="3">
                  <c:v>Fiber Optic</c:v>
                </c:pt>
                <c:pt idx="4">
                  <c:v>No Dependents</c:v>
                </c:pt>
                <c:pt idx="5">
                  <c:v>Electronic Chk</c:v>
                </c:pt>
                <c:pt idx="6">
                  <c:v>Paperless Bill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</c:v>
                </c:pt>
                <c:pt idx="1">
                  <c:v>42</c:v>
                </c:pt>
                <c:pt idx="2">
                  <c:v>33</c:v>
                </c:pt>
                <c:pt idx="3">
                  <c:v>42</c:v>
                </c:pt>
                <c:pt idx="4">
                  <c:v>31</c:v>
                </c:pt>
                <c:pt idx="5">
                  <c:v>45</c:v>
                </c:pt>
                <c:pt idx="6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1B3-4720-A176-169563AB55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B2545"/>
                </a:solidFill>
                <a:latin typeface="Arial"/>
              </a:rPr>
              <a:t>F1-Score vs ROC-AUC by Model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GB (tuned)</c:v>
                </c:pt>
                <c:pt idx="1">
                  <c:v>GB</c:v>
                </c:pt>
                <c:pt idx="2">
                  <c:v>LR</c:v>
                </c:pt>
                <c:pt idx="3">
                  <c:v>RF (tuned)</c:v>
                </c:pt>
                <c:pt idx="4">
                  <c:v>NB</c:v>
                </c:pt>
                <c:pt idx="5">
                  <c:v>RF</c:v>
                </c:pt>
                <c:pt idx="6">
                  <c:v>KNN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62.9</c:v>
                </c:pt>
                <c:pt idx="1">
                  <c:v>64</c:v>
                </c:pt>
                <c:pt idx="2">
                  <c:v>61.1</c:v>
                </c:pt>
                <c:pt idx="3">
                  <c:v>60.7</c:v>
                </c:pt>
                <c:pt idx="4">
                  <c:v>59.7</c:v>
                </c:pt>
                <c:pt idx="5">
                  <c:v>59.6</c:v>
                </c:pt>
                <c:pt idx="6">
                  <c:v>57.9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63-4E6B-AC55-1EE7F17AAF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5BA4C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GB (tuned)</c:v>
                </c:pt>
                <c:pt idx="1">
                  <c:v>GB</c:v>
                </c:pt>
                <c:pt idx="2">
                  <c:v>LR</c:v>
                </c:pt>
                <c:pt idx="3">
                  <c:v>RF (tuned)</c:v>
                </c:pt>
                <c:pt idx="4">
                  <c:v>NB</c:v>
                </c:pt>
                <c:pt idx="5">
                  <c:v>RF</c:v>
                </c:pt>
                <c:pt idx="6">
                  <c:v>KNN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83.9</c:v>
                </c:pt>
                <c:pt idx="1">
                  <c:v>83.9</c:v>
                </c:pt>
                <c:pt idx="2">
                  <c:v>83.3</c:v>
                </c:pt>
                <c:pt idx="3">
                  <c:v>82.2</c:v>
                </c:pt>
                <c:pt idx="4">
                  <c:v>81.5</c:v>
                </c:pt>
                <c:pt idx="5">
                  <c:v>81.2</c:v>
                </c:pt>
                <c:pt idx="6">
                  <c:v>77.8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63-4E6B-AC55-1EE7F17AAF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Churn by Partner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 Partner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29-4699-88B5-CBF71BFC438F}"/>
              </c:ext>
            </c:extLst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29-4699-88B5-CBF71BFC43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Has Partner</c:v>
                </c:pt>
                <c:pt idx="1">
                  <c:v>No Partner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29-4699-88B5-CBF71BFC43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Churn by Senior Citizen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Senior Citizen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F4C-4A75-BF65-E8DC0F5FDFDF}"/>
              </c:ext>
            </c:extLst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4C-4A75-BF65-E8DC0F5FDF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Senior</c:v>
                </c:pt>
                <c:pt idx="1">
                  <c:v>Senior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4C-4A75-BF65-E8DC0F5FDF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Churn by Dependents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Dependents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15-488A-8A7B-109492B718B0}"/>
              </c:ext>
            </c:extLst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15-488A-8A7B-109492B718B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Has Dependents</c:v>
                </c:pt>
                <c:pt idx="1">
                  <c:v>No Dependents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15-488A-8A7B-109492B718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9BB4D5-1FCD-4228-8701-AE2688E1786A}" type="doc">
      <dgm:prSet loTypeId="urn:microsoft.com/office/officeart/2005/8/layout/process2" loCatId="process" qsTypeId="urn:microsoft.com/office/officeart/2005/8/quickstyle/simple1" qsCatId="simple" csTypeId="urn:microsoft.com/office/officeart/2005/8/colors/colorful5" csCatId="colorful" phldr="1"/>
      <dgm:spPr/>
    </dgm:pt>
    <dgm:pt modelId="{B2221573-2E13-4D26-ACB4-6BE3FC47F2A4}">
      <dgm:prSet phldrT="[Text]" custT="1"/>
      <dgm:spPr/>
      <dgm:t>
        <a:bodyPr/>
        <a:lstStyle/>
        <a:p>
          <a:pPr algn="ctr"/>
          <a:r>
            <a:rPr lang="en-US" sz="1100" b="1"/>
            <a:t>Data Collection</a:t>
          </a:r>
        </a:p>
      </dgm:t>
    </dgm:pt>
    <dgm:pt modelId="{D35CAE3B-843B-405A-8351-6AB5AA77D6E2}" type="parTrans" cxnId="{095730A8-E014-4928-AB74-B96909956346}">
      <dgm:prSet/>
      <dgm:spPr/>
      <dgm:t>
        <a:bodyPr/>
        <a:lstStyle/>
        <a:p>
          <a:pPr algn="r"/>
          <a:endParaRPr lang="en-US" b="1"/>
        </a:p>
      </dgm:t>
    </dgm:pt>
    <dgm:pt modelId="{69CACE8B-43D1-47B4-8C9F-937B7DCBCBAB}" type="sibTrans" cxnId="{095730A8-E014-4928-AB74-B96909956346}">
      <dgm:prSet/>
      <dgm:spPr/>
      <dgm:t>
        <a:bodyPr/>
        <a:lstStyle/>
        <a:p>
          <a:pPr algn="r"/>
          <a:endParaRPr lang="en-US" b="1"/>
        </a:p>
      </dgm:t>
    </dgm:pt>
    <dgm:pt modelId="{A0DC88ED-1916-43CD-B177-D5864A3F9604}">
      <dgm:prSet phldrT="[Text]" custT="1"/>
      <dgm:spPr/>
      <dgm:t>
        <a:bodyPr/>
        <a:lstStyle/>
        <a:p>
          <a:pPr algn="ctr"/>
          <a:r>
            <a:rPr lang="en-US" sz="1100" b="1"/>
            <a:t>Data Preprocessing</a:t>
          </a:r>
        </a:p>
      </dgm:t>
    </dgm:pt>
    <dgm:pt modelId="{B0A3C7D1-FA35-494B-831F-674CA9414CBA}" type="parTrans" cxnId="{822E515D-21BA-4096-8D62-FADC53ECDB6B}">
      <dgm:prSet/>
      <dgm:spPr/>
      <dgm:t>
        <a:bodyPr/>
        <a:lstStyle/>
        <a:p>
          <a:pPr algn="r"/>
          <a:endParaRPr lang="en-US" b="1"/>
        </a:p>
      </dgm:t>
    </dgm:pt>
    <dgm:pt modelId="{39298259-5816-40D3-9046-3EB8B1FBED49}" type="sibTrans" cxnId="{822E515D-21BA-4096-8D62-FADC53ECDB6B}">
      <dgm:prSet/>
      <dgm:spPr/>
      <dgm:t>
        <a:bodyPr/>
        <a:lstStyle/>
        <a:p>
          <a:pPr algn="r"/>
          <a:endParaRPr lang="en-US" b="1"/>
        </a:p>
      </dgm:t>
    </dgm:pt>
    <dgm:pt modelId="{F65ABA03-4F52-4DDD-ACDA-A35F251B9814}">
      <dgm:prSet phldrT="[Text]" custT="1"/>
      <dgm:spPr/>
      <dgm:t>
        <a:bodyPr/>
        <a:lstStyle/>
        <a:p>
          <a:pPr algn="ctr"/>
          <a:r>
            <a:rPr lang="en-US" sz="1100" b="1"/>
            <a:t>Feature Engineering</a:t>
          </a:r>
        </a:p>
      </dgm:t>
    </dgm:pt>
    <dgm:pt modelId="{C7D90594-656D-4910-8157-760B28D30F5C}" type="parTrans" cxnId="{D3B1CC5F-D0FE-4063-8001-52338E9A7037}">
      <dgm:prSet/>
      <dgm:spPr/>
      <dgm:t>
        <a:bodyPr/>
        <a:lstStyle/>
        <a:p>
          <a:pPr algn="r"/>
          <a:endParaRPr lang="en-US" b="1"/>
        </a:p>
      </dgm:t>
    </dgm:pt>
    <dgm:pt modelId="{DD51D0D7-C9B7-46A4-8444-5BAACC7E1C9C}" type="sibTrans" cxnId="{D3B1CC5F-D0FE-4063-8001-52338E9A7037}">
      <dgm:prSet/>
      <dgm:spPr/>
      <dgm:t>
        <a:bodyPr/>
        <a:lstStyle/>
        <a:p>
          <a:pPr algn="r"/>
          <a:endParaRPr lang="en-US" b="1"/>
        </a:p>
      </dgm:t>
    </dgm:pt>
    <dgm:pt modelId="{FF5F96B2-9882-4C53-93DB-D8E37FC4E0FA}">
      <dgm:prSet phldrT="[Text]" custT="1"/>
      <dgm:spPr/>
      <dgm:t>
        <a:bodyPr/>
        <a:lstStyle/>
        <a:p>
          <a:pPr algn="ctr"/>
          <a:r>
            <a:rPr lang="en-US" sz="1100" b="1"/>
            <a:t>Model Training</a:t>
          </a:r>
        </a:p>
      </dgm:t>
    </dgm:pt>
    <dgm:pt modelId="{EEBECBD6-00C7-493A-B3D0-CDD272C68BE1}" type="parTrans" cxnId="{B2F87AE7-5519-44B1-9A2F-5CF696E04049}">
      <dgm:prSet/>
      <dgm:spPr/>
      <dgm:t>
        <a:bodyPr/>
        <a:lstStyle/>
        <a:p>
          <a:pPr algn="r"/>
          <a:endParaRPr lang="en-US" b="1"/>
        </a:p>
      </dgm:t>
    </dgm:pt>
    <dgm:pt modelId="{28ABC61A-4895-464B-A0C2-9161993575A6}" type="sibTrans" cxnId="{B2F87AE7-5519-44B1-9A2F-5CF696E04049}">
      <dgm:prSet/>
      <dgm:spPr/>
      <dgm:t>
        <a:bodyPr/>
        <a:lstStyle/>
        <a:p>
          <a:pPr algn="r"/>
          <a:endParaRPr lang="en-US" b="1"/>
        </a:p>
      </dgm:t>
    </dgm:pt>
    <dgm:pt modelId="{9C35C0C2-2A34-4839-8DA0-0EFBF1F3B937}">
      <dgm:prSet phldrT="[Text]" custT="1"/>
      <dgm:spPr/>
      <dgm:t>
        <a:bodyPr/>
        <a:lstStyle/>
        <a:p>
          <a:pPr algn="ctr"/>
          <a:r>
            <a:rPr lang="en-US" sz="1100" b="1"/>
            <a:t>MLFlow Experiment Tracking</a:t>
          </a:r>
        </a:p>
      </dgm:t>
    </dgm:pt>
    <dgm:pt modelId="{89CFD777-929E-47BF-BF10-E12FBD07A4F9}" type="parTrans" cxnId="{4E5679E5-9E18-486A-AC2A-3F2B2B43C874}">
      <dgm:prSet/>
      <dgm:spPr/>
      <dgm:t>
        <a:bodyPr/>
        <a:lstStyle/>
        <a:p>
          <a:pPr algn="r"/>
          <a:endParaRPr lang="en-US" b="1"/>
        </a:p>
      </dgm:t>
    </dgm:pt>
    <dgm:pt modelId="{87DFF331-FF83-4B91-B6F8-52880DC47DBC}" type="sibTrans" cxnId="{4E5679E5-9E18-486A-AC2A-3F2B2B43C874}">
      <dgm:prSet/>
      <dgm:spPr/>
      <dgm:t>
        <a:bodyPr/>
        <a:lstStyle/>
        <a:p>
          <a:pPr algn="r"/>
          <a:endParaRPr lang="en-US" b="1"/>
        </a:p>
      </dgm:t>
    </dgm:pt>
    <dgm:pt modelId="{4FFDDF5C-AF72-4824-A474-0783F4EAAB47}">
      <dgm:prSet phldrT="[Text]" custT="1"/>
      <dgm:spPr/>
      <dgm:t>
        <a:bodyPr/>
        <a:lstStyle/>
        <a:p>
          <a:pPr algn="ctr"/>
          <a:r>
            <a:rPr lang="en-US" sz="1100" b="1"/>
            <a:t>Model Evaluation</a:t>
          </a:r>
        </a:p>
      </dgm:t>
    </dgm:pt>
    <dgm:pt modelId="{3B58B9FA-64D5-4D3E-B646-4310D2A4AAA3}" type="parTrans" cxnId="{7F559A74-7CE2-4B8B-B39E-74976E65E1A1}">
      <dgm:prSet/>
      <dgm:spPr/>
      <dgm:t>
        <a:bodyPr/>
        <a:lstStyle/>
        <a:p>
          <a:pPr algn="r"/>
          <a:endParaRPr lang="en-US" b="1"/>
        </a:p>
      </dgm:t>
    </dgm:pt>
    <dgm:pt modelId="{93ADCF98-DB06-42D7-9F31-588ED8E05685}" type="sibTrans" cxnId="{7F559A74-7CE2-4B8B-B39E-74976E65E1A1}">
      <dgm:prSet/>
      <dgm:spPr/>
      <dgm:t>
        <a:bodyPr/>
        <a:lstStyle/>
        <a:p>
          <a:pPr algn="r"/>
          <a:endParaRPr lang="en-US" b="1"/>
        </a:p>
      </dgm:t>
    </dgm:pt>
    <dgm:pt modelId="{C5178313-CA84-4DD6-A403-55533087631C}">
      <dgm:prSet phldrT="[Text]" custT="1"/>
      <dgm:spPr/>
      <dgm:t>
        <a:bodyPr/>
        <a:lstStyle/>
        <a:p>
          <a:pPr algn="ctr"/>
          <a:r>
            <a:rPr lang="en-US" sz="1100" b="1"/>
            <a:t>Model Serialization</a:t>
          </a:r>
        </a:p>
      </dgm:t>
    </dgm:pt>
    <dgm:pt modelId="{8671963A-3D21-44FD-BACB-AFA5E59C2452}" type="parTrans" cxnId="{80F439EB-47C0-45CF-9498-C8A1FF95EE4C}">
      <dgm:prSet/>
      <dgm:spPr/>
      <dgm:t>
        <a:bodyPr/>
        <a:lstStyle/>
        <a:p>
          <a:pPr algn="r"/>
          <a:endParaRPr lang="en-US" b="1"/>
        </a:p>
      </dgm:t>
    </dgm:pt>
    <dgm:pt modelId="{3FC815AA-49FC-4E85-8891-686989B2D447}" type="sibTrans" cxnId="{80F439EB-47C0-45CF-9498-C8A1FF95EE4C}">
      <dgm:prSet custT="1"/>
      <dgm:spPr/>
      <dgm:t>
        <a:bodyPr/>
        <a:lstStyle/>
        <a:p>
          <a:pPr algn="ctr"/>
          <a:endParaRPr lang="en-US" sz="1050" b="1"/>
        </a:p>
      </dgm:t>
    </dgm:pt>
    <dgm:pt modelId="{3CD54C13-4BB2-4C42-9EEA-E0C09A87EDF4}">
      <dgm:prSet phldrT="[Text]" custT="1"/>
      <dgm:spPr/>
      <dgm:t>
        <a:bodyPr/>
        <a:lstStyle/>
        <a:p>
          <a:pPr algn="ctr"/>
          <a:r>
            <a:rPr lang="en-US" sz="1100" b="1"/>
            <a:t>FastAPI Deployment</a:t>
          </a:r>
        </a:p>
      </dgm:t>
    </dgm:pt>
    <dgm:pt modelId="{EA8A8A50-BD39-45E3-AE78-AB08B83E88AF}" type="parTrans" cxnId="{1B2C1FD3-80B3-4F17-AD03-AD955FF324A1}">
      <dgm:prSet/>
      <dgm:spPr/>
      <dgm:t>
        <a:bodyPr/>
        <a:lstStyle/>
        <a:p>
          <a:pPr algn="r"/>
          <a:endParaRPr lang="en-US" b="1"/>
        </a:p>
      </dgm:t>
    </dgm:pt>
    <dgm:pt modelId="{1B29DCFA-AA39-44BE-AFF4-F6AB48037511}" type="sibTrans" cxnId="{1B2C1FD3-80B3-4F17-AD03-AD955FF324A1}">
      <dgm:prSet/>
      <dgm:spPr/>
      <dgm:t>
        <a:bodyPr/>
        <a:lstStyle/>
        <a:p>
          <a:pPr algn="r"/>
          <a:endParaRPr lang="en-US" b="1"/>
        </a:p>
      </dgm:t>
    </dgm:pt>
    <dgm:pt modelId="{FED0658F-4C01-4471-8006-0B7CAC602B0A}">
      <dgm:prSet phldrT="[Text]" custT="1"/>
      <dgm:spPr/>
      <dgm:t>
        <a:bodyPr/>
        <a:lstStyle/>
        <a:p>
          <a:pPr algn="ctr"/>
          <a:r>
            <a:rPr lang="en-US" sz="1100" b="1"/>
            <a:t>Streamlit Dashboard</a:t>
          </a:r>
        </a:p>
      </dgm:t>
    </dgm:pt>
    <dgm:pt modelId="{2ED7E8AF-C536-481A-96ED-7256A17AAAB2}" type="parTrans" cxnId="{DA19B01F-1DA7-430E-99B4-2F1B9AAF4B67}">
      <dgm:prSet/>
      <dgm:spPr/>
      <dgm:t>
        <a:bodyPr/>
        <a:lstStyle/>
        <a:p>
          <a:pPr algn="r"/>
          <a:endParaRPr lang="en-US" b="1"/>
        </a:p>
      </dgm:t>
    </dgm:pt>
    <dgm:pt modelId="{F48218E5-8750-49D4-83D6-7A86BF9770E3}" type="sibTrans" cxnId="{DA19B01F-1DA7-430E-99B4-2F1B9AAF4B67}">
      <dgm:prSet/>
      <dgm:spPr/>
      <dgm:t>
        <a:bodyPr/>
        <a:lstStyle/>
        <a:p>
          <a:pPr algn="r"/>
          <a:endParaRPr lang="en-US" b="1"/>
        </a:p>
      </dgm:t>
    </dgm:pt>
    <dgm:pt modelId="{476C7AE4-00C4-4CD4-ACF2-BB3DDC0E0910}">
      <dgm:prSet phldrT="[Text]" custT="1"/>
      <dgm:spPr/>
      <dgm:t>
        <a:bodyPr/>
        <a:lstStyle/>
        <a:p>
          <a:pPr algn="ctr"/>
          <a:r>
            <a:rPr lang="en-US" sz="1100" b="1"/>
            <a:t>Retraining Pipeline</a:t>
          </a:r>
        </a:p>
      </dgm:t>
    </dgm:pt>
    <dgm:pt modelId="{208FA004-C812-4553-9CB9-10D4552B7A0E}" type="parTrans" cxnId="{08E28312-5216-472F-9D3D-AAB0A71236E4}">
      <dgm:prSet/>
      <dgm:spPr/>
      <dgm:t>
        <a:bodyPr/>
        <a:lstStyle/>
        <a:p>
          <a:pPr algn="r"/>
          <a:endParaRPr lang="en-US" b="1"/>
        </a:p>
      </dgm:t>
    </dgm:pt>
    <dgm:pt modelId="{F8B7D7E7-4BE5-4306-A508-A156EB39E18E}" type="sibTrans" cxnId="{08E28312-5216-472F-9D3D-AAB0A71236E4}">
      <dgm:prSet/>
      <dgm:spPr/>
      <dgm:t>
        <a:bodyPr/>
        <a:lstStyle/>
        <a:p>
          <a:pPr algn="r"/>
          <a:endParaRPr lang="en-US" b="1"/>
        </a:p>
      </dgm:t>
    </dgm:pt>
    <dgm:pt modelId="{EB85F516-6FFE-40BE-9308-0F248C4BD12E}" type="pres">
      <dgm:prSet presAssocID="{ED9BB4D5-1FCD-4228-8701-AE2688E1786A}" presName="linearFlow" presStyleCnt="0">
        <dgm:presLayoutVars>
          <dgm:resizeHandles val="exact"/>
        </dgm:presLayoutVars>
      </dgm:prSet>
      <dgm:spPr/>
    </dgm:pt>
    <dgm:pt modelId="{B7588817-03D6-44A6-9E52-B12C1D326DCD}" type="pres">
      <dgm:prSet presAssocID="{B2221573-2E13-4D26-ACB4-6BE3FC47F2A4}" presName="node" presStyleLbl="node1" presStyleIdx="0" presStyleCnt="10" custScaleX="213865">
        <dgm:presLayoutVars>
          <dgm:bulletEnabled val="1"/>
        </dgm:presLayoutVars>
      </dgm:prSet>
      <dgm:spPr/>
    </dgm:pt>
    <dgm:pt modelId="{F41EFEF2-0D7A-477F-965C-6A977382442A}" type="pres">
      <dgm:prSet presAssocID="{69CACE8B-43D1-47B4-8C9F-937B7DCBCBAB}" presName="sibTrans" presStyleLbl="sibTrans2D1" presStyleIdx="0" presStyleCnt="9"/>
      <dgm:spPr/>
    </dgm:pt>
    <dgm:pt modelId="{187A5C35-9FFB-402E-B29A-23FE1BA6601C}" type="pres">
      <dgm:prSet presAssocID="{69CACE8B-43D1-47B4-8C9F-937B7DCBCBAB}" presName="connectorText" presStyleLbl="sibTrans2D1" presStyleIdx="0" presStyleCnt="9"/>
      <dgm:spPr/>
    </dgm:pt>
    <dgm:pt modelId="{117900C2-74B4-480C-8C02-A866E948DAC6}" type="pres">
      <dgm:prSet presAssocID="{A0DC88ED-1916-43CD-B177-D5864A3F9604}" presName="node" presStyleLbl="node1" presStyleIdx="1" presStyleCnt="10" custScaleX="213865">
        <dgm:presLayoutVars>
          <dgm:bulletEnabled val="1"/>
        </dgm:presLayoutVars>
      </dgm:prSet>
      <dgm:spPr/>
    </dgm:pt>
    <dgm:pt modelId="{021F1144-B991-4BF7-ABB2-D6743BE8FB3C}" type="pres">
      <dgm:prSet presAssocID="{39298259-5816-40D3-9046-3EB8B1FBED49}" presName="sibTrans" presStyleLbl="sibTrans2D1" presStyleIdx="1" presStyleCnt="9"/>
      <dgm:spPr/>
    </dgm:pt>
    <dgm:pt modelId="{A5A85FB4-DA91-4807-A3D5-167850B1FA03}" type="pres">
      <dgm:prSet presAssocID="{39298259-5816-40D3-9046-3EB8B1FBED49}" presName="connectorText" presStyleLbl="sibTrans2D1" presStyleIdx="1" presStyleCnt="9"/>
      <dgm:spPr/>
    </dgm:pt>
    <dgm:pt modelId="{EA570DA3-1E60-48DB-8074-E7EEE583E5BE}" type="pres">
      <dgm:prSet presAssocID="{F65ABA03-4F52-4DDD-ACDA-A35F251B9814}" presName="node" presStyleLbl="node1" presStyleIdx="2" presStyleCnt="10" custScaleX="213865">
        <dgm:presLayoutVars>
          <dgm:bulletEnabled val="1"/>
        </dgm:presLayoutVars>
      </dgm:prSet>
      <dgm:spPr/>
    </dgm:pt>
    <dgm:pt modelId="{969B4755-5DD0-485F-87A0-04D8FFC44CBD}" type="pres">
      <dgm:prSet presAssocID="{DD51D0D7-C9B7-46A4-8444-5BAACC7E1C9C}" presName="sibTrans" presStyleLbl="sibTrans2D1" presStyleIdx="2" presStyleCnt="9"/>
      <dgm:spPr/>
    </dgm:pt>
    <dgm:pt modelId="{CAC19D41-5650-4548-8C3B-691EF6A8AD9C}" type="pres">
      <dgm:prSet presAssocID="{DD51D0D7-C9B7-46A4-8444-5BAACC7E1C9C}" presName="connectorText" presStyleLbl="sibTrans2D1" presStyleIdx="2" presStyleCnt="9"/>
      <dgm:spPr/>
    </dgm:pt>
    <dgm:pt modelId="{C196BBDE-6FF2-4520-999A-D93A2D132D63}" type="pres">
      <dgm:prSet presAssocID="{FF5F96B2-9882-4C53-93DB-D8E37FC4E0FA}" presName="node" presStyleLbl="node1" presStyleIdx="3" presStyleCnt="10" custScaleX="213865">
        <dgm:presLayoutVars>
          <dgm:bulletEnabled val="1"/>
        </dgm:presLayoutVars>
      </dgm:prSet>
      <dgm:spPr/>
    </dgm:pt>
    <dgm:pt modelId="{B894B272-381A-49DD-939A-D3B950A2A199}" type="pres">
      <dgm:prSet presAssocID="{28ABC61A-4895-464B-A0C2-9161993575A6}" presName="sibTrans" presStyleLbl="sibTrans2D1" presStyleIdx="3" presStyleCnt="9"/>
      <dgm:spPr/>
    </dgm:pt>
    <dgm:pt modelId="{B68B6727-9C81-49F9-9F64-9B4985685716}" type="pres">
      <dgm:prSet presAssocID="{28ABC61A-4895-464B-A0C2-9161993575A6}" presName="connectorText" presStyleLbl="sibTrans2D1" presStyleIdx="3" presStyleCnt="9"/>
      <dgm:spPr/>
    </dgm:pt>
    <dgm:pt modelId="{2F7C70DB-A167-4EEA-AF00-20DB204BBD81}" type="pres">
      <dgm:prSet presAssocID="{9C35C0C2-2A34-4839-8DA0-0EFBF1F3B937}" presName="node" presStyleLbl="node1" presStyleIdx="4" presStyleCnt="10" custScaleX="213865">
        <dgm:presLayoutVars>
          <dgm:bulletEnabled val="1"/>
        </dgm:presLayoutVars>
      </dgm:prSet>
      <dgm:spPr/>
    </dgm:pt>
    <dgm:pt modelId="{8B533D45-B987-4C3F-895C-44ADB2819A0A}" type="pres">
      <dgm:prSet presAssocID="{87DFF331-FF83-4B91-B6F8-52880DC47DBC}" presName="sibTrans" presStyleLbl="sibTrans2D1" presStyleIdx="4" presStyleCnt="9"/>
      <dgm:spPr/>
    </dgm:pt>
    <dgm:pt modelId="{9C17585B-DA65-4544-A449-78C882589C85}" type="pres">
      <dgm:prSet presAssocID="{87DFF331-FF83-4B91-B6F8-52880DC47DBC}" presName="connectorText" presStyleLbl="sibTrans2D1" presStyleIdx="4" presStyleCnt="9"/>
      <dgm:spPr/>
    </dgm:pt>
    <dgm:pt modelId="{5233F00C-1A70-4878-989C-4180CFADC804}" type="pres">
      <dgm:prSet presAssocID="{4FFDDF5C-AF72-4824-A474-0783F4EAAB47}" presName="node" presStyleLbl="node1" presStyleIdx="5" presStyleCnt="10" custScaleX="213865">
        <dgm:presLayoutVars>
          <dgm:bulletEnabled val="1"/>
        </dgm:presLayoutVars>
      </dgm:prSet>
      <dgm:spPr/>
    </dgm:pt>
    <dgm:pt modelId="{E27D6BA7-792E-494A-8470-837D8FA72161}" type="pres">
      <dgm:prSet presAssocID="{93ADCF98-DB06-42D7-9F31-588ED8E05685}" presName="sibTrans" presStyleLbl="sibTrans2D1" presStyleIdx="5" presStyleCnt="9"/>
      <dgm:spPr/>
    </dgm:pt>
    <dgm:pt modelId="{914DFA34-8ECA-4FA3-97D6-5F335831CE4D}" type="pres">
      <dgm:prSet presAssocID="{93ADCF98-DB06-42D7-9F31-588ED8E05685}" presName="connectorText" presStyleLbl="sibTrans2D1" presStyleIdx="5" presStyleCnt="9"/>
      <dgm:spPr/>
    </dgm:pt>
    <dgm:pt modelId="{EA30ECD9-A692-4E13-83E0-90FEC01E2E51}" type="pres">
      <dgm:prSet presAssocID="{C5178313-CA84-4DD6-A403-55533087631C}" presName="node" presStyleLbl="node1" presStyleIdx="6" presStyleCnt="10" custScaleX="213865">
        <dgm:presLayoutVars>
          <dgm:bulletEnabled val="1"/>
        </dgm:presLayoutVars>
      </dgm:prSet>
      <dgm:spPr/>
    </dgm:pt>
    <dgm:pt modelId="{88ED12A1-1111-4826-AC36-5547F61DC8AF}" type="pres">
      <dgm:prSet presAssocID="{3FC815AA-49FC-4E85-8891-686989B2D447}" presName="sibTrans" presStyleLbl="sibTrans2D1" presStyleIdx="6" presStyleCnt="9"/>
      <dgm:spPr/>
    </dgm:pt>
    <dgm:pt modelId="{B13B5C05-903F-4739-B2FA-A980BA1FCE51}" type="pres">
      <dgm:prSet presAssocID="{3FC815AA-49FC-4E85-8891-686989B2D447}" presName="connectorText" presStyleLbl="sibTrans2D1" presStyleIdx="6" presStyleCnt="9"/>
      <dgm:spPr/>
    </dgm:pt>
    <dgm:pt modelId="{58DDEE71-39F1-4CC3-A14F-E71E4DAC53A5}" type="pres">
      <dgm:prSet presAssocID="{3CD54C13-4BB2-4C42-9EEA-E0C09A87EDF4}" presName="node" presStyleLbl="node1" presStyleIdx="7" presStyleCnt="10" custScaleX="213865">
        <dgm:presLayoutVars>
          <dgm:bulletEnabled val="1"/>
        </dgm:presLayoutVars>
      </dgm:prSet>
      <dgm:spPr/>
    </dgm:pt>
    <dgm:pt modelId="{5916D79B-0977-4295-880E-4C2E757E664C}" type="pres">
      <dgm:prSet presAssocID="{1B29DCFA-AA39-44BE-AFF4-F6AB48037511}" presName="sibTrans" presStyleLbl="sibTrans2D1" presStyleIdx="7" presStyleCnt="9"/>
      <dgm:spPr/>
    </dgm:pt>
    <dgm:pt modelId="{28DF1A82-9952-4345-A643-7006BEDE027B}" type="pres">
      <dgm:prSet presAssocID="{1B29DCFA-AA39-44BE-AFF4-F6AB48037511}" presName="connectorText" presStyleLbl="sibTrans2D1" presStyleIdx="7" presStyleCnt="9"/>
      <dgm:spPr/>
    </dgm:pt>
    <dgm:pt modelId="{1E7E3215-A5C2-4CA8-80F7-5E154853387B}" type="pres">
      <dgm:prSet presAssocID="{FED0658F-4C01-4471-8006-0B7CAC602B0A}" presName="node" presStyleLbl="node1" presStyleIdx="8" presStyleCnt="10" custScaleX="213865">
        <dgm:presLayoutVars>
          <dgm:bulletEnabled val="1"/>
        </dgm:presLayoutVars>
      </dgm:prSet>
      <dgm:spPr/>
    </dgm:pt>
    <dgm:pt modelId="{8C8C6C43-46C9-4980-8871-C79DEB98275E}" type="pres">
      <dgm:prSet presAssocID="{F48218E5-8750-49D4-83D6-7A86BF9770E3}" presName="sibTrans" presStyleLbl="sibTrans2D1" presStyleIdx="8" presStyleCnt="9"/>
      <dgm:spPr/>
    </dgm:pt>
    <dgm:pt modelId="{5A4D1462-3C54-486F-87AA-3CCCF267918B}" type="pres">
      <dgm:prSet presAssocID="{F48218E5-8750-49D4-83D6-7A86BF9770E3}" presName="connectorText" presStyleLbl="sibTrans2D1" presStyleIdx="8" presStyleCnt="9"/>
      <dgm:spPr/>
    </dgm:pt>
    <dgm:pt modelId="{CCDC7988-C2CB-49FA-B5E1-1A67C07EF560}" type="pres">
      <dgm:prSet presAssocID="{476C7AE4-00C4-4CD4-ACF2-BB3DDC0E0910}" presName="node" presStyleLbl="node1" presStyleIdx="9" presStyleCnt="10" custScaleX="213865">
        <dgm:presLayoutVars>
          <dgm:bulletEnabled val="1"/>
        </dgm:presLayoutVars>
      </dgm:prSet>
      <dgm:spPr/>
    </dgm:pt>
  </dgm:ptLst>
  <dgm:cxnLst>
    <dgm:cxn modelId="{1135BD03-DB65-4A54-A221-E6807F0B9F96}" type="presOf" srcId="{1B29DCFA-AA39-44BE-AFF4-F6AB48037511}" destId="{28DF1A82-9952-4345-A643-7006BEDE027B}" srcOrd="1" destOrd="0" presId="urn:microsoft.com/office/officeart/2005/8/layout/process2"/>
    <dgm:cxn modelId="{BD342A0A-3CE1-4468-877A-CBA29E8CD2E8}" type="presOf" srcId="{93ADCF98-DB06-42D7-9F31-588ED8E05685}" destId="{914DFA34-8ECA-4FA3-97D6-5F335831CE4D}" srcOrd="1" destOrd="0" presId="urn:microsoft.com/office/officeart/2005/8/layout/process2"/>
    <dgm:cxn modelId="{6CCF0210-0BDC-4A53-975A-1F066D1FF550}" type="presOf" srcId="{87DFF331-FF83-4B91-B6F8-52880DC47DBC}" destId="{8B533D45-B987-4C3F-895C-44ADB2819A0A}" srcOrd="0" destOrd="0" presId="urn:microsoft.com/office/officeart/2005/8/layout/process2"/>
    <dgm:cxn modelId="{08E28312-5216-472F-9D3D-AAB0A71236E4}" srcId="{ED9BB4D5-1FCD-4228-8701-AE2688E1786A}" destId="{476C7AE4-00C4-4CD4-ACF2-BB3DDC0E0910}" srcOrd="9" destOrd="0" parTransId="{208FA004-C812-4553-9CB9-10D4552B7A0E}" sibTransId="{F8B7D7E7-4BE5-4306-A508-A156EB39E18E}"/>
    <dgm:cxn modelId="{DA19B01F-1DA7-430E-99B4-2F1B9AAF4B67}" srcId="{ED9BB4D5-1FCD-4228-8701-AE2688E1786A}" destId="{FED0658F-4C01-4471-8006-0B7CAC602B0A}" srcOrd="8" destOrd="0" parTransId="{2ED7E8AF-C536-481A-96ED-7256A17AAAB2}" sibTransId="{F48218E5-8750-49D4-83D6-7A86BF9770E3}"/>
    <dgm:cxn modelId="{55A51930-55CC-49FD-B881-0071EF899C28}" type="presOf" srcId="{39298259-5816-40D3-9046-3EB8B1FBED49}" destId="{021F1144-B991-4BF7-ABB2-D6743BE8FB3C}" srcOrd="0" destOrd="0" presId="urn:microsoft.com/office/officeart/2005/8/layout/process2"/>
    <dgm:cxn modelId="{ADB03435-8B25-4576-8C64-45A1F46429E7}" type="presOf" srcId="{F48218E5-8750-49D4-83D6-7A86BF9770E3}" destId="{8C8C6C43-46C9-4980-8871-C79DEB98275E}" srcOrd="0" destOrd="0" presId="urn:microsoft.com/office/officeart/2005/8/layout/process2"/>
    <dgm:cxn modelId="{ECCE6337-7EA9-4D11-B274-C5D6C0DA336D}" type="presOf" srcId="{F65ABA03-4F52-4DDD-ACDA-A35F251B9814}" destId="{EA570DA3-1E60-48DB-8074-E7EEE583E5BE}" srcOrd="0" destOrd="0" presId="urn:microsoft.com/office/officeart/2005/8/layout/process2"/>
    <dgm:cxn modelId="{B25FB15B-3C6E-427B-B5BF-AE1758C4E60D}" type="presOf" srcId="{DD51D0D7-C9B7-46A4-8444-5BAACC7E1C9C}" destId="{969B4755-5DD0-485F-87A0-04D8FFC44CBD}" srcOrd="0" destOrd="0" presId="urn:microsoft.com/office/officeart/2005/8/layout/process2"/>
    <dgm:cxn modelId="{822E515D-21BA-4096-8D62-FADC53ECDB6B}" srcId="{ED9BB4D5-1FCD-4228-8701-AE2688E1786A}" destId="{A0DC88ED-1916-43CD-B177-D5864A3F9604}" srcOrd="1" destOrd="0" parTransId="{B0A3C7D1-FA35-494B-831F-674CA9414CBA}" sibTransId="{39298259-5816-40D3-9046-3EB8B1FBED49}"/>
    <dgm:cxn modelId="{D3B1CC5F-D0FE-4063-8001-52338E9A7037}" srcId="{ED9BB4D5-1FCD-4228-8701-AE2688E1786A}" destId="{F65ABA03-4F52-4DDD-ACDA-A35F251B9814}" srcOrd="2" destOrd="0" parTransId="{C7D90594-656D-4910-8157-760B28D30F5C}" sibTransId="{DD51D0D7-C9B7-46A4-8444-5BAACC7E1C9C}"/>
    <dgm:cxn modelId="{F4621064-5189-43B2-963D-550939414972}" type="presOf" srcId="{ED9BB4D5-1FCD-4228-8701-AE2688E1786A}" destId="{EB85F516-6FFE-40BE-9308-0F248C4BD12E}" srcOrd="0" destOrd="0" presId="urn:microsoft.com/office/officeart/2005/8/layout/process2"/>
    <dgm:cxn modelId="{500E9F68-C1F6-4761-BEB2-70E54706E9E3}" type="presOf" srcId="{3FC815AA-49FC-4E85-8891-686989B2D447}" destId="{88ED12A1-1111-4826-AC36-5547F61DC8AF}" srcOrd="0" destOrd="0" presId="urn:microsoft.com/office/officeart/2005/8/layout/process2"/>
    <dgm:cxn modelId="{9F18514A-51C1-439F-82E0-993E340DD21F}" type="presOf" srcId="{39298259-5816-40D3-9046-3EB8B1FBED49}" destId="{A5A85FB4-DA91-4807-A3D5-167850B1FA03}" srcOrd="1" destOrd="0" presId="urn:microsoft.com/office/officeart/2005/8/layout/process2"/>
    <dgm:cxn modelId="{DEEAC671-05D5-459C-BC8F-0068AA559079}" type="presOf" srcId="{FF5F96B2-9882-4C53-93DB-D8E37FC4E0FA}" destId="{C196BBDE-6FF2-4520-999A-D93A2D132D63}" srcOrd="0" destOrd="0" presId="urn:microsoft.com/office/officeart/2005/8/layout/process2"/>
    <dgm:cxn modelId="{7F559A74-7CE2-4B8B-B39E-74976E65E1A1}" srcId="{ED9BB4D5-1FCD-4228-8701-AE2688E1786A}" destId="{4FFDDF5C-AF72-4824-A474-0783F4EAAB47}" srcOrd="5" destOrd="0" parTransId="{3B58B9FA-64D5-4D3E-B646-4310D2A4AAA3}" sibTransId="{93ADCF98-DB06-42D7-9F31-588ED8E05685}"/>
    <dgm:cxn modelId="{5B034879-8B05-47C8-8CE8-8DB68D8CFD97}" type="presOf" srcId="{FED0658F-4C01-4471-8006-0B7CAC602B0A}" destId="{1E7E3215-A5C2-4CA8-80F7-5E154853387B}" srcOrd="0" destOrd="0" presId="urn:microsoft.com/office/officeart/2005/8/layout/process2"/>
    <dgm:cxn modelId="{5625BA81-B6CE-4E16-8B26-963A68470F1F}" type="presOf" srcId="{93ADCF98-DB06-42D7-9F31-588ED8E05685}" destId="{E27D6BA7-792E-494A-8470-837D8FA72161}" srcOrd="0" destOrd="0" presId="urn:microsoft.com/office/officeart/2005/8/layout/process2"/>
    <dgm:cxn modelId="{62907283-AD32-46CE-BB95-58DF7EABAD61}" type="presOf" srcId="{28ABC61A-4895-464B-A0C2-9161993575A6}" destId="{B68B6727-9C81-49F9-9F64-9B4985685716}" srcOrd="1" destOrd="0" presId="urn:microsoft.com/office/officeart/2005/8/layout/process2"/>
    <dgm:cxn modelId="{4C877F8A-8B67-4314-85F3-BA99E8EFA792}" type="presOf" srcId="{C5178313-CA84-4DD6-A403-55533087631C}" destId="{EA30ECD9-A692-4E13-83E0-90FEC01E2E51}" srcOrd="0" destOrd="0" presId="urn:microsoft.com/office/officeart/2005/8/layout/process2"/>
    <dgm:cxn modelId="{1B5F128B-E1FF-4FC9-B015-6AAEF77854B7}" type="presOf" srcId="{69CACE8B-43D1-47B4-8C9F-937B7DCBCBAB}" destId="{F41EFEF2-0D7A-477F-965C-6A977382442A}" srcOrd="0" destOrd="0" presId="urn:microsoft.com/office/officeart/2005/8/layout/process2"/>
    <dgm:cxn modelId="{C26F0492-35CF-411D-9BF3-8E3D1DF307BF}" type="presOf" srcId="{28ABC61A-4895-464B-A0C2-9161993575A6}" destId="{B894B272-381A-49DD-939A-D3B950A2A199}" srcOrd="0" destOrd="0" presId="urn:microsoft.com/office/officeart/2005/8/layout/process2"/>
    <dgm:cxn modelId="{095730A8-E014-4928-AB74-B96909956346}" srcId="{ED9BB4D5-1FCD-4228-8701-AE2688E1786A}" destId="{B2221573-2E13-4D26-ACB4-6BE3FC47F2A4}" srcOrd="0" destOrd="0" parTransId="{D35CAE3B-843B-405A-8351-6AB5AA77D6E2}" sibTransId="{69CACE8B-43D1-47B4-8C9F-937B7DCBCBAB}"/>
    <dgm:cxn modelId="{2693D5B5-45E7-42D9-977D-B37321FDA9C3}" type="presOf" srcId="{3FC815AA-49FC-4E85-8891-686989B2D447}" destId="{B13B5C05-903F-4739-B2FA-A980BA1FCE51}" srcOrd="1" destOrd="0" presId="urn:microsoft.com/office/officeart/2005/8/layout/process2"/>
    <dgm:cxn modelId="{B3E2B2B7-84B1-46D9-8515-3398D20457A2}" type="presOf" srcId="{3CD54C13-4BB2-4C42-9EEA-E0C09A87EDF4}" destId="{58DDEE71-39F1-4CC3-A14F-E71E4DAC53A5}" srcOrd="0" destOrd="0" presId="urn:microsoft.com/office/officeart/2005/8/layout/process2"/>
    <dgm:cxn modelId="{6FA144B9-2146-4D6A-B543-18F2C667BA9C}" type="presOf" srcId="{B2221573-2E13-4D26-ACB4-6BE3FC47F2A4}" destId="{B7588817-03D6-44A6-9E52-B12C1D326DCD}" srcOrd="0" destOrd="0" presId="urn:microsoft.com/office/officeart/2005/8/layout/process2"/>
    <dgm:cxn modelId="{C68F09BD-0249-45DA-8A7F-1C87EFAC1A6E}" type="presOf" srcId="{A0DC88ED-1916-43CD-B177-D5864A3F9604}" destId="{117900C2-74B4-480C-8C02-A866E948DAC6}" srcOrd="0" destOrd="0" presId="urn:microsoft.com/office/officeart/2005/8/layout/process2"/>
    <dgm:cxn modelId="{1F6270CE-6ABE-4E55-9FC8-96C009C63375}" type="presOf" srcId="{9C35C0C2-2A34-4839-8DA0-0EFBF1F3B937}" destId="{2F7C70DB-A167-4EEA-AF00-20DB204BBD81}" srcOrd="0" destOrd="0" presId="urn:microsoft.com/office/officeart/2005/8/layout/process2"/>
    <dgm:cxn modelId="{1B2C1FD3-80B3-4F17-AD03-AD955FF324A1}" srcId="{ED9BB4D5-1FCD-4228-8701-AE2688E1786A}" destId="{3CD54C13-4BB2-4C42-9EEA-E0C09A87EDF4}" srcOrd="7" destOrd="0" parTransId="{EA8A8A50-BD39-45E3-AE78-AB08B83E88AF}" sibTransId="{1B29DCFA-AA39-44BE-AFF4-F6AB48037511}"/>
    <dgm:cxn modelId="{979EC9DE-9D75-4C1E-B855-671161817E7C}" type="presOf" srcId="{476C7AE4-00C4-4CD4-ACF2-BB3DDC0E0910}" destId="{CCDC7988-C2CB-49FA-B5E1-1A67C07EF560}" srcOrd="0" destOrd="0" presId="urn:microsoft.com/office/officeart/2005/8/layout/process2"/>
    <dgm:cxn modelId="{B840EBE1-2787-4282-B884-279D4D717C13}" type="presOf" srcId="{87DFF331-FF83-4B91-B6F8-52880DC47DBC}" destId="{9C17585B-DA65-4544-A449-78C882589C85}" srcOrd="1" destOrd="0" presId="urn:microsoft.com/office/officeart/2005/8/layout/process2"/>
    <dgm:cxn modelId="{4E5679E5-9E18-486A-AC2A-3F2B2B43C874}" srcId="{ED9BB4D5-1FCD-4228-8701-AE2688E1786A}" destId="{9C35C0C2-2A34-4839-8DA0-0EFBF1F3B937}" srcOrd="4" destOrd="0" parTransId="{89CFD777-929E-47BF-BF10-E12FBD07A4F9}" sibTransId="{87DFF331-FF83-4B91-B6F8-52880DC47DBC}"/>
    <dgm:cxn modelId="{B2F87AE7-5519-44B1-9A2F-5CF696E04049}" srcId="{ED9BB4D5-1FCD-4228-8701-AE2688E1786A}" destId="{FF5F96B2-9882-4C53-93DB-D8E37FC4E0FA}" srcOrd="3" destOrd="0" parTransId="{EEBECBD6-00C7-493A-B3D0-CDD272C68BE1}" sibTransId="{28ABC61A-4895-464B-A0C2-9161993575A6}"/>
    <dgm:cxn modelId="{80F439EB-47C0-45CF-9498-C8A1FF95EE4C}" srcId="{ED9BB4D5-1FCD-4228-8701-AE2688E1786A}" destId="{C5178313-CA84-4DD6-A403-55533087631C}" srcOrd="6" destOrd="0" parTransId="{8671963A-3D21-44FD-BACB-AFA5E59C2452}" sibTransId="{3FC815AA-49FC-4E85-8891-686989B2D447}"/>
    <dgm:cxn modelId="{64351CEE-2DB0-4963-965D-E7FA908940FD}" type="presOf" srcId="{DD51D0D7-C9B7-46A4-8444-5BAACC7E1C9C}" destId="{CAC19D41-5650-4548-8C3B-691EF6A8AD9C}" srcOrd="1" destOrd="0" presId="urn:microsoft.com/office/officeart/2005/8/layout/process2"/>
    <dgm:cxn modelId="{BB4A2AF2-785C-4181-9684-72388A056064}" type="presOf" srcId="{69CACE8B-43D1-47B4-8C9F-937B7DCBCBAB}" destId="{187A5C35-9FFB-402E-B29A-23FE1BA6601C}" srcOrd="1" destOrd="0" presId="urn:microsoft.com/office/officeart/2005/8/layout/process2"/>
    <dgm:cxn modelId="{47708FF3-432A-475A-99DC-33EF6CCEBAA1}" type="presOf" srcId="{4FFDDF5C-AF72-4824-A474-0783F4EAAB47}" destId="{5233F00C-1A70-4878-989C-4180CFADC804}" srcOrd="0" destOrd="0" presId="urn:microsoft.com/office/officeart/2005/8/layout/process2"/>
    <dgm:cxn modelId="{89C5B1FA-B70E-4A85-8C43-78E0AAF866A9}" type="presOf" srcId="{F48218E5-8750-49D4-83D6-7A86BF9770E3}" destId="{5A4D1462-3C54-486F-87AA-3CCCF267918B}" srcOrd="1" destOrd="0" presId="urn:microsoft.com/office/officeart/2005/8/layout/process2"/>
    <dgm:cxn modelId="{407A6FFE-A2F6-4988-B8F2-321B75901C03}" type="presOf" srcId="{1B29DCFA-AA39-44BE-AFF4-F6AB48037511}" destId="{5916D79B-0977-4295-880E-4C2E757E664C}" srcOrd="0" destOrd="0" presId="urn:microsoft.com/office/officeart/2005/8/layout/process2"/>
    <dgm:cxn modelId="{6BA32D01-FF69-4C15-853A-65BBF5CD643A}" type="presParOf" srcId="{EB85F516-6FFE-40BE-9308-0F248C4BD12E}" destId="{B7588817-03D6-44A6-9E52-B12C1D326DCD}" srcOrd="0" destOrd="0" presId="urn:microsoft.com/office/officeart/2005/8/layout/process2"/>
    <dgm:cxn modelId="{965528C6-5E38-4F10-9A2B-3111763D1660}" type="presParOf" srcId="{EB85F516-6FFE-40BE-9308-0F248C4BD12E}" destId="{F41EFEF2-0D7A-477F-965C-6A977382442A}" srcOrd="1" destOrd="0" presId="urn:microsoft.com/office/officeart/2005/8/layout/process2"/>
    <dgm:cxn modelId="{CCE9524D-A75D-4645-AA95-6E9C7A80ED57}" type="presParOf" srcId="{F41EFEF2-0D7A-477F-965C-6A977382442A}" destId="{187A5C35-9FFB-402E-B29A-23FE1BA6601C}" srcOrd="0" destOrd="0" presId="urn:microsoft.com/office/officeart/2005/8/layout/process2"/>
    <dgm:cxn modelId="{9F36BE80-226D-4BBD-948F-1F0DD62A32A3}" type="presParOf" srcId="{EB85F516-6FFE-40BE-9308-0F248C4BD12E}" destId="{117900C2-74B4-480C-8C02-A866E948DAC6}" srcOrd="2" destOrd="0" presId="urn:microsoft.com/office/officeart/2005/8/layout/process2"/>
    <dgm:cxn modelId="{0C6643BA-4A13-44BC-9FD4-6093C500A426}" type="presParOf" srcId="{EB85F516-6FFE-40BE-9308-0F248C4BD12E}" destId="{021F1144-B991-4BF7-ABB2-D6743BE8FB3C}" srcOrd="3" destOrd="0" presId="urn:microsoft.com/office/officeart/2005/8/layout/process2"/>
    <dgm:cxn modelId="{443F5D74-367D-4BA3-A9E9-E8B51CF3295D}" type="presParOf" srcId="{021F1144-B991-4BF7-ABB2-D6743BE8FB3C}" destId="{A5A85FB4-DA91-4807-A3D5-167850B1FA03}" srcOrd="0" destOrd="0" presId="urn:microsoft.com/office/officeart/2005/8/layout/process2"/>
    <dgm:cxn modelId="{BF0EBA43-0EB8-4F4B-B5F3-96280DFF1FC5}" type="presParOf" srcId="{EB85F516-6FFE-40BE-9308-0F248C4BD12E}" destId="{EA570DA3-1E60-48DB-8074-E7EEE583E5BE}" srcOrd="4" destOrd="0" presId="urn:microsoft.com/office/officeart/2005/8/layout/process2"/>
    <dgm:cxn modelId="{21677C6E-3573-4CD7-80CE-DB7686A9CF88}" type="presParOf" srcId="{EB85F516-6FFE-40BE-9308-0F248C4BD12E}" destId="{969B4755-5DD0-485F-87A0-04D8FFC44CBD}" srcOrd="5" destOrd="0" presId="urn:microsoft.com/office/officeart/2005/8/layout/process2"/>
    <dgm:cxn modelId="{EB826CA3-E4DC-409C-B517-7903B553B822}" type="presParOf" srcId="{969B4755-5DD0-485F-87A0-04D8FFC44CBD}" destId="{CAC19D41-5650-4548-8C3B-691EF6A8AD9C}" srcOrd="0" destOrd="0" presId="urn:microsoft.com/office/officeart/2005/8/layout/process2"/>
    <dgm:cxn modelId="{DE883F0F-CB49-4100-B395-3160027B95FF}" type="presParOf" srcId="{EB85F516-6FFE-40BE-9308-0F248C4BD12E}" destId="{C196BBDE-6FF2-4520-999A-D93A2D132D63}" srcOrd="6" destOrd="0" presId="urn:microsoft.com/office/officeart/2005/8/layout/process2"/>
    <dgm:cxn modelId="{C8788B98-42D8-46DE-AC18-C0C0352C8FD8}" type="presParOf" srcId="{EB85F516-6FFE-40BE-9308-0F248C4BD12E}" destId="{B894B272-381A-49DD-939A-D3B950A2A199}" srcOrd="7" destOrd="0" presId="urn:microsoft.com/office/officeart/2005/8/layout/process2"/>
    <dgm:cxn modelId="{AEB7178A-37A0-4113-BFEB-9FA6A830993F}" type="presParOf" srcId="{B894B272-381A-49DD-939A-D3B950A2A199}" destId="{B68B6727-9C81-49F9-9F64-9B4985685716}" srcOrd="0" destOrd="0" presId="urn:microsoft.com/office/officeart/2005/8/layout/process2"/>
    <dgm:cxn modelId="{CD2A79B2-1C1E-4581-A855-0038F89766B4}" type="presParOf" srcId="{EB85F516-6FFE-40BE-9308-0F248C4BD12E}" destId="{2F7C70DB-A167-4EEA-AF00-20DB204BBD81}" srcOrd="8" destOrd="0" presId="urn:microsoft.com/office/officeart/2005/8/layout/process2"/>
    <dgm:cxn modelId="{CCFE0824-38BD-4139-8E83-C609B5836396}" type="presParOf" srcId="{EB85F516-6FFE-40BE-9308-0F248C4BD12E}" destId="{8B533D45-B987-4C3F-895C-44ADB2819A0A}" srcOrd="9" destOrd="0" presId="urn:microsoft.com/office/officeart/2005/8/layout/process2"/>
    <dgm:cxn modelId="{2E4D94BE-0BD8-4512-B711-30A64587C654}" type="presParOf" srcId="{8B533D45-B987-4C3F-895C-44ADB2819A0A}" destId="{9C17585B-DA65-4544-A449-78C882589C85}" srcOrd="0" destOrd="0" presId="urn:microsoft.com/office/officeart/2005/8/layout/process2"/>
    <dgm:cxn modelId="{50AAB028-E4EC-4043-89F8-C73B082CCC01}" type="presParOf" srcId="{EB85F516-6FFE-40BE-9308-0F248C4BD12E}" destId="{5233F00C-1A70-4878-989C-4180CFADC804}" srcOrd="10" destOrd="0" presId="urn:microsoft.com/office/officeart/2005/8/layout/process2"/>
    <dgm:cxn modelId="{823A2BA2-47A2-475D-AA7A-97B98BF072D8}" type="presParOf" srcId="{EB85F516-6FFE-40BE-9308-0F248C4BD12E}" destId="{E27D6BA7-792E-494A-8470-837D8FA72161}" srcOrd="11" destOrd="0" presId="urn:microsoft.com/office/officeart/2005/8/layout/process2"/>
    <dgm:cxn modelId="{FB6789C7-313D-4876-951E-E57BBAE1C421}" type="presParOf" srcId="{E27D6BA7-792E-494A-8470-837D8FA72161}" destId="{914DFA34-8ECA-4FA3-97D6-5F335831CE4D}" srcOrd="0" destOrd="0" presId="urn:microsoft.com/office/officeart/2005/8/layout/process2"/>
    <dgm:cxn modelId="{FA50FB52-4ECA-4596-914B-0026895BB8EF}" type="presParOf" srcId="{EB85F516-6FFE-40BE-9308-0F248C4BD12E}" destId="{EA30ECD9-A692-4E13-83E0-90FEC01E2E51}" srcOrd="12" destOrd="0" presId="urn:microsoft.com/office/officeart/2005/8/layout/process2"/>
    <dgm:cxn modelId="{9FDFC76F-FAB3-46B6-B6EA-9EDB2A99320E}" type="presParOf" srcId="{EB85F516-6FFE-40BE-9308-0F248C4BD12E}" destId="{88ED12A1-1111-4826-AC36-5547F61DC8AF}" srcOrd="13" destOrd="0" presId="urn:microsoft.com/office/officeart/2005/8/layout/process2"/>
    <dgm:cxn modelId="{BCA28B95-FAF5-4AE2-B26F-F68A98BADE89}" type="presParOf" srcId="{88ED12A1-1111-4826-AC36-5547F61DC8AF}" destId="{B13B5C05-903F-4739-B2FA-A980BA1FCE51}" srcOrd="0" destOrd="0" presId="urn:microsoft.com/office/officeart/2005/8/layout/process2"/>
    <dgm:cxn modelId="{5828E75F-544E-44E2-A7CF-E9CFABFFF5F4}" type="presParOf" srcId="{EB85F516-6FFE-40BE-9308-0F248C4BD12E}" destId="{58DDEE71-39F1-4CC3-A14F-E71E4DAC53A5}" srcOrd="14" destOrd="0" presId="urn:microsoft.com/office/officeart/2005/8/layout/process2"/>
    <dgm:cxn modelId="{4CEA8053-DB16-41D9-A30A-4A2ABB5251CB}" type="presParOf" srcId="{EB85F516-6FFE-40BE-9308-0F248C4BD12E}" destId="{5916D79B-0977-4295-880E-4C2E757E664C}" srcOrd="15" destOrd="0" presId="urn:microsoft.com/office/officeart/2005/8/layout/process2"/>
    <dgm:cxn modelId="{51FA194C-F69A-4A81-AA92-A1BEAE04EA28}" type="presParOf" srcId="{5916D79B-0977-4295-880E-4C2E757E664C}" destId="{28DF1A82-9952-4345-A643-7006BEDE027B}" srcOrd="0" destOrd="0" presId="urn:microsoft.com/office/officeart/2005/8/layout/process2"/>
    <dgm:cxn modelId="{845F878E-7C1E-4F28-B02A-8CB05A651CB5}" type="presParOf" srcId="{EB85F516-6FFE-40BE-9308-0F248C4BD12E}" destId="{1E7E3215-A5C2-4CA8-80F7-5E154853387B}" srcOrd="16" destOrd="0" presId="urn:microsoft.com/office/officeart/2005/8/layout/process2"/>
    <dgm:cxn modelId="{BAEA5484-EE0F-4B96-BBEA-4040E3BCF242}" type="presParOf" srcId="{EB85F516-6FFE-40BE-9308-0F248C4BD12E}" destId="{8C8C6C43-46C9-4980-8871-C79DEB98275E}" srcOrd="17" destOrd="0" presId="urn:microsoft.com/office/officeart/2005/8/layout/process2"/>
    <dgm:cxn modelId="{9CF4AD7F-E3F5-48AB-93A4-22CBB4A33D9B}" type="presParOf" srcId="{8C8C6C43-46C9-4980-8871-C79DEB98275E}" destId="{5A4D1462-3C54-486F-87AA-3CCCF267918B}" srcOrd="0" destOrd="0" presId="urn:microsoft.com/office/officeart/2005/8/layout/process2"/>
    <dgm:cxn modelId="{3E61832E-E5FE-4338-BEBA-E285F03D2305}" type="presParOf" srcId="{EB85F516-6FFE-40BE-9308-0F248C4BD12E}" destId="{CCDC7988-C2CB-49FA-B5E1-1A67C07EF560}" srcOrd="1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588817-03D6-44A6-9E52-B12C1D326DCD}">
      <dsp:nvSpPr>
        <dsp:cNvPr id="0" name=""/>
        <dsp:cNvSpPr/>
      </dsp:nvSpPr>
      <dsp:spPr>
        <a:xfrm>
          <a:off x="2142064" y="5464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 Collection</a:t>
          </a:r>
        </a:p>
      </dsp:txBody>
      <dsp:txXfrm>
        <a:off x="2150268" y="13668"/>
        <a:ext cx="2379662" cy="263683"/>
      </dsp:txXfrm>
    </dsp:sp>
    <dsp:sp modelId="{F41EFEF2-0D7A-477F-965C-6A977382442A}">
      <dsp:nvSpPr>
        <dsp:cNvPr id="0" name=""/>
        <dsp:cNvSpPr/>
      </dsp:nvSpPr>
      <dsp:spPr>
        <a:xfrm rot="5400000">
          <a:off x="3287582" y="292558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303061"/>
        <a:ext cx="75625" cy="73524"/>
      </dsp:txXfrm>
    </dsp:sp>
    <dsp:sp modelId="{117900C2-74B4-480C-8C02-A866E948DAC6}">
      <dsp:nvSpPr>
        <dsp:cNvPr id="0" name=""/>
        <dsp:cNvSpPr/>
      </dsp:nvSpPr>
      <dsp:spPr>
        <a:xfrm>
          <a:off x="2142064" y="425601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750949"/>
            <a:satOff val="-1935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 Preprocessing</a:t>
          </a:r>
        </a:p>
      </dsp:txBody>
      <dsp:txXfrm>
        <a:off x="2150268" y="433805"/>
        <a:ext cx="2379662" cy="263683"/>
      </dsp:txXfrm>
    </dsp:sp>
    <dsp:sp modelId="{021F1144-B991-4BF7-ABB2-D6743BE8FB3C}">
      <dsp:nvSpPr>
        <dsp:cNvPr id="0" name=""/>
        <dsp:cNvSpPr/>
      </dsp:nvSpPr>
      <dsp:spPr>
        <a:xfrm rot="5400000">
          <a:off x="3287582" y="712695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844818"/>
            <a:satOff val="-2177"/>
            <a:lumOff val="-1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723198"/>
        <a:ext cx="75625" cy="73524"/>
      </dsp:txXfrm>
    </dsp:sp>
    <dsp:sp modelId="{EA570DA3-1E60-48DB-8074-E7EEE583E5BE}">
      <dsp:nvSpPr>
        <dsp:cNvPr id="0" name=""/>
        <dsp:cNvSpPr/>
      </dsp:nvSpPr>
      <dsp:spPr>
        <a:xfrm>
          <a:off x="2142064" y="845738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1501898"/>
            <a:satOff val="-3871"/>
            <a:lumOff val="-26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Feature Engineering</a:t>
          </a:r>
        </a:p>
      </dsp:txBody>
      <dsp:txXfrm>
        <a:off x="2150268" y="853942"/>
        <a:ext cx="2379662" cy="263683"/>
      </dsp:txXfrm>
    </dsp:sp>
    <dsp:sp modelId="{969B4755-5DD0-485F-87A0-04D8FFC44CBD}">
      <dsp:nvSpPr>
        <dsp:cNvPr id="0" name=""/>
        <dsp:cNvSpPr/>
      </dsp:nvSpPr>
      <dsp:spPr>
        <a:xfrm rot="5400000">
          <a:off x="3287582" y="1132832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1143335"/>
        <a:ext cx="75625" cy="73524"/>
      </dsp:txXfrm>
    </dsp:sp>
    <dsp:sp modelId="{C196BBDE-6FF2-4520-999A-D93A2D132D63}">
      <dsp:nvSpPr>
        <dsp:cNvPr id="0" name=""/>
        <dsp:cNvSpPr/>
      </dsp:nvSpPr>
      <dsp:spPr>
        <a:xfrm>
          <a:off x="2142064" y="1265876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Model Training</a:t>
          </a:r>
        </a:p>
      </dsp:txBody>
      <dsp:txXfrm>
        <a:off x="2150268" y="1274080"/>
        <a:ext cx="2379662" cy="263683"/>
      </dsp:txXfrm>
    </dsp:sp>
    <dsp:sp modelId="{B894B272-381A-49DD-939A-D3B950A2A199}">
      <dsp:nvSpPr>
        <dsp:cNvPr id="0" name=""/>
        <dsp:cNvSpPr/>
      </dsp:nvSpPr>
      <dsp:spPr>
        <a:xfrm rot="5400000">
          <a:off x="3287582" y="1552969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534453"/>
            <a:satOff val="-6532"/>
            <a:lumOff val="-441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1563472"/>
        <a:ext cx="75625" cy="73524"/>
      </dsp:txXfrm>
    </dsp:sp>
    <dsp:sp modelId="{2F7C70DB-A167-4EEA-AF00-20DB204BBD81}">
      <dsp:nvSpPr>
        <dsp:cNvPr id="0" name=""/>
        <dsp:cNvSpPr/>
      </dsp:nvSpPr>
      <dsp:spPr>
        <a:xfrm>
          <a:off x="2142064" y="1686013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3003797"/>
            <a:satOff val="-7742"/>
            <a:lumOff val="-52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MLFlow Experiment Tracking</a:t>
          </a:r>
        </a:p>
      </dsp:txBody>
      <dsp:txXfrm>
        <a:off x="2150268" y="1694217"/>
        <a:ext cx="2379662" cy="263683"/>
      </dsp:txXfrm>
    </dsp:sp>
    <dsp:sp modelId="{8B533D45-B987-4C3F-895C-44ADB2819A0A}">
      <dsp:nvSpPr>
        <dsp:cNvPr id="0" name=""/>
        <dsp:cNvSpPr/>
      </dsp:nvSpPr>
      <dsp:spPr>
        <a:xfrm rot="5400000">
          <a:off x="3287582" y="1973106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1983609"/>
        <a:ext cx="75625" cy="73524"/>
      </dsp:txXfrm>
    </dsp:sp>
    <dsp:sp modelId="{5233F00C-1A70-4878-989C-4180CFADC804}">
      <dsp:nvSpPr>
        <dsp:cNvPr id="0" name=""/>
        <dsp:cNvSpPr/>
      </dsp:nvSpPr>
      <dsp:spPr>
        <a:xfrm>
          <a:off x="2142064" y="2106150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3754746"/>
            <a:satOff val="-9677"/>
            <a:lumOff val="-65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Model Evaluation</a:t>
          </a:r>
        </a:p>
      </dsp:txBody>
      <dsp:txXfrm>
        <a:off x="2150268" y="2114354"/>
        <a:ext cx="2379662" cy="263683"/>
      </dsp:txXfrm>
    </dsp:sp>
    <dsp:sp modelId="{E27D6BA7-792E-494A-8470-837D8FA72161}">
      <dsp:nvSpPr>
        <dsp:cNvPr id="0" name=""/>
        <dsp:cNvSpPr/>
      </dsp:nvSpPr>
      <dsp:spPr>
        <a:xfrm rot="5400000">
          <a:off x="3287582" y="2393244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224089"/>
            <a:satOff val="-10887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2403747"/>
        <a:ext cx="75625" cy="73524"/>
      </dsp:txXfrm>
    </dsp:sp>
    <dsp:sp modelId="{EA30ECD9-A692-4E13-83E0-90FEC01E2E51}">
      <dsp:nvSpPr>
        <dsp:cNvPr id="0" name=""/>
        <dsp:cNvSpPr/>
      </dsp:nvSpPr>
      <dsp:spPr>
        <a:xfrm>
          <a:off x="2142064" y="2526287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Model Serialization</a:t>
          </a:r>
        </a:p>
      </dsp:txBody>
      <dsp:txXfrm>
        <a:off x="2150268" y="2534491"/>
        <a:ext cx="2379662" cy="263683"/>
      </dsp:txXfrm>
    </dsp:sp>
    <dsp:sp modelId="{88ED12A1-1111-4826-AC36-5547F61DC8AF}">
      <dsp:nvSpPr>
        <dsp:cNvPr id="0" name=""/>
        <dsp:cNvSpPr/>
      </dsp:nvSpPr>
      <dsp:spPr>
        <a:xfrm rot="5400000">
          <a:off x="3287582" y="2813381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b="1" kern="1200"/>
        </a:p>
      </dsp:txBody>
      <dsp:txXfrm rot="-5400000">
        <a:off x="3302287" y="2823884"/>
        <a:ext cx="75625" cy="73524"/>
      </dsp:txXfrm>
    </dsp:sp>
    <dsp:sp modelId="{58DDEE71-39F1-4CC3-A14F-E71E4DAC53A5}">
      <dsp:nvSpPr>
        <dsp:cNvPr id="0" name=""/>
        <dsp:cNvSpPr/>
      </dsp:nvSpPr>
      <dsp:spPr>
        <a:xfrm>
          <a:off x="2142064" y="2946424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5256644"/>
            <a:satOff val="-13548"/>
            <a:lumOff val="-91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FastAPI Deployment</a:t>
          </a:r>
        </a:p>
      </dsp:txBody>
      <dsp:txXfrm>
        <a:off x="2150268" y="2954628"/>
        <a:ext cx="2379662" cy="263683"/>
      </dsp:txXfrm>
    </dsp:sp>
    <dsp:sp modelId="{5916D79B-0977-4295-880E-4C2E757E664C}">
      <dsp:nvSpPr>
        <dsp:cNvPr id="0" name=""/>
        <dsp:cNvSpPr/>
      </dsp:nvSpPr>
      <dsp:spPr>
        <a:xfrm rot="5400000">
          <a:off x="3287582" y="3233518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913725"/>
            <a:satOff val="-15242"/>
            <a:lumOff val="-102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3244021"/>
        <a:ext cx="75625" cy="73524"/>
      </dsp:txXfrm>
    </dsp:sp>
    <dsp:sp modelId="{1E7E3215-A5C2-4CA8-80F7-5E154853387B}">
      <dsp:nvSpPr>
        <dsp:cNvPr id="0" name=""/>
        <dsp:cNvSpPr/>
      </dsp:nvSpPr>
      <dsp:spPr>
        <a:xfrm>
          <a:off x="2142064" y="3366561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6007594"/>
            <a:satOff val="-15484"/>
            <a:lumOff val="-104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Streamlit Dashboard</a:t>
          </a:r>
        </a:p>
      </dsp:txBody>
      <dsp:txXfrm>
        <a:off x="2150268" y="3374765"/>
        <a:ext cx="2379662" cy="263683"/>
      </dsp:txXfrm>
    </dsp:sp>
    <dsp:sp modelId="{8C8C6C43-46C9-4980-8871-C79DEB98275E}">
      <dsp:nvSpPr>
        <dsp:cNvPr id="0" name=""/>
        <dsp:cNvSpPr/>
      </dsp:nvSpPr>
      <dsp:spPr>
        <a:xfrm rot="5400000">
          <a:off x="3287582" y="3653655"/>
          <a:ext cx="105034" cy="1260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b="1" kern="1200"/>
        </a:p>
      </dsp:txBody>
      <dsp:txXfrm rot="-5400000">
        <a:off x="3302287" y="3664158"/>
        <a:ext cx="75625" cy="73524"/>
      </dsp:txXfrm>
    </dsp:sp>
    <dsp:sp modelId="{CCDC7988-C2CB-49FA-B5E1-1A67C07EF560}">
      <dsp:nvSpPr>
        <dsp:cNvPr id="0" name=""/>
        <dsp:cNvSpPr/>
      </dsp:nvSpPr>
      <dsp:spPr>
        <a:xfrm>
          <a:off x="2142064" y="3786698"/>
          <a:ext cx="2396070" cy="280091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Retraining Pipeline</a:t>
          </a:r>
        </a:p>
      </dsp:txBody>
      <dsp:txXfrm>
        <a:off x="2150268" y="3794902"/>
        <a:ext cx="2379662" cy="263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943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11A3C-FD32-3EE3-F390-5B1D17D7F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B4A65-7296-B9F7-2491-E2657A33F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F7A9D-0E31-C065-22FB-0B31F6BDE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20769-9C26-4884-F58F-19BAAB1C7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373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9AD1A-8278-06E3-A4DD-B5E51BAE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E46B4-8696-174F-A067-2AC27CA3C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EBD11-D6FB-7B1A-95D4-4F8B3929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88461-977A-BBE2-3A57-D0223C2E9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473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0F6F-388B-7B30-8D84-997DDCE6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2BECC-6265-E2E8-AEED-EA9CCF2BB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1FCFE-17AD-CDFC-D218-8AE0B6769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D7F01-8F50-2014-BC69-A1B7C0560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41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3EFB-B4DC-D0DA-28D3-E50F50CE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D5A47-D087-8399-D5D9-ADACF3868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C6D93-E9A9-ED90-B51B-9E607BB6D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A1A3D-AF4A-17FD-80C1-A58313EE13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18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7ED4-F66C-6EA1-A136-C5B14691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01702-2B67-C115-495C-EF32FF2E7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B158F-F8DE-DA26-CD8D-46EF837F3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12FE4-9B72-B828-88CD-DFB0BADCB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485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CC08-1C0D-C096-2883-B8A6BDE3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527F1-39C7-E489-345A-3DB35B518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9D63E-715F-9175-8819-62C69C22F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9AD44-16CA-9BF9-8FC4-BD5A18FFA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21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4ADC-BCBF-93C8-7935-2E6A7004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DFFBB-9800-0018-4D8A-F822DDD5A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0F865-60C7-9039-E66E-6A398BBE8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34775-DDFB-8512-AD8F-67350B158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61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C3FD-D0B9-BC8D-36AC-44320C99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7389B-1C54-B2EA-DFC6-2CB07EE76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B64DD-FCA2-88E1-159C-7FA9F32B4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DED90-7E90-2F04-4A93-648E5193D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021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816F3-F11E-C23D-5923-2B075FDE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2EB1E-29E9-54E1-8038-597F959FB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8EC88-E295-43B1-D5B3-90613799C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6EE56-3142-3BB8-A2A6-28C4FC707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95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15C7-C8A7-E1AC-135D-A4D830A3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E4394-69E3-94AE-1244-FEAE7DC81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10E72-C600-291E-34F1-15D67CA7C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BCD93-5CC6-ECAD-489E-6AD81EA98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43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D44E-BCD6-EF07-30BE-AEDDAE30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95118-E05B-C982-39E9-113FD07A2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E197A-299E-9D5E-0E85-213727184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FD69D-8212-989A-C15C-5F1E2E0F59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220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A6CA-2E68-B4EC-8F52-7314FA3F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86733-D1A6-F72F-DEEA-2FE57A98C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B97D1-C2AC-57B7-7340-7E65C6A53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A271A-DBF6-A3FC-628A-967647A6C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765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C07F-888A-1B2E-EE7D-0A605B39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10405-F632-A434-ACBA-901D98184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6DE37-D5A5-282D-1CA7-CB4D8432A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583F1-3D53-5529-2C12-B2D4FC2BE0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6025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3BE1-03E5-7BE1-A516-F1EE0D18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A79D5-D3F2-84FD-E3BA-778D34D37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E2AA4-096B-047C-3EB8-02BC16629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051AD-ACB0-9655-E71C-EE001ECD6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63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415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718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912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3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hyperlink" Target="https://github.com/Eng-MIR/DEPI4-CCPA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09053" y="351461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BA4CF"/>
                </a:solidFill>
              </a:rPr>
              <a:t>DEPI Graduation Project  ·  CAI4_AIS4_G2  ·  Group 1</a:t>
            </a:r>
            <a:endParaRPr lang="en-US" sz="1600" b="1" dirty="0"/>
          </a:p>
        </p:txBody>
      </p:sp>
      <p:sp>
        <p:nvSpPr>
          <p:cNvPr id="5" name="Text 3"/>
          <p:cNvSpPr/>
          <p:nvPr/>
        </p:nvSpPr>
        <p:spPr>
          <a:xfrm>
            <a:off x="366469" y="976610"/>
            <a:ext cx="8412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</a:t>
            </a: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&amp; Analysis</a:t>
            </a:r>
            <a:endParaRPr lang="en-US" sz="4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4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051" y="1969633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i="1" dirty="0">
                <a:solidFill>
                  <a:srgbClr val="D6E8F7"/>
                </a:solidFill>
              </a:rPr>
              <a:t>In The Telco Industry</a:t>
            </a:r>
            <a:endParaRPr lang="en-US" sz="3500" i="1" dirty="0"/>
          </a:p>
        </p:txBody>
      </p:sp>
      <p:sp>
        <p:nvSpPr>
          <p:cNvPr id="8" name="Shape 6"/>
          <p:cNvSpPr/>
          <p:nvPr/>
        </p:nvSpPr>
        <p:spPr>
          <a:xfrm>
            <a:off x="309053" y="3417706"/>
            <a:ext cx="50292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711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</a:rPr>
              <a:t>Mohamed Ibrahem Rady</a:t>
            </a:r>
            <a:r>
              <a:rPr lang="en-US" sz="1600" b="1" dirty="0">
                <a:solidFill>
                  <a:srgbClr val="FFFFFF"/>
                </a:solidFill>
              </a:rPr>
              <a:t>	Ahmed Esmail	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/>
          </a:p>
        </p:txBody>
      </p:sp>
      <p:sp>
        <p:nvSpPr>
          <p:cNvPr id="11" name="Text 9"/>
          <p:cNvSpPr/>
          <p:nvPr/>
        </p:nvSpPr>
        <p:spPr>
          <a:xfrm>
            <a:off x="387110" y="41521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Amr El-Azab		Mohamed Abdul Aziz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365760" y="45354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/>
          </a:p>
        </p:txBody>
      </p:sp>
      <p:sp>
        <p:nvSpPr>
          <p:cNvPr id="13" name="Text 11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</a:rPr>
              <a:t>May 2026</a:t>
            </a:r>
            <a:endParaRPr lang="en-US" sz="12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C69A65-0724-E7FE-0A24-DE19CC35C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168" y="0"/>
            <a:ext cx="1779634" cy="738866"/>
          </a:xfrm>
          <a:prstGeom prst="rect">
            <a:avLst/>
          </a:prstGeom>
        </p:spPr>
      </p:pic>
      <p:pic>
        <p:nvPicPr>
          <p:cNvPr id="19" name="Picture 2" descr="Home">
            <a:extLst>
              <a:ext uri="{FF2B5EF4-FFF2-40B4-BE49-F238E27FC236}">
                <a16:creationId xmlns:a16="http://schemas.microsoft.com/office/drawing/2014/main" id="{3A130E55-E938-830E-0F54-010A91170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56" y="10942"/>
            <a:ext cx="1581150" cy="738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11056"/>
            <a:ext cx="8412480" cy="53949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11056"/>
            <a:ext cx="594360" cy="53949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56776"/>
            <a:ext cx="594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896544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802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Introduction &amp; Overview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1113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Problem, dataset, objectives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495227"/>
            <a:ext cx="8412480" cy="557784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1495227"/>
            <a:ext cx="594360" cy="55778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" y="1540947"/>
            <a:ext cx="594360" cy="483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587803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1500475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Milestones 1 &amp; 2 — Exploratory and Advanced Data Analysis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600200" y="1811371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EDA, feature engineering, statistics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168056"/>
            <a:ext cx="8412480" cy="58503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168056"/>
            <a:ext cx="594360" cy="5850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65760" y="2164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224645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21733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Milestone 3 — Machine Learning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600200" y="24842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5 models, tuning, winner selection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2863992"/>
            <a:ext cx="8412480" cy="603504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65760" y="2863992"/>
            <a:ext cx="594360" cy="6035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65760" y="28671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29494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2876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Milestone 4 — Deployment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600200" y="31872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Streamlit app, MLOps, GitHub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3590264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65760" y="3590264"/>
            <a:ext cx="594360" cy="5943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365760" y="3586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3668664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600200" y="3595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Milestone 5 — Project Documentation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600200" y="3906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Project Report and Project Presentation</a:t>
            </a:r>
            <a:endParaRPr lang="en-US" sz="110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C0A25B57-3B19-889A-FCFC-AD402C6A80EC}"/>
              </a:ext>
            </a:extLst>
          </p:cNvPr>
          <p:cNvSpPr/>
          <p:nvPr/>
        </p:nvSpPr>
        <p:spPr>
          <a:xfrm>
            <a:off x="369311" y="4292291"/>
            <a:ext cx="8412480" cy="603504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8500A5B0-CF54-F36B-C3E2-798A3D37CE3A}"/>
              </a:ext>
            </a:extLst>
          </p:cNvPr>
          <p:cNvSpPr/>
          <p:nvPr/>
        </p:nvSpPr>
        <p:spPr>
          <a:xfrm>
            <a:off x="369311" y="4292291"/>
            <a:ext cx="594360" cy="6035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705F3EAB-2842-D091-4F45-D04F5A241244}"/>
              </a:ext>
            </a:extLst>
          </p:cNvPr>
          <p:cNvSpPr/>
          <p:nvPr/>
        </p:nvSpPr>
        <p:spPr>
          <a:xfrm>
            <a:off x="369311" y="4295483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EA17808B-B74A-4B71-2033-74F5BE58D57F}"/>
              </a:ext>
            </a:extLst>
          </p:cNvPr>
          <p:cNvSpPr/>
          <p:nvPr/>
        </p:nvSpPr>
        <p:spPr>
          <a:xfrm>
            <a:off x="1603751" y="4304627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Conclusions, Recommendations and Action Plan</a:t>
            </a:r>
            <a:endParaRPr lang="en-US" sz="1400" dirty="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5D6DA7AA-9F0D-4971-FE9A-17CAAE35FEEE}"/>
              </a:ext>
            </a:extLst>
          </p:cNvPr>
          <p:cNvSpPr/>
          <p:nvPr/>
        </p:nvSpPr>
        <p:spPr>
          <a:xfrm>
            <a:off x="1603751" y="4615523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4748B"/>
                </a:solidFill>
              </a:rPr>
              <a:t>Insights, recommendations, action plan</a:t>
            </a:r>
            <a:endParaRPr lang="en-US" sz="1100" dirty="0"/>
          </a:p>
        </p:txBody>
      </p:sp>
      <p:pic>
        <p:nvPicPr>
          <p:cNvPr id="42" name="Image 5" descr="preencoded.png">
            <a:extLst>
              <a:ext uri="{FF2B5EF4-FFF2-40B4-BE49-F238E27FC236}">
                <a16:creationId xmlns:a16="http://schemas.microsoft.com/office/drawing/2014/main" id="{FE568A2E-7761-4466-280D-162C7A05E7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1" y="4361690"/>
            <a:ext cx="422959" cy="4229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8D290-FE9B-0A41-CA4E-F915052D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539CC1-CB04-CE0C-CC9E-B77A699C933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1D47C7-1DC6-ABDC-E6EE-6A4CF60C5F3A}"/>
              </a:ext>
            </a:extLst>
          </p:cNvPr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6CE488-E8E2-DD8E-94EA-898F50FFEDA8}"/>
              </a:ext>
            </a:extLst>
          </p:cNvPr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E9BA84-4957-86CA-886C-216EB502A8CD}"/>
              </a:ext>
            </a:extLst>
          </p:cNvPr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221B1E-D1F0-D752-A028-7ED768BCF27D}"/>
              </a:ext>
            </a:extLst>
          </p:cNvPr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572666-3614-4DB7-F93E-39D65D360732}"/>
              </a:ext>
            </a:extLst>
          </p:cNvPr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BA4C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Presenter: Mohamed Ibrahem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768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Project Objective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02336" y="827072"/>
            <a:ext cx="5212080" cy="138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827206"/>
            <a:ext cx="91440" cy="1381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562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328435"/>
            <a:ext cx="4846320" cy="76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Customer churn (attrition) refers to customers who stop doing business with a company. In telecom, it means subscribers cancelling or switching to a competitor.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7925" y="2298022"/>
            <a:ext cx="4900903" cy="1089888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2760" y="236203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</a:rPr>
              <a:t>Churn Rate Formula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760" y="270950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Churn Rate  =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65656" y="2977017"/>
            <a:ext cx="2560320" cy="2743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11128" y="271595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# Churned Customers Over a Given Period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25304" y="298913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Total # Customers at Start of The Period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2412" y="797282"/>
            <a:ext cx="2537640" cy="342900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85352" y="82471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A4CF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85352" y="130020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69E2E"/>
                </a:solidFill>
              </a:rPr>
              <a:t>5×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85352" y="171168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more costly to acquire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a new customer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5352" y="230604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69E2E"/>
                </a:solidFill>
              </a:rPr>
              <a:t>27%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85352" y="271752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churn rate in 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dataset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5352" y="331188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69E2E"/>
                </a:solidFill>
              </a:rPr>
              <a:t>$$$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85352" y="372336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direct revenue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loss per churner</a:t>
            </a:r>
            <a:endParaRPr lang="en-US" sz="11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E9D9EE86-733E-2F08-31CB-269F3A712CCE}"/>
              </a:ext>
            </a:extLst>
          </p:cNvPr>
          <p:cNvSpPr/>
          <p:nvPr/>
        </p:nvSpPr>
        <p:spPr>
          <a:xfrm>
            <a:off x="3315552" y="293150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X 100</a:t>
            </a:r>
            <a:endParaRPr lang="en-US" sz="11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3102D57A-3A46-AC96-2646-A6587E7E53CE}"/>
              </a:ext>
            </a:extLst>
          </p:cNvPr>
          <p:cNvSpPr/>
          <p:nvPr/>
        </p:nvSpPr>
        <p:spPr>
          <a:xfrm>
            <a:off x="457200" y="3519369"/>
            <a:ext cx="5212080" cy="138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87F92C3D-8F0B-B666-4496-05EFFE74C909}"/>
              </a:ext>
            </a:extLst>
          </p:cNvPr>
          <p:cNvSpPr/>
          <p:nvPr/>
        </p:nvSpPr>
        <p:spPr>
          <a:xfrm>
            <a:off x="420624" y="3519503"/>
            <a:ext cx="91440" cy="1381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71339730-5FF0-44D5-AF00-426275CD6631}"/>
              </a:ext>
            </a:extLst>
          </p:cNvPr>
          <p:cNvSpPr/>
          <p:nvPr/>
        </p:nvSpPr>
        <p:spPr>
          <a:xfrm>
            <a:off x="603504" y="364852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Project Objective</a:t>
            </a:r>
            <a:endParaRPr lang="en-US" sz="16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501D21D5-5F34-E9F6-1CF3-E603E5827950}"/>
              </a:ext>
            </a:extLst>
          </p:cNvPr>
          <p:cNvSpPr/>
          <p:nvPr/>
        </p:nvSpPr>
        <p:spPr>
          <a:xfrm>
            <a:off x="603504" y="4020732"/>
            <a:ext cx="4846320" cy="76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A1A2E"/>
                </a:solidFill>
              </a:rPr>
              <a:t>Building a machine learning model – utilizing data science techniques such as data collection, exploration, feature engineering, machine learning, etc. – to predict customer churn.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Dataset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920240" cy="10058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7840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7,043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4676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A4CF"/>
                </a:solidFill>
              </a:rPr>
              <a:t>Customer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920240" cy="10058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97840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4676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A4CF"/>
                </a:solidFill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1920240" cy="10058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97840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14676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A4CF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868680"/>
            <a:ext cx="1920240" cy="10058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97840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Kaggle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20840" y="15172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A4CF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103120"/>
            <a:ext cx="73152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Demographics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2560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Gender, Age, Senior Citizen, Partner, Dependents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1031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2103120"/>
            <a:ext cx="73152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28032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Services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2560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Phone, Internet, Streaming, Tech Support, Security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73152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3584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Account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Contract Type, Payment Method, Billing, Tenure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4747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3474720"/>
            <a:ext cx="73152" cy="11430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3584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Target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28032" y="3931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Churn (Yes / No) — Binary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&amp; Advanced Data Analysis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A4CF"/>
                </a:solidFill>
              </a:rPr>
              <a:t>Presenter: Ahmed Esmail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Exploratory Data Analysis (EDA)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2598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</a:rPr>
              <a:t>Missing value and duplicate analysis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</a:rPr>
              <a:t>Numerical and categorical analysis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</a:rPr>
              <a:t>Distribution analysis 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Cleaning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Handled missing values, outliers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Standardized inconsistent categories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Converted some datatypes into numerical formats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62194" y="297180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2194" y="2971800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99354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Visualizations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9354" y="34747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Bar Charts, Pie Charts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Histograms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Boxplots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BF65-008E-2AAA-75D0-A1F16553E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2CFE33-74DC-9749-E25F-169624542C6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CF4D06-7A4E-D1BE-80AD-659B95C400A2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7DCD5D-F4DB-90E2-2032-24323CCB656F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30A0E5-2E4E-109A-DAB0-4B43E6ACC71B}"/>
              </a:ext>
            </a:extLst>
          </p:cNvPr>
          <p:cNvSpPr/>
          <p:nvPr/>
        </p:nvSpPr>
        <p:spPr>
          <a:xfrm>
            <a:off x="320040" y="914399"/>
            <a:ext cx="4160520" cy="401159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04982D2-165F-D12C-E55F-58662FECB7AF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9B7B1E-73B3-BD24-9496-50E1B542E64B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Partner 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D672C4-9A8D-9AAB-99BA-585D551CF351}"/>
              </a:ext>
            </a:extLst>
          </p:cNvPr>
          <p:cNvSpPr/>
          <p:nvPr/>
        </p:nvSpPr>
        <p:spPr>
          <a:xfrm>
            <a:off x="4732020" y="943150"/>
            <a:ext cx="4160520" cy="398284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9D222B9-7AF5-2C73-9908-C38DC776B51E}"/>
              </a:ext>
            </a:extLst>
          </p:cNvPr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7055903-FC32-F800-DD5C-0B356F5A1E09}"/>
              </a:ext>
            </a:extLst>
          </p:cNvPr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Senior Citizen 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80E950-AC3C-8551-4685-91A78587A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66" y="1382118"/>
            <a:ext cx="3471971" cy="34719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A2B453-0DB7-281C-91EA-213F1045F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549" y="1371600"/>
            <a:ext cx="3350025" cy="348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4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B5660B-C407-392A-0D2D-BC1782900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87FDCD-0335-1BBB-D35F-62604FDF52D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D7432B-25F1-A813-3E4B-726BC87E861A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E53E7D-D45A-24CA-F552-A35B40DBB554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EC61AA-19DA-155B-2123-5EA0621EEBFB}"/>
              </a:ext>
            </a:extLst>
          </p:cNvPr>
          <p:cNvSpPr/>
          <p:nvPr/>
        </p:nvSpPr>
        <p:spPr>
          <a:xfrm>
            <a:off x="320040" y="914400"/>
            <a:ext cx="4160520" cy="401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9B4F0D-C62F-0296-ECDF-3AF3C213E55D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52DB28-9306-9A41-AB92-A021037D1610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Dependents 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3B3A49A-0375-4473-2D85-741CFA14E18A}"/>
              </a:ext>
            </a:extLst>
          </p:cNvPr>
          <p:cNvSpPr/>
          <p:nvPr/>
        </p:nvSpPr>
        <p:spPr>
          <a:xfrm>
            <a:off x="4753851" y="914400"/>
            <a:ext cx="4160520" cy="3958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F38129C-0856-4EE7-0FF2-E3903096E78B}"/>
              </a:ext>
            </a:extLst>
          </p:cNvPr>
          <p:cNvSpPr/>
          <p:nvPr/>
        </p:nvSpPr>
        <p:spPr>
          <a:xfrm>
            <a:off x="4753851" y="914400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01CDF3-4244-04EC-0504-88BCF1D44674}"/>
              </a:ext>
            </a:extLst>
          </p:cNvPr>
          <p:cNvSpPr/>
          <p:nvPr/>
        </p:nvSpPr>
        <p:spPr>
          <a:xfrm>
            <a:off x="4891011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Internet Service Analysis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9F3EE-348E-35CD-2328-D1FEBE341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223" y="1358344"/>
            <a:ext cx="3383776" cy="33837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A6D8B65-2DA4-E069-9A12-33145E73A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10" y="1352176"/>
            <a:ext cx="3472381" cy="338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20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0A202-A054-9923-7C05-E3075EE51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ACF740-4549-37E7-C617-0A434194EF2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6D5061-66D1-B0E9-15F4-AAE99A93D461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C3CC3B-F101-C8A1-CBF6-94BA6E4C1CB8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19C283-C9D3-E753-BFA7-3BBC1C319118}"/>
              </a:ext>
            </a:extLst>
          </p:cNvPr>
          <p:cNvSpPr/>
          <p:nvPr/>
        </p:nvSpPr>
        <p:spPr>
          <a:xfrm>
            <a:off x="320040" y="914399"/>
            <a:ext cx="4160520" cy="401159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C3B21A8-B9FD-F1F9-0659-8F3CAD798F6E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55EAB6-EEEE-394B-92A3-A4549B63968B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Contract 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907B923-BCD7-B4DA-D6BB-8B6CD902D578}"/>
              </a:ext>
            </a:extLst>
          </p:cNvPr>
          <p:cNvSpPr/>
          <p:nvPr/>
        </p:nvSpPr>
        <p:spPr>
          <a:xfrm>
            <a:off x="4732020" y="943150"/>
            <a:ext cx="4160520" cy="398284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B1B809E-3865-19D2-D5C7-EAB93998D898}"/>
              </a:ext>
            </a:extLst>
          </p:cNvPr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F7FAF74-5B61-A6DB-6426-846012F48464}"/>
              </a:ext>
            </a:extLst>
          </p:cNvPr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/>
              </a:rPr>
              <a:t>Payment Method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3A4EBA-4435-5D39-0206-A1B62D1C9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429" y="1327198"/>
            <a:ext cx="3523703" cy="35237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598D8C-45A9-544F-E9AD-0EB81D26E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71" y="1371241"/>
            <a:ext cx="3479659" cy="347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68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8EE3C-9CE6-81B8-5884-4F9902D3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5E735A-5DE6-F602-B4E7-24AC1561AB2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E81CA7-C922-5B8D-48B2-BFD91986918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C96EFE-8E1B-ABA0-8FCB-94E2A48618B7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Collection, Exploration &amp; Preprocessing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1CFAFCE-9AB2-69F5-BE38-0A50F9F5992B}"/>
              </a:ext>
            </a:extLst>
          </p:cNvPr>
          <p:cNvSpPr/>
          <p:nvPr/>
        </p:nvSpPr>
        <p:spPr>
          <a:xfrm>
            <a:off x="412509" y="914400"/>
            <a:ext cx="8501862" cy="395833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C1D1542-93D9-5381-AA55-91E7BCE60CFD}"/>
              </a:ext>
            </a:extLst>
          </p:cNvPr>
          <p:cNvSpPr/>
          <p:nvPr/>
        </p:nvSpPr>
        <p:spPr>
          <a:xfrm>
            <a:off x="420915" y="914400"/>
            <a:ext cx="8501862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444F086-AA4F-DC24-AF06-5506FFEC0854}"/>
              </a:ext>
            </a:extLst>
          </p:cNvPr>
          <p:cNvSpPr/>
          <p:nvPr/>
        </p:nvSpPr>
        <p:spPr>
          <a:xfrm>
            <a:off x="507999" y="960120"/>
            <a:ext cx="1538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Tenure Analysis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658695-0647-7FCD-CAF7-E673614D2F95}"/>
              </a:ext>
            </a:extLst>
          </p:cNvPr>
          <p:cNvGrpSpPr/>
          <p:nvPr/>
        </p:nvGrpSpPr>
        <p:grpSpPr>
          <a:xfrm>
            <a:off x="508000" y="1371599"/>
            <a:ext cx="8406372" cy="3405963"/>
            <a:chOff x="333719" y="1023236"/>
            <a:chExt cx="11507242" cy="364174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8C5484-787D-5D2C-D993-77A2DD546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719" y="1023236"/>
              <a:ext cx="3641745" cy="364174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56B98D-FEF4-9FAB-D3CF-AB3DC5B63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9216" y="1023236"/>
              <a:ext cx="3641745" cy="364174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7D74999-219D-99CA-6FD1-63AD1C585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9821" y="1023236"/>
              <a:ext cx="3641745" cy="36417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3744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Churn Distribution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27% overall churn rate across 7,043 customer records  ·  Key demographic and service-level patterns identified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143000"/>
          <a:ext cx="5669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09728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2344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45%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85800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Electronic check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churn rate (highest)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242316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603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43%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685800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Month-to-month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contract churn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17920" y="374904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</a:rPr>
              <a:t>3%</a:t>
            </a:r>
            <a:endParaRPr lang="en-US" sz="2600" dirty="0"/>
          </a:p>
        </p:txBody>
      </p:sp>
      <p:sp>
        <p:nvSpPr>
          <p:cNvPr id="18" name="Text 12"/>
          <p:cNvSpPr/>
          <p:nvPr/>
        </p:nvSpPr>
        <p:spPr>
          <a:xfrm>
            <a:off x="685800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Two-year contract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churn (lowest)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Statistical Tests &amp; Feature Engineering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Statistical Tests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73152" cy="1417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T-Tests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Variables: Tenure, Monthly Charges, Total Charges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</a:rPr>
              <a:t>✓ Significant difference between churned &amp; retained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73152" cy="1417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Chi-Squared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Variables: Contract, Internet Service, Payment Method, Tech Support, Online Security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A169"/>
                </a:solidFill>
              </a:rPr>
              <a:t>✓ Strong statistical relationship with churn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Engineered Features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40690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828032" y="1444752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57800" y="1335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2545"/>
                </a:solidFill>
              </a:rPr>
              <a:t>Charge Per Service, Average Monthly Spend,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2029968"/>
            <a:ext cx="4069080" cy="658368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28032" y="2194560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57800" y="2166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2545"/>
                </a:solidFill>
              </a:rPr>
              <a:t>Long-Term Customer Flag, Tenure Groups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3340608"/>
            <a:ext cx="40690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28032" y="3472688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76088" y="1595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2545"/>
                </a:solidFill>
              </a:rPr>
              <a:t>Total Services, 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4057904"/>
            <a:ext cx="4069080" cy="658368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28032" y="4222496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57800" y="411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Feature Selection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257800" y="4405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Random Forest, RFE</a:t>
            </a:r>
            <a:endParaRPr lang="en-US" sz="105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7F3D5381-CC50-3533-5F6A-BE7ADC4E8C40}"/>
              </a:ext>
            </a:extLst>
          </p:cNvPr>
          <p:cNvSpPr/>
          <p:nvPr/>
        </p:nvSpPr>
        <p:spPr>
          <a:xfrm>
            <a:off x="4754880" y="2817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</a:rPr>
              <a:t>Data Preparation for ML</a:t>
            </a:r>
            <a:endParaRPr lang="en-US" sz="15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A4D38491-7E88-5BFA-5023-1336E58D2F32}"/>
              </a:ext>
            </a:extLst>
          </p:cNvPr>
          <p:cNvSpPr/>
          <p:nvPr/>
        </p:nvSpPr>
        <p:spPr>
          <a:xfrm>
            <a:off x="5257800" y="3371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One-hot encoding for categorical variables</a:t>
            </a:r>
            <a:endParaRPr lang="en-US" sz="1250" dirty="0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F7BF84D6-16BB-CD01-4939-42ABACEEE9EA}"/>
              </a:ext>
            </a:extLst>
          </p:cNvPr>
          <p:cNvSpPr/>
          <p:nvPr/>
        </p:nvSpPr>
        <p:spPr>
          <a:xfrm>
            <a:off x="5257800" y="3625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B2545"/>
                </a:solidFill>
              </a:rPr>
              <a:t>MinMaxScaler</a:t>
            </a:r>
            <a:r>
              <a:rPr lang="en-US" sz="1250" b="1" dirty="0">
                <a:solidFill>
                  <a:srgbClr val="0B2545"/>
                </a:solidFill>
              </a:rPr>
              <a:t> normalization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Top 15 Features for Churn Prediction</a:t>
            </a:r>
            <a:endParaRPr lang="en-US" sz="2200" dirty="0"/>
          </a:p>
        </p:txBody>
      </p:sp>
      <p:pic>
        <p:nvPicPr>
          <p:cNvPr id="5" name="Image 0" descr="/mnt/user-data/uploads/EDA_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0" y="916432"/>
            <a:ext cx="585216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822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325880"/>
            <a:ext cx="228600" cy="2286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20840" y="1298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ChargePerService is the strongest predictor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228600" cy="2286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20840" y="1745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Tenure &amp; charges dominate top 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2423160"/>
            <a:ext cx="228600" cy="2286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20840" y="2294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Contract type &amp; fiber optic are top categorical features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2971800"/>
            <a:ext cx="228600" cy="2286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20840" y="28529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Electronic check payment signals high risk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63640" y="3647440"/>
            <a:ext cx="2560320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369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 features selected for ML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Development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A4CF"/>
                </a:solidFill>
              </a:rPr>
              <a:t>Presenter: Amr El-Azab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78A27-7CAA-3407-0B70-C20FD85B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520E82-AB9A-FFF9-3E9C-AB7788A5A5D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D3530CC-D7B4-896F-9865-0DF992AF37EB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1E0627-1CC1-D9C9-2118-5AAC654CCE3C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Machine Learning</a:t>
            </a:r>
            <a:endParaRPr lang="en-US" sz="2200" i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3F5631-CDC0-5DA4-9249-71753B38A8CF}"/>
              </a:ext>
            </a:extLst>
          </p:cNvPr>
          <p:cNvGrpSpPr/>
          <p:nvPr/>
        </p:nvGrpSpPr>
        <p:grpSpPr>
          <a:xfrm>
            <a:off x="1280160" y="854626"/>
            <a:ext cx="1920240" cy="1005840"/>
            <a:chOff x="1280160" y="868680"/>
            <a:chExt cx="1920240" cy="100584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8A4C89D-744C-7BDA-E6B1-24824222CBEF}"/>
                </a:ext>
              </a:extLst>
            </p:cNvPr>
            <p:cNvSpPr/>
            <p:nvPr/>
          </p:nvSpPr>
          <p:spPr>
            <a:xfrm>
              <a:off x="1280160" y="868680"/>
              <a:ext cx="1920240" cy="1005840"/>
            </a:xfrm>
            <a:prstGeom prst="rect">
              <a:avLst/>
            </a:prstGeom>
            <a:solidFill>
              <a:srgbClr val="0B2545"/>
            </a:solidFill>
            <a:ln/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E9CE9757-0E5A-3153-2128-0127FDB3C7E4}"/>
                </a:ext>
              </a:extLst>
            </p:cNvPr>
            <p:cNvSpPr/>
            <p:nvPr/>
          </p:nvSpPr>
          <p:spPr>
            <a:xfrm>
              <a:off x="1325880" y="978408"/>
              <a:ext cx="1828800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7,043</a:t>
              </a:r>
              <a:endParaRPr lang="en-US" sz="32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B9B37B0C-ABE4-7ED9-C3FD-3C0041A6C727}"/>
                </a:ext>
              </a:extLst>
            </p:cNvPr>
            <p:cNvSpPr/>
            <p:nvPr/>
          </p:nvSpPr>
          <p:spPr>
            <a:xfrm>
              <a:off x="1325880" y="1467612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A4CF"/>
                  </a:solidFill>
                </a:rPr>
                <a:t>Customers Analyzed</a:t>
              </a:r>
              <a:endParaRPr lang="en-US" sz="11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93D322E-0811-E7B2-1A9F-B514A58BDAE5}"/>
              </a:ext>
            </a:extLst>
          </p:cNvPr>
          <p:cNvGrpSpPr/>
          <p:nvPr/>
        </p:nvGrpSpPr>
        <p:grpSpPr>
          <a:xfrm>
            <a:off x="3786017" y="854626"/>
            <a:ext cx="1920240" cy="1005840"/>
            <a:chOff x="3763639" y="840125"/>
            <a:chExt cx="1920240" cy="1005840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CE4F7659-9884-414E-FEAF-BF6C43AEDD85}"/>
                </a:ext>
              </a:extLst>
            </p:cNvPr>
            <p:cNvSpPr/>
            <p:nvPr/>
          </p:nvSpPr>
          <p:spPr>
            <a:xfrm>
              <a:off x="3763639" y="840125"/>
              <a:ext cx="1920240" cy="1005840"/>
            </a:xfrm>
            <a:prstGeom prst="rect">
              <a:avLst/>
            </a:prstGeom>
            <a:solidFill>
              <a:srgbClr val="0B2545"/>
            </a:solidFill>
            <a:ln/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279FA03F-2CBF-D4A7-92E1-7EA7B661DCAB}"/>
                </a:ext>
              </a:extLst>
            </p:cNvPr>
            <p:cNvSpPr/>
            <p:nvPr/>
          </p:nvSpPr>
          <p:spPr>
            <a:xfrm>
              <a:off x="3809359" y="949853"/>
              <a:ext cx="1828800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~27%</a:t>
              </a:r>
              <a:endParaRPr lang="en-US" sz="32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1BD22381-52AE-2F38-2F80-D1DCF05C5711}"/>
                </a:ext>
              </a:extLst>
            </p:cNvPr>
            <p:cNvSpPr/>
            <p:nvPr/>
          </p:nvSpPr>
          <p:spPr>
            <a:xfrm>
              <a:off x="3809359" y="1439057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A4CF"/>
                  </a:solidFill>
                </a:rPr>
                <a:t>Churn Rate</a:t>
              </a:r>
              <a:endParaRPr lang="en-US" sz="11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050BF1-4DED-F7E4-7679-B76978C2DB5D}"/>
              </a:ext>
            </a:extLst>
          </p:cNvPr>
          <p:cNvGrpSpPr/>
          <p:nvPr/>
        </p:nvGrpSpPr>
        <p:grpSpPr>
          <a:xfrm>
            <a:off x="6291874" y="832104"/>
            <a:ext cx="1920240" cy="1050884"/>
            <a:chOff x="6291874" y="832104"/>
            <a:chExt cx="1920240" cy="1050884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7D9EBF2B-5350-EDCE-6AEF-AD5C26F8E319}"/>
                </a:ext>
              </a:extLst>
            </p:cNvPr>
            <p:cNvSpPr/>
            <p:nvPr/>
          </p:nvSpPr>
          <p:spPr>
            <a:xfrm>
              <a:off x="6291874" y="832104"/>
              <a:ext cx="1920240" cy="1005840"/>
            </a:xfrm>
            <a:prstGeom prst="rect">
              <a:avLst/>
            </a:prstGeom>
            <a:solidFill>
              <a:srgbClr val="0B2545"/>
            </a:solidFill>
            <a:ln/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96769952-DD29-843C-5DA0-FABB3A17552B}"/>
                </a:ext>
              </a:extLst>
            </p:cNvPr>
            <p:cNvSpPr/>
            <p:nvPr/>
          </p:nvSpPr>
          <p:spPr>
            <a:xfrm>
              <a:off x="6337594" y="941832"/>
              <a:ext cx="1828800" cy="553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5</a:t>
              </a:r>
              <a:endParaRPr lang="en-US" sz="32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C3449F0F-D9C2-7A93-22B6-C381BCE21A67}"/>
                </a:ext>
              </a:extLst>
            </p:cNvPr>
            <p:cNvSpPr/>
            <p:nvPr/>
          </p:nvSpPr>
          <p:spPr>
            <a:xfrm>
              <a:off x="6337594" y="1480652"/>
              <a:ext cx="1828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BA4CF"/>
                  </a:solidFill>
                </a:rPr>
                <a:t>Models Tested &amp; Compared</a:t>
              </a:r>
              <a:endParaRPr lang="en-US" sz="1100" dirty="0"/>
            </a:p>
          </p:txBody>
        </p:sp>
      </p:grpSp>
      <p:sp>
        <p:nvSpPr>
          <p:cNvPr id="17" name="Shape 15">
            <a:extLst>
              <a:ext uri="{FF2B5EF4-FFF2-40B4-BE49-F238E27FC236}">
                <a16:creationId xmlns:a16="http://schemas.microsoft.com/office/drawing/2014/main" id="{3170A437-3249-9CB6-6DEC-F946A4E4FCA1}"/>
              </a:ext>
            </a:extLst>
          </p:cNvPr>
          <p:cNvSpPr/>
          <p:nvPr/>
        </p:nvSpPr>
        <p:spPr>
          <a:xfrm>
            <a:off x="1183901" y="2134722"/>
            <a:ext cx="7021629" cy="18758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F0DFBDA-780D-5859-EE6B-C4C297BFC038}"/>
              </a:ext>
            </a:extLst>
          </p:cNvPr>
          <p:cNvSpPr/>
          <p:nvPr/>
        </p:nvSpPr>
        <p:spPr>
          <a:xfrm>
            <a:off x="1183902" y="2135204"/>
            <a:ext cx="127666" cy="187580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38D4C0E-6BD2-E066-8B05-F42DB8415981}"/>
              </a:ext>
            </a:extLst>
          </p:cNvPr>
          <p:cNvSpPr/>
          <p:nvPr/>
        </p:nvSpPr>
        <p:spPr>
          <a:xfrm>
            <a:off x="1348494" y="2293057"/>
            <a:ext cx="6542882" cy="525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</a:rPr>
              <a:t>Predicting Customer Churn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3456EB2-7A8C-4202-68FE-7F22D330F715}"/>
              </a:ext>
            </a:extLst>
          </p:cNvPr>
          <p:cNvSpPr/>
          <p:nvPr/>
        </p:nvSpPr>
        <p:spPr>
          <a:xfrm>
            <a:off x="1348494" y="2640530"/>
            <a:ext cx="6542882" cy="975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Spotting customers who are likely to leave – early enough to keep them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24997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833E-2F98-9DF2-8108-A86A460C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D1C7F1-60A5-1EDD-D2B0-FCE53D04B6E3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8FF424-6C64-0E65-B110-CE856BB28271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94B204-F907-9B7C-CCA7-2A14239B16F8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Machine Learning</a:t>
            </a:r>
            <a:endParaRPr lang="en-US" sz="2200" i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17BC2B-E5AB-5FD7-EC8D-A369EA9E3DF6}"/>
              </a:ext>
            </a:extLst>
          </p:cNvPr>
          <p:cNvSpPr/>
          <p:nvPr/>
        </p:nvSpPr>
        <p:spPr>
          <a:xfrm>
            <a:off x="3063240" y="894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006218-828A-9ED6-68BB-EAE3A1E81488}"/>
              </a:ext>
            </a:extLst>
          </p:cNvPr>
          <p:cNvSpPr/>
          <p:nvPr/>
        </p:nvSpPr>
        <p:spPr>
          <a:xfrm>
            <a:off x="3063240" y="894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D1F87B-D8E1-D8BD-7D19-0BCF96030430}"/>
              </a:ext>
            </a:extLst>
          </p:cNvPr>
          <p:cNvSpPr/>
          <p:nvPr/>
        </p:nvSpPr>
        <p:spPr>
          <a:xfrm>
            <a:off x="3172968" y="967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Prepared the Data</a:t>
            </a:r>
            <a:endParaRPr lang="en-US" sz="13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D0B1375E-09CB-9964-CB6C-FEC64C75B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967232"/>
            <a:ext cx="320040" cy="32004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D75D6D4-119F-EEB1-47F9-B1AAF23B8B38}"/>
              </a:ext>
            </a:extLst>
          </p:cNvPr>
          <p:cNvSpPr/>
          <p:nvPr/>
        </p:nvSpPr>
        <p:spPr>
          <a:xfrm>
            <a:off x="3172968" y="1461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Cleaned 7,043 customer records described by 15 signals — tenure, charges, contract type, services and more.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A165121-5096-00B1-9E39-90E2E09F222D}"/>
              </a:ext>
            </a:extLst>
          </p:cNvPr>
          <p:cNvSpPr/>
          <p:nvPr/>
        </p:nvSpPr>
        <p:spPr>
          <a:xfrm>
            <a:off x="6035040" y="894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70A81E7-1CF1-7A3B-7E32-19FD0DBC1289}"/>
              </a:ext>
            </a:extLst>
          </p:cNvPr>
          <p:cNvSpPr/>
          <p:nvPr/>
        </p:nvSpPr>
        <p:spPr>
          <a:xfrm>
            <a:off x="6035040" y="894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09CFD42-6A05-8931-3B2E-DEF25A68FB0D}"/>
              </a:ext>
            </a:extLst>
          </p:cNvPr>
          <p:cNvSpPr/>
          <p:nvPr/>
        </p:nvSpPr>
        <p:spPr>
          <a:xfrm>
            <a:off x="6144768" y="967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Balanced the Picture</a:t>
            </a:r>
            <a:endParaRPr lang="en-US" sz="13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6C8782BA-1713-6038-D420-51E8E6932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67232"/>
            <a:ext cx="320040" cy="32004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E279CBBC-2787-8D45-B431-4CBFB3B6A54B}"/>
              </a:ext>
            </a:extLst>
          </p:cNvPr>
          <p:cNvSpPr/>
          <p:nvPr/>
        </p:nvSpPr>
        <p:spPr>
          <a:xfrm>
            <a:off x="6144768" y="1461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Churners were the minority, so we balanced the training data (SMOTE) so the model learns to spot them, not ignore them.</a:t>
            </a: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B9E1D69-A278-AE32-5EB6-C3ECA8781631}"/>
              </a:ext>
            </a:extLst>
          </p:cNvPr>
          <p:cNvSpPr/>
          <p:nvPr/>
        </p:nvSpPr>
        <p:spPr>
          <a:xfrm>
            <a:off x="2877794" y="2985516"/>
            <a:ext cx="2928646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AEA6CF3F-8B87-486F-4C7B-D75BDE4BBF75}"/>
              </a:ext>
            </a:extLst>
          </p:cNvPr>
          <p:cNvSpPr/>
          <p:nvPr/>
        </p:nvSpPr>
        <p:spPr>
          <a:xfrm>
            <a:off x="2877794" y="2985516"/>
            <a:ext cx="2928646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555E8B8-E32A-B8E0-81F7-AF7FFD15FB39}"/>
              </a:ext>
            </a:extLst>
          </p:cNvPr>
          <p:cNvSpPr/>
          <p:nvPr/>
        </p:nvSpPr>
        <p:spPr>
          <a:xfrm>
            <a:off x="3002976" y="3058668"/>
            <a:ext cx="268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Trained &amp; Compared 5 Models</a:t>
            </a:r>
            <a:endParaRPr lang="en-US" sz="13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C0D1630D-6C5C-86F9-5CE0-87184B5CC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058668"/>
            <a:ext cx="320040" cy="320040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EB9A7E64-B338-1DFD-FCFE-C348BC86B937}"/>
              </a:ext>
            </a:extLst>
          </p:cNvPr>
          <p:cNvSpPr/>
          <p:nvPr/>
        </p:nvSpPr>
        <p:spPr>
          <a:xfrm>
            <a:off x="3172968" y="3552444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Tested five different approaches side by side on data the models had never seen, using fair, like-for-like metrics.</a:t>
            </a: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71234DD5-C600-57DF-0D1F-DB7E3A4F06CE}"/>
              </a:ext>
            </a:extLst>
          </p:cNvPr>
          <p:cNvSpPr/>
          <p:nvPr/>
        </p:nvSpPr>
        <p:spPr>
          <a:xfrm>
            <a:off x="6035040" y="2985516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F2D377B4-C6B5-0EE7-E8CA-98CDD62EAD8D}"/>
              </a:ext>
            </a:extLst>
          </p:cNvPr>
          <p:cNvSpPr/>
          <p:nvPr/>
        </p:nvSpPr>
        <p:spPr>
          <a:xfrm>
            <a:off x="6035040" y="2985516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4CE62A4B-B208-8FEE-31B1-F215AA836D8F}"/>
              </a:ext>
            </a:extLst>
          </p:cNvPr>
          <p:cNvSpPr/>
          <p:nvPr/>
        </p:nvSpPr>
        <p:spPr>
          <a:xfrm>
            <a:off x="6144768" y="30586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Validated &amp; Fine-Tuned</a:t>
            </a:r>
            <a:endParaRPr lang="en-US" sz="1300" dirty="0"/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A692632F-EDAB-4698-BA16-69E6F537D3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058668"/>
            <a:ext cx="320040" cy="320040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D89E80E6-3268-81B8-D4A7-43B2DC72ED88}"/>
              </a:ext>
            </a:extLst>
          </p:cNvPr>
          <p:cNvSpPr/>
          <p:nvPr/>
        </p:nvSpPr>
        <p:spPr>
          <a:xfrm>
            <a:off x="6144768" y="3552444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Confirmed results were stable (5-fold cross-validation) and tuned the strongest models for the best practical performance.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75C765A-82A9-88A0-92A8-26540FB2766E}"/>
              </a:ext>
            </a:extLst>
          </p:cNvPr>
          <p:cNvGrpSpPr/>
          <p:nvPr/>
        </p:nvGrpSpPr>
        <p:grpSpPr>
          <a:xfrm>
            <a:off x="32004" y="894080"/>
            <a:ext cx="2916936" cy="1828800"/>
            <a:chOff x="146304" y="894080"/>
            <a:chExt cx="5248656" cy="1382014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DA360581-A85F-1324-89F6-60B99DBE0A3C}"/>
                </a:ext>
              </a:extLst>
            </p:cNvPr>
            <p:cNvSpPr/>
            <p:nvPr/>
          </p:nvSpPr>
          <p:spPr>
            <a:xfrm>
              <a:off x="182880" y="894080"/>
              <a:ext cx="5212080" cy="13818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Shape 4">
              <a:extLst>
                <a:ext uri="{FF2B5EF4-FFF2-40B4-BE49-F238E27FC236}">
                  <a16:creationId xmlns:a16="http://schemas.microsoft.com/office/drawing/2014/main" id="{3FB1A44D-F120-6ED8-C656-0D0F7C0B985E}"/>
                </a:ext>
              </a:extLst>
            </p:cNvPr>
            <p:cNvSpPr/>
            <p:nvPr/>
          </p:nvSpPr>
          <p:spPr>
            <a:xfrm>
              <a:off x="146304" y="894214"/>
              <a:ext cx="91440" cy="1381880"/>
            </a:xfrm>
            <a:prstGeom prst="rect">
              <a:avLst/>
            </a:prstGeom>
            <a:solidFill>
              <a:srgbClr val="1B6CA8"/>
            </a:solidFill>
            <a:ln w="12700">
              <a:solidFill>
                <a:srgbClr val="1B6C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FD9D3336-60E7-34A0-975D-59DE4E7E04F2}"/>
                </a:ext>
              </a:extLst>
            </p:cNvPr>
            <p:cNvSpPr/>
            <p:nvPr/>
          </p:nvSpPr>
          <p:spPr>
            <a:xfrm>
              <a:off x="329183" y="902477"/>
              <a:ext cx="4846320" cy="253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B2545"/>
                  </a:solidFill>
                </a:rPr>
                <a:t>What We Did:</a:t>
              </a:r>
            </a:p>
          </p:txBody>
        </p: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8D6D53F3-C5F5-45A3-02EB-9F19C1B85C76}"/>
                </a:ext>
              </a:extLst>
            </p:cNvPr>
            <p:cNvSpPr/>
            <p:nvPr/>
          </p:nvSpPr>
          <p:spPr>
            <a:xfrm>
              <a:off x="342972" y="1132714"/>
              <a:ext cx="4846320" cy="7622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/>
                <a:t>A clear, four-step process to build a reliable churn predictor.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5063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9168A-DE2B-4615-87EE-3E763B35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9D98A8-5A65-E88D-1358-A4793F75F0E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0EF3A0-3DDA-EE14-8A67-AA1D11B3582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557997-9923-7166-B71F-A53C3035DF6D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Results &amp; Recommendations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42B420-43A1-E442-32A9-5FA247CBC2FF}"/>
              </a:ext>
            </a:extLst>
          </p:cNvPr>
          <p:cNvSpPr/>
          <p:nvPr/>
        </p:nvSpPr>
        <p:spPr>
          <a:xfrm>
            <a:off x="301752" y="896112"/>
            <a:ext cx="8339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B2545"/>
                </a:solidFill>
              </a:rPr>
              <a:t>Gradient Boosting was selected as the best model for retention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9BC5C69-804A-C593-1738-F0F924488377}"/>
              </a:ext>
            </a:extLst>
          </p:cNvPr>
          <p:cNvSpPr/>
          <p:nvPr/>
        </p:nvSpPr>
        <p:spPr>
          <a:xfrm>
            <a:off x="320040" y="1280159"/>
            <a:ext cx="4160520" cy="288780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EED515E-FCE3-CCF2-78E1-4FEB9892EBE3}"/>
              </a:ext>
            </a:extLst>
          </p:cNvPr>
          <p:cNvSpPr/>
          <p:nvPr/>
        </p:nvSpPr>
        <p:spPr>
          <a:xfrm>
            <a:off x="320040" y="1280160"/>
            <a:ext cx="54864" cy="288780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9914AA-C49D-2326-6D00-6E711EF3D660}"/>
              </a:ext>
            </a:extLst>
          </p:cNvPr>
          <p:cNvSpPr/>
          <p:nvPr/>
        </p:nvSpPr>
        <p:spPr>
          <a:xfrm>
            <a:off x="484632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495F84-E455-960C-FA92-7B98B82FE6F8}"/>
              </a:ext>
            </a:extLst>
          </p:cNvPr>
          <p:cNvSpPr/>
          <p:nvPr/>
        </p:nvSpPr>
        <p:spPr>
          <a:xfrm>
            <a:off x="480060" y="1878240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 sz="1500">
                <a:solidFill>
                  <a:srgbClr val="16234E"/>
                </a:solidFill>
              </a:defRPr>
            </a:pPr>
            <a:r>
              <a:rPr lang="en-US" sz="1400" dirty="0">
                <a:solidFill>
                  <a:srgbClr val="64748B"/>
                </a:solidFill>
              </a:rPr>
              <a:t>Deploy Gradient Boosting to score customers by churn risk and flag the highest-risk ones for proactive retention offers. The model catches roughly 4 in 5 likely leavers; the few false alarms cost only an offer, while each missed churner is a lost customer.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B18482-35A1-6F3E-2A25-704245CDF80B}"/>
              </a:ext>
            </a:extLst>
          </p:cNvPr>
          <p:cNvSpPr/>
          <p:nvPr/>
        </p:nvSpPr>
        <p:spPr>
          <a:xfrm>
            <a:off x="484632" y="30798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A169"/>
                </a:solidFill>
              </a:rPr>
              <a:t>✓ Deploy Gradient Boosting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2B9BCAC-02E8-AAB6-E1C5-2A5E5B70E75E}"/>
              </a:ext>
            </a:extLst>
          </p:cNvPr>
          <p:cNvSpPr/>
          <p:nvPr/>
        </p:nvSpPr>
        <p:spPr>
          <a:xfrm>
            <a:off x="4744600" y="1320800"/>
            <a:ext cx="3332953" cy="72615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3FA888C-0ABE-1C55-6A09-B94B7E24134C}"/>
              </a:ext>
            </a:extLst>
          </p:cNvPr>
          <p:cNvSpPr/>
          <p:nvPr/>
        </p:nvSpPr>
        <p:spPr>
          <a:xfrm>
            <a:off x="4863472" y="1444752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A91224B-8285-71AC-5807-DFE0519E5E54}"/>
              </a:ext>
            </a:extLst>
          </p:cNvPr>
          <p:cNvSpPr/>
          <p:nvPr/>
        </p:nvSpPr>
        <p:spPr>
          <a:xfrm>
            <a:off x="5257800" y="1335024"/>
            <a:ext cx="2771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545"/>
                </a:solidFill>
              </a:rPr>
              <a:t>79%</a:t>
            </a:r>
            <a:endParaRPr lang="en-US" sz="16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242221A-BE64-EB29-5263-36516FCF8B6D}"/>
              </a:ext>
            </a:extLst>
          </p:cNvPr>
          <p:cNvSpPr/>
          <p:nvPr/>
        </p:nvSpPr>
        <p:spPr>
          <a:xfrm>
            <a:off x="4754880" y="2093690"/>
            <a:ext cx="3332953" cy="726154"/>
          </a:xfrm>
          <a:prstGeom prst="rect">
            <a:avLst/>
          </a:prstGeom>
          <a:solidFill>
            <a:srgbClr val="D6E8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45BC3F5-0DCE-1384-E9DD-5CC431F69B00}"/>
              </a:ext>
            </a:extLst>
          </p:cNvPr>
          <p:cNvSpPr/>
          <p:nvPr/>
        </p:nvSpPr>
        <p:spPr>
          <a:xfrm>
            <a:off x="4828032" y="2279618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F8D2C1B-19C6-388D-E746-47F76ADA41DF}"/>
              </a:ext>
            </a:extLst>
          </p:cNvPr>
          <p:cNvSpPr/>
          <p:nvPr/>
        </p:nvSpPr>
        <p:spPr>
          <a:xfrm>
            <a:off x="5257800" y="2173202"/>
            <a:ext cx="2771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2545"/>
                </a:solidFill>
              </a:rPr>
              <a:t>0.84</a:t>
            </a:r>
            <a:endParaRPr lang="en-US" sz="16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B842BB9-5838-F47B-FC36-ECB4C0032EA4}"/>
              </a:ext>
            </a:extLst>
          </p:cNvPr>
          <p:cNvSpPr/>
          <p:nvPr/>
        </p:nvSpPr>
        <p:spPr>
          <a:xfrm>
            <a:off x="4754880" y="2873724"/>
            <a:ext cx="3332953" cy="72615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952B2D7-D862-9C17-1378-B9B4EFA9099E}"/>
              </a:ext>
            </a:extLst>
          </p:cNvPr>
          <p:cNvSpPr/>
          <p:nvPr/>
        </p:nvSpPr>
        <p:spPr>
          <a:xfrm>
            <a:off x="4828032" y="3026124"/>
            <a:ext cx="320040" cy="32004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3D39A716-B3E1-D0ED-C677-C4EC45C8060A}"/>
              </a:ext>
            </a:extLst>
          </p:cNvPr>
          <p:cNvSpPr/>
          <p:nvPr/>
        </p:nvSpPr>
        <p:spPr>
          <a:xfrm>
            <a:off x="5257800" y="2924524"/>
            <a:ext cx="27712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Gradient Boosting</a:t>
            </a:r>
            <a:endParaRPr lang="en-US" sz="1600" dirty="0"/>
          </a:p>
        </p:txBody>
      </p:sp>
      <p:sp>
        <p:nvSpPr>
          <p:cNvPr id="20" name="Text 30">
            <a:extLst>
              <a:ext uri="{FF2B5EF4-FFF2-40B4-BE49-F238E27FC236}">
                <a16:creationId xmlns:a16="http://schemas.microsoft.com/office/drawing/2014/main" id="{6A7E8CA1-1B6E-0803-8265-440438654E44}"/>
              </a:ext>
            </a:extLst>
          </p:cNvPr>
          <p:cNvSpPr/>
          <p:nvPr/>
        </p:nvSpPr>
        <p:spPr>
          <a:xfrm>
            <a:off x="5307312" y="1620520"/>
            <a:ext cx="2771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of customers who leave are now correctly flagged</a:t>
            </a:r>
          </a:p>
        </p:txBody>
      </p:sp>
      <p:sp>
        <p:nvSpPr>
          <p:cNvPr id="24" name="Text 30">
            <a:extLst>
              <a:ext uri="{FF2B5EF4-FFF2-40B4-BE49-F238E27FC236}">
                <a16:creationId xmlns:a16="http://schemas.microsoft.com/office/drawing/2014/main" id="{245C3627-6E6A-6DAD-7FEB-3094FF3C82D0}"/>
              </a:ext>
            </a:extLst>
          </p:cNvPr>
          <p:cNvSpPr/>
          <p:nvPr/>
        </p:nvSpPr>
        <p:spPr>
          <a:xfrm>
            <a:off x="5307312" y="2488914"/>
            <a:ext cx="2771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ROC-AUC — strong at ranking customers by risk</a:t>
            </a: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98292863-E6C9-EDAB-3288-365C825D40C0}"/>
              </a:ext>
            </a:extLst>
          </p:cNvPr>
          <p:cNvSpPr/>
          <p:nvPr/>
        </p:nvSpPr>
        <p:spPr>
          <a:xfrm>
            <a:off x="5307312" y="3203828"/>
            <a:ext cx="2771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the winning model, chosen on balanced performance</a:t>
            </a:r>
          </a:p>
        </p:txBody>
      </p:sp>
    </p:spTree>
    <p:extLst>
      <p:ext uri="{BB962C8B-B14F-4D97-AF65-F5344CB8AC3E}">
        <p14:creationId xmlns:p14="http://schemas.microsoft.com/office/powerpoint/2010/main" val="1466961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MLOps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A4CF"/>
                </a:solidFill>
              </a:rPr>
              <a:t>Presenter: Mohamed Ibrahem Rady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MLOps Pipeline &amp;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554480" cy="1554480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Prep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Engineered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57400" y="1783080"/>
            <a:ext cx="502920" cy="0"/>
          </a:xfrm>
          <a:prstGeom prst="line">
            <a:avLst/>
          </a:prstGeom>
          <a:noFill/>
          <a:ln w="31750">
            <a:solidFill>
              <a:srgbClr val="1B6CA8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560320" y="960120"/>
            <a:ext cx="1554480" cy="1554480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Training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6888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Classifiers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+ Tuning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60520" y="1783080"/>
            <a:ext cx="502920" cy="0"/>
          </a:xfrm>
          <a:prstGeom prst="line">
            <a:avLst/>
          </a:prstGeom>
          <a:noFill/>
          <a:ln w="31750">
            <a:solidFill>
              <a:srgbClr val="1B6CA8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63440" y="960120"/>
            <a:ext cx="1554480" cy="1554480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325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Save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.</a:t>
            </a:r>
            <a:r>
              <a:rPr lang="en-US" sz="1000" dirty="0" err="1">
                <a:solidFill>
                  <a:srgbClr val="64748B"/>
                </a:solidFill>
              </a:rPr>
              <a:t>joblib</a:t>
            </a:r>
            <a:r>
              <a:rPr lang="en-US" sz="1000" dirty="0">
                <a:solidFill>
                  <a:srgbClr val="64748B"/>
                </a:solidFill>
              </a:rPr>
              <a:t>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.</a:t>
            </a:r>
            <a:r>
              <a:rPr lang="en-US" sz="1000" dirty="0" err="1">
                <a:solidFill>
                  <a:srgbClr val="64748B"/>
                </a:solidFill>
              </a:rPr>
              <a:t>json</a:t>
            </a:r>
            <a:r>
              <a:rPr lang="en-US" sz="1000" dirty="0">
                <a:solidFill>
                  <a:srgbClr val="64748B"/>
                </a:solidFill>
              </a:rPr>
              <a:t> &amp; .</a:t>
            </a:r>
            <a:r>
              <a:rPr lang="en-US" sz="1000" dirty="0" err="1">
                <a:solidFill>
                  <a:srgbClr val="64748B"/>
                </a:solidFill>
              </a:rPr>
              <a:t>pkl</a:t>
            </a:r>
            <a:r>
              <a:rPr lang="en-US" sz="1000" dirty="0">
                <a:solidFill>
                  <a:srgbClr val="64748B"/>
                </a:solidFill>
              </a:rPr>
              <a:t> files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1783080"/>
            <a:ext cx="502920" cy="0"/>
          </a:xfrm>
          <a:prstGeom prst="line">
            <a:avLst/>
          </a:prstGeom>
          <a:noFill/>
          <a:ln w="31750">
            <a:solidFill>
              <a:srgbClr val="1B6CA8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766560" y="960120"/>
            <a:ext cx="1554480" cy="1554480"/>
          </a:xfrm>
          <a:prstGeom prst="ellipse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3258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7512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B2545"/>
                </a:solidFill>
              </a:rPr>
              <a:t>FastAPI</a:t>
            </a:r>
            <a:r>
              <a:rPr lang="en-US" sz="1200" b="1" dirty="0">
                <a:solidFill>
                  <a:srgbClr val="0B2545"/>
                </a:solidFill>
              </a:rPr>
              <a:t> / </a:t>
            </a:r>
            <a:r>
              <a:rPr lang="en-US" sz="1200" b="1" dirty="0" err="1">
                <a:solidFill>
                  <a:srgbClr val="0B2545"/>
                </a:solidFill>
              </a:rPr>
              <a:t>Streamlit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67512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</a:rPr>
              <a:t>depi-ccpa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.streamlit.app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" y="3703320"/>
            <a:ext cx="8503920" cy="123444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572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</a:rPr>
              <a:t>Tools &amp; Infrastructure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</a:rPr>
              <a:t>→ GitHub Repository (</a:t>
            </a:r>
            <a:r>
              <a:rPr lang="en-US" sz="1100" dirty="0">
                <a:solidFill>
                  <a:srgbClr val="D6E8F7"/>
                </a:solidFill>
                <a:hlinkClick r:id="rId7"/>
              </a:rPr>
              <a:t>Eng-MIR/DEPI4-CCPA</a:t>
            </a:r>
            <a:r>
              <a:rPr lang="en-US" sz="1100" dirty="0">
                <a:solidFill>
                  <a:srgbClr val="D6E8F7"/>
                </a:solidFill>
              </a:rPr>
              <a:t>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</a:rPr>
              <a:t>→ Model versioning via </a:t>
            </a:r>
            <a:r>
              <a:rPr lang="en-US" sz="1100" dirty="0" err="1">
                <a:solidFill>
                  <a:srgbClr val="D6E8F7"/>
                </a:solidFill>
              </a:rPr>
              <a:t>MLflow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75488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</a:rPr>
              <a:t>→ Streamlit Cloud deployment — live at depi4-ccpa.streamlit.app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75488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</a:rPr>
              <a:t>→ 4 team members as GitHub contributors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C2269-305F-53B7-69DA-538EE14B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A8CEE4-EBC0-E883-3CBC-C9AF37DD691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B2A52A-C95D-CFDE-E561-A55950CA5452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D18026-1ED9-3B27-B877-E8D83FBA4644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MLOps Pipeline &amp; Deployment</a:t>
            </a:r>
            <a:endParaRPr lang="en-US" sz="2200" dirty="0"/>
          </a:p>
        </p:txBody>
      </p:sp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86C8281D-8349-7DFE-2AB4-E884D3CA4E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060947"/>
              </p:ext>
            </p:extLst>
          </p:nvPr>
        </p:nvGraphicFramePr>
        <p:xfrm>
          <a:off x="2940198" y="922388"/>
          <a:ext cx="6680200" cy="4072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" name="Shape 4">
            <a:extLst>
              <a:ext uri="{FF2B5EF4-FFF2-40B4-BE49-F238E27FC236}">
                <a16:creationId xmlns:a16="http://schemas.microsoft.com/office/drawing/2014/main" id="{1116233D-3AD5-FE87-D49B-992ECC86AFF1}"/>
              </a:ext>
            </a:extLst>
          </p:cNvPr>
          <p:cNvSpPr/>
          <p:nvPr/>
        </p:nvSpPr>
        <p:spPr>
          <a:xfrm>
            <a:off x="320040" y="1280159"/>
            <a:ext cx="4160520" cy="198942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F68FEE44-E5B1-4036-B2BA-AA16072A7FAF}"/>
              </a:ext>
            </a:extLst>
          </p:cNvPr>
          <p:cNvSpPr/>
          <p:nvPr/>
        </p:nvSpPr>
        <p:spPr>
          <a:xfrm>
            <a:off x="320040" y="1280160"/>
            <a:ext cx="54864" cy="198942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996A494B-FADE-776D-E471-0D5D209B5AF7}"/>
              </a:ext>
            </a:extLst>
          </p:cNvPr>
          <p:cNvSpPr/>
          <p:nvPr/>
        </p:nvSpPr>
        <p:spPr>
          <a:xfrm>
            <a:off x="484632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B2545"/>
                </a:solidFill>
              </a:rPr>
              <a:t>MLOps</a:t>
            </a:r>
            <a:r>
              <a:rPr lang="en-US" sz="1400" b="1" dirty="0">
                <a:solidFill>
                  <a:srgbClr val="0B2545"/>
                </a:solidFill>
              </a:rPr>
              <a:t> Pipeline Architecture</a:t>
            </a:r>
            <a:endParaRPr lang="en-US" sz="14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4D503CD0-87C5-14DA-C540-34C0CFC691F8}"/>
              </a:ext>
            </a:extLst>
          </p:cNvPr>
          <p:cNvSpPr/>
          <p:nvPr/>
        </p:nvSpPr>
        <p:spPr>
          <a:xfrm>
            <a:off x="480060" y="1878240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 sz="1500">
                <a:solidFill>
                  <a:srgbClr val="16234E"/>
                </a:solidFill>
              </a:defRPr>
            </a:pPr>
            <a:r>
              <a:rPr lang="en-US" sz="1400" dirty="0">
                <a:solidFill>
                  <a:srgbClr val="64748B"/>
                </a:solidFill>
              </a:rPr>
              <a:t>The implemented </a:t>
            </a:r>
            <a:r>
              <a:rPr lang="en-US" sz="1400" dirty="0" err="1">
                <a:solidFill>
                  <a:srgbClr val="64748B"/>
                </a:solidFill>
              </a:rPr>
              <a:t>MLOps</a:t>
            </a:r>
            <a:r>
              <a:rPr lang="en-US" sz="1400" dirty="0">
                <a:solidFill>
                  <a:srgbClr val="64748B"/>
                </a:solidFill>
              </a:rPr>
              <a:t> workflow includes:</a:t>
            </a:r>
          </a:p>
          <a:p>
            <a:pPr algn="just">
              <a:defRPr sz="1500">
                <a:solidFill>
                  <a:srgbClr val="16234E"/>
                </a:solidFill>
              </a:defRPr>
            </a:pPr>
            <a:endParaRPr lang="en-US" sz="1400" dirty="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72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15CD-A3D4-F715-39DF-45D1F355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60CAF6-006D-1D1F-B63F-8DFA0C37783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819CA4-5685-DA69-B209-04EE8C926325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477D5D-CCA1-BED8-A1EF-96E6A3FA7375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&amp; Deployment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4399F5E-4F0D-8A5F-D61B-F17C980C4C7E}"/>
              </a:ext>
            </a:extLst>
          </p:cNvPr>
          <p:cNvSpPr/>
          <p:nvPr/>
        </p:nvSpPr>
        <p:spPr>
          <a:xfrm>
            <a:off x="320040" y="914400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A552DB7-8BA6-8B60-29FD-A818322E6F8E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0D598E9-BA6B-68FE-F016-BD7E128014E6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MLFlow</a:t>
            </a:r>
            <a:r>
              <a:rPr lang="en-US" sz="1600" b="1" dirty="0">
                <a:solidFill>
                  <a:srgbClr val="FFFFFF"/>
                </a:solidFill>
              </a:rPr>
              <a:t> Integration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CC2BD95-6B61-8FA8-B7B8-DA008CE2BC65}"/>
              </a:ext>
            </a:extLst>
          </p:cNvPr>
          <p:cNvSpPr/>
          <p:nvPr/>
        </p:nvSpPr>
        <p:spPr>
          <a:xfrm>
            <a:off x="457200" y="1325986"/>
            <a:ext cx="3886200" cy="132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Used </a:t>
            </a:r>
            <a:r>
              <a:rPr lang="en-US" sz="1600" b="1" dirty="0" err="1"/>
              <a:t>MLflow</a:t>
            </a:r>
            <a:r>
              <a:rPr lang="en-US" sz="1600" b="1" dirty="0"/>
              <a:t>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Experiment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Parameter logging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Metric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Model versioning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A5725F4-507B-5C0E-CF13-82E906106EF2}"/>
              </a:ext>
            </a:extLst>
          </p:cNvPr>
          <p:cNvSpPr/>
          <p:nvPr/>
        </p:nvSpPr>
        <p:spPr>
          <a:xfrm>
            <a:off x="4754880" y="914400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73C7623-1604-CAD2-6AEC-6395B994D50F}"/>
              </a:ext>
            </a:extLst>
          </p:cNvPr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933E093-208D-11A1-33E4-2397AF80E49E}"/>
              </a:ext>
            </a:extLst>
          </p:cNvPr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Saved Artifacts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3F820C0-0F46-8E02-0929-31150AFD01BC}"/>
              </a:ext>
            </a:extLst>
          </p:cNvPr>
          <p:cNvSpPr/>
          <p:nvPr/>
        </p:nvSpPr>
        <p:spPr>
          <a:xfrm>
            <a:off x="4892040" y="1417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Trained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Scaler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Evaluation results 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C5B1FDD-2669-A0B9-EB6F-20A9529724C0}"/>
              </a:ext>
            </a:extLst>
          </p:cNvPr>
          <p:cNvSpPr/>
          <p:nvPr/>
        </p:nvSpPr>
        <p:spPr>
          <a:xfrm>
            <a:off x="2562194" y="3048415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137104D-3B56-875B-D305-E05EE0D966F4}"/>
              </a:ext>
            </a:extLst>
          </p:cNvPr>
          <p:cNvSpPr/>
          <p:nvPr/>
        </p:nvSpPr>
        <p:spPr>
          <a:xfrm>
            <a:off x="2562194" y="3048415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5647C08-0B33-1A92-F34C-D3D2B89271B8}"/>
              </a:ext>
            </a:extLst>
          </p:cNvPr>
          <p:cNvSpPr/>
          <p:nvPr/>
        </p:nvSpPr>
        <p:spPr>
          <a:xfrm>
            <a:off x="2699354" y="3094135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Benefits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1F824EB-1A0C-0DE1-81B8-A78E53B9307B}"/>
              </a:ext>
            </a:extLst>
          </p:cNvPr>
          <p:cNvSpPr/>
          <p:nvPr/>
        </p:nvSpPr>
        <p:spPr>
          <a:xfrm>
            <a:off x="2699354" y="3551335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Reproducibility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Traceability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Easy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617595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9032E-A222-2811-3BA1-F570ADA4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B13C6E-8E2C-61D9-3EBC-B7D766ECC5E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BBDDB0-B6CA-28B1-ECC7-6EBCFC1A8CDD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C7D8A9-1BD7-E64C-0CE5-3555E2029EE8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Deployment, UI &amp; Retraining Strategy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A5C92F-1287-CE0C-254E-2BB51C63ACCF}"/>
              </a:ext>
            </a:extLst>
          </p:cNvPr>
          <p:cNvSpPr/>
          <p:nvPr/>
        </p:nvSpPr>
        <p:spPr>
          <a:xfrm>
            <a:off x="320040" y="914400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0299446-2B47-B96E-9120-74A879CC895F}"/>
              </a:ext>
            </a:extLst>
          </p:cNvPr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910CA3-E962-EAEE-A4F8-0D0CFA22E9ED}"/>
              </a:ext>
            </a:extLst>
          </p:cNvPr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FastAPI</a:t>
            </a:r>
            <a:r>
              <a:rPr lang="en-US" sz="1600" b="1" dirty="0">
                <a:solidFill>
                  <a:srgbClr val="FFFFFF"/>
                </a:solidFill>
              </a:rPr>
              <a:t> Deployment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E3BAD7-4933-1375-33E5-29F94DB51F64}"/>
              </a:ext>
            </a:extLst>
          </p:cNvPr>
          <p:cNvSpPr/>
          <p:nvPr/>
        </p:nvSpPr>
        <p:spPr>
          <a:xfrm>
            <a:off x="457200" y="1325986"/>
            <a:ext cx="3886200" cy="1325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Model deployed using </a:t>
            </a:r>
            <a:r>
              <a:rPr lang="en-US" sz="1600" dirty="0" err="1"/>
              <a:t>FastAPI</a:t>
            </a:r>
            <a:r>
              <a:rPr lang="en-US" sz="1600" dirty="0"/>
              <a:t> as REST API.</a:t>
            </a:r>
          </a:p>
          <a:p>
            <a:r>
              <a:rPr lang="en-US" sz="1600" b="1" dirty="0"/>
              <a:t>API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predictions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JSON request/response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Swagger UI testing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0048D5F-61E7-47C1-31B6-7D92B26B6690}"/>
              </a:ext>
            </a:extLst>
          </p:cNvPr>
          <p:cNvSpPr/>
          <p:nvPr/>
        </p:nvSpPr>
        <p:spPr>
          <a:xfrm>
            <a:off x="4754880" y="914400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00ED697-3636-55E0-D423-B1E3400A209A}"/>
              </a:ext>
            </a:extLst>
          </p:cNvPr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D4C153-F31E-F837-ED3C-2F8FEC8C58EA}"/>
              </a:ext>
            </a:extLst>
          </p:cNvPr>
          <p:cNvSpPr/>
          <p:nvPr/>
        </p:nvSpPr>
        <p:spPr>
          <a:xfrm>
            <a:off x="489204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Streamlit</a:t>
            </a:r>
            <a:r>
              <a:rPr lang="en-US" sz="1600" b="1" dirty="0">
                <a:solidFill>
                  <a:srgbClr val="FFFFFF"/>
                </a:solidFill>
              </a:rPr>
              <a:t> Dashboard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E3A04E1-73B0-A1DE-6E46-6E234FC0569B}"/>
              </a:ext>
            </a:extLst>
          </p:cNvPr>
          <p:cNvSpPr/>
          <p:nvPr/>
        </p:nvSpPr>
        <p:spPr>
          <a:xfrm>
            <a:off x="4892040" y="14173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/>
              <a:t>Built interactive dashboard using </a:t>
            </a:r>
            <a:r>
              <a:rPr lang="en-US" sz="1600" dirty="0" err="1"/>
              <a:t>Streamlit</a:t>
            </a:r>
            <a:r>
              <a:rPr lang="en-US" sz="1600" dirty="0"/>
              <a:t>.</a:t>
            </a:r>
          </a:p>
          <a:p>
            <a:r>
              <a:rPr lang="en-US" sz="1600" b="1" dirty="0"/>
              <a:t>Dashboard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User-friendly inputs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Churn probability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results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7CD7832-8F86-C58C-691D-0721A05DFD47}"/>
              </a:ext>
            </a:extLst>
          </p:cNvPr>
          <p:cNvSpPr/>
          <p:nvPr/>
        </p:nvSpPr>
        <p:spPr>
          <a:xfrm>
            <a:off x="320040" y="2986898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1BBB54A-01D2-D141-F282-8727B4F283F4}"/>
              </a:ext>
            </a:extLst>
          </p:cNvPr>
          <p:cNvSpPr/>
          <p:nvPr/>
        </p:nvSpPr>
        <p:spPr>
          <a:xfrm>
            <a:off x="320040" y="2986898"/>
            <a:ext cx="416052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A888D2B-0F50-31EC-77D9-6C241C0828E1}"/>
              </a:ext>
            </a:extLst>
          </p:cNvPr>
          <p:cNvSpPr/>
          <p:nvPr/>
        </p:nvSpPr>
        <p:spPr>
          <a:xfrm>
            <a:off x="457200" y="303261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Retraining Strategy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DD6823-FEFF-B1BE-056E-3E3BBB6BCE49}"/>
              </a:ext>
            </a:extLst>
          </p:cNvPr>
          <p:cNvSpPr/>
          <p:nvPr/>
        </p:nvSpPr>
        <p:spPr>
          <a:xfrm>
            <a:off x="457200" y="348981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Retrain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Performance decreases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New data becomes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52CBD40-D050-7788-3981-122A32480DFD}"/>
              </a:ext>
            </a:extLst>
          </p:cNvPr>
          <p:cNvSpPr/>
          <p:nvPr/>
        </p:nvSpPr>
        <p:spPr>
          <a:xfrm>
            <a:off x="4777740" y="2970382"/>
            <a:ext cx="4160520" cy="18713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1999DA7-A3E2-294A-D942-B924D39FDF00}"/>
              </a:ext>
            </a:extLst>
          </p:cNvPr>
          <p:cNvSpPr/>
          <p:nvPr/>
        </p:nvSpPr>
        <p:spPr>
          <a:xfrm>
            <a:off x="4754880" y="2971800"/>
            <a:ext cx="41605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EA67513-A2A1-BFC0-CD15-93E693D8E5D5}"/>
              </a:ext>
            </a:extLst>
          </p:cNvPr>
          <p:cNvSpPr/>
          <p:nvPr/>
        </p:nvSpPr>
        <p:spPr>
          <a:xfrm>
            <a:off x="489204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Improvements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4844614-F8BB-9669-2595-E4ED5C3C446C}"/>
              </a:ext>
            </a:extLst>
          </p:cNvPr>
          <p:cNvSpPr/>
          <p:nvPr/>
        </p:nvSpPr>
        <p:spPr>
          <a:xfrm>
            <a:off x="4892040" y="34747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Cloud deployment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Docker containerization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CI/CD automation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Automated retraining pipeline</a:t>
            </a:r>
          </a:p>
        </p:txBody>
      </p:sp>
    </p:spTree>
    <p:extLst>
      <p:ext uri="{BB962C8B-B14F-4D97-AF65-F5344CB8AC3E}">
        <p14:creationId xmlns:p14="http://schemas.microsoft.com/office/powerpoint/2010/main" val="1346650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Live Demo: Customer Churn Prediction App</a:t>
            </a:r>
            <a:endParaRPr lang="en-US" sz="2200" dirty="0"/>
          </a:p>
        </p:txBody>
      </p:sp>
      <p:pic>
        <p:nvPicPr>
          <p:cNvPr id="5" name="Image 0" descr="/mnt/user-data/uploads/Streamlit_-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5303520" cy="2157984"/>
          </a:xfrm>
          <a:prstGeom prst="rect">
            <a:avLst/>
          </a:prstGeom>
        </p:spPr>
      </p:pic>
      <p:pic>
        <p:nvPicPr>
          <p:cNvPr id="6" name="Image 1" descr="/mnt/user-data/uploads/Streamlit_-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054096"/>
            <a:ext cx="5303520" cy="191109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06440" y="804672"/>
            <a:ext cx="3017520" cy="416052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943600" y="886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A4CF"/>
                </a:solidFill>
              </a:rPr>
              <a:t>App Features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3716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9360" y="1344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Real-time churn prediction using Gradient Boosting model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90195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93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Interactive sliders for charges, tenure &amp; monthly spend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432304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09360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Dropdown selectors: contract type, internet, payment method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962656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09360" y="29352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Red alert — High churn risk: immediate retention action needed</a:t>
            </a:r>
            <a:endParaRPr lang="en-US" sz="10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493008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309360" y="3465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Green alert — Low churn risk: customer is stable</a:t>
            </a:r>
            <a:endParaRPr lang="en-US" sz="10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4023360"/>
            <a:ext cx="274320" cy="27432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30936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</a:rPr>
              <a:t>Live URL: depi4-ccpa.streamlit.app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A4CF"/>
                </a:solidFill>
              </a:rPr>
              <a:t>Presenter: Mohamed Abdul Aziz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C01C-5356-EB4F-9BCD-A023DD67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65AD6C-AFB9-FF90-9CFF-EEE6D3B294F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BF31BC-B671-CBD8-03DF-3F2E06EAA184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EA0A98-B6F4-3608-52BC-EAF58D2D7268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— Project Deliverables Summary</a:t>
            </a:r>
            <a:endParaRPr lang="en-US" sz="22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328078D-977D-4CD2-CD8E-FC542FEDF1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21" t="9483" r="13101" b="3570"/>
          <a:stretch>
            <a:fillRect/>
          </a:stretch>
        </p:blipFill>
        <p:spPr>
          <a:xfrm>
            <a:off x="1041990" y="768095"/>
            <a:ext cx="6762308" cy="426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05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— Project Deliverables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68741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68741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M1 — Data Collection &amp; 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389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EDA Report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755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Interactive Visualizations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121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Cleaned Dataset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17236" y="918972"/>
            <a:ext cx="248943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17236" y="918972"/>
            <a:ext cx="2489436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08676" y="973836"/>
            <a:ext cx="2397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M2 — Advanced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4396" y="1421892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8716" y="1394460"/>
            <a:ext cx="14974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Statistical Analysis Report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4396" y="1787652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8716" y="1760220"/>
            <a:ext cx="15585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Enhanced Visualizations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4396" y="2153412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28716" y="2125980"/>
            <a:ext cx="1836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Feature Engineering Summary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788920"/>
            <a:ext cx="2189244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2788920"/>
            <a:ext cx="2189244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28437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M3 — ML Development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3264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Model Evaluation Report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630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Model Code (Python)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39959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Final Model (Gradient Boosting)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80063" y="2788920"/>
            <a:ext cx="2272177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680063" y="2788920"/>
            <a:ext cx="2272177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71503" y="28437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M4 — Deployment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17223" y="329184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114403" y="32186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Live Streamlit App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817223" y="365760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14403" y="35844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GitHub Repository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17223" y="4023360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14403" y="39502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Model Metadata (.joblib + .json)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98112" y="900684"/>
            <a:ext cx="16916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98112" y="900684"/>
            <a:ext cx="1691640" cy="38404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89552" y="9555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M5 — Documentation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235272" y="1403604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509592" y="13761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Final Project Report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235272" y="1769364"/>
            <a:ext cx="182880" cy="1828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09592" y="17419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Final Presentation</a:t>
            </a:r>
            <a:endParaRPr lang="en-US" sz="105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D76A4D4-1FD4-6CB4-C97B-8564438EFC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157"/>
          <a:stretch>
            <a:fillRect/>
          </a:stretch>
        </p:blipFill>
        <p:spPr>
          <a:xfrm>
            <a:off x="5200008" y="2178004"/>
            <a:ext cx="3841527" cy="29323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5A14D-AD94-7EDF-08B4-65B58920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1EA23D-981F-0530-CA5B-304FC411C4E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0514EB-8FF6-DE7B-C361-EECC4A8875DB}"/>
              </a:ext>
            </a:extLst>
          </p:cNvPr>
          <p:cNvSpPr/>
          <p:nvPr/>
        </p:nvSpPr>
        <p:spPr>
          <a:xfrm>
            <a:off x="457200" y="1645920"/>
            <a:ext cx="1645920" cy="1645920"/>
          </a:xfrm>
          <a:prstGeom prst="ellipse">
            <a:avLst/>
          </a:prstGeom>
          <a:solidFill>
            <a:srgbClr val="1B6CA8"/>
          </a:solidFill>
          <a:ln w="381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7E0744-982E-FF46-DD14-BAE21E15AD52}"/>
              </a:ext>
            </a:extLst>
          </p:cNvPr>
          <p:cNvSpPr/>
          <p:nvPr/>
        </p:nvSpPr>
        <p:spPr>
          <a:xfrm>
            <a:off x="457200" y="16916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8914A2-9109-4240-393E-B4E7DFF4C552}"/>
              </a:ext>
            </a:extLst>
          </p:cNvPr>
          <p:cNvSpPr/>
          <p:nvPr/>
        </p:nvSpPr>
        <p:spPr>
          <a:xfrm>
            <a:off x="2377440" y="18288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Conclusions, Recommendations &amp; Action Plan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8F7762-6014-3CA4-1A68-4EE98DE414C6}"/>
              </a:ext>
            </a:extLst>
          </p:cNvPr>
          <p:cNvSpPr/>
          <p:nvPr/>
        </p:nvSpPr>
        <p:spPr>
          <a:xfrm>
            <a:off x="2377440" y="2926080"/>
            <a:ext cx="4114800" cy="457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2EACF93-12DA-991F-C0AD-981BD1DED6EC}"/>
              </a:ext>
            </a:extLst>
          </p:cNvPr>
          <p:cNvSpPr/>
          <p:nvPr/>
        </p:nvSpPr>
        <p:spPr>
          <a:xfrm>
            <a:off x="23774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BA4C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Presenter: Mohamed Abdul Aziz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953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 from the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0241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005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Contract Type is #1 Churn Driver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4632" y="14813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Month-to-month customers churn 14× more than two-year contract holders (43% vs. 3%)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91440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2412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005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Tenure is a Critical Retention Signal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19472" y="148132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Churn drops sharply after 12 months — early engagement is the most impactful intervention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37744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237744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4871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Fiber Optic Customers Are High-Risk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84632" y="29443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Despite being the largest group (44%), they churn at 42% — suggesting service quality issues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37744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237744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48716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76672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Value-Added Services Reduce Churn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919472" y="29443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Customers with online security, tech support, and backup have significantly lower churn rates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0040" y="384048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0040" y="384048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95020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1832" y="39319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Gradient Boosting is the Best Model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84632" y="44074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AUC = 0.839, Recall = 80.8% — catches 4 in 5 likely churners before they leave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754880" y="384048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754880" y="3840480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95020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76672" y="39319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Proactive Retention is Viable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919472" y="44074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ML model deployed live — enables real-time scoring and early retention interventions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C3185-677E-BC92-D40C-8B412B0B8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E5B820-F93D-9D40-5AEB-D88BC1F7412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48AB7F-8342-287B-C4E2-076073FD06DB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432305-A2EF-5400-D1E2-3CEED7A57DB5}"/>
              </a:ext>
            </a:extLst>
          </p:cNvPr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Summary</a:t>
            </a:r>
            <a:endParaRPr lang="en-US" sz="220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2C365C1F-376C-10AC-562E-17B551663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182098"/>
              </p:ext>
            </p:extLst>
          </p:nvPr>
        </p:nvGraphicFramePr>
        <p:xfrm>
          <a:off x="320040" y="822960"/>
          <a:ext cx="8503920" cy="427939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Month-to-month contracts have 43%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Incentivize migration to longer-term contracts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Fiber optic churn = 42%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Improve service quality; targeted retention offers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Electronic check churn = 45%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Incentivize switch to auto-pay or credit card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partner/dependents = lower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Family and partnership bundled service discounts (for retention)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Senior citizens churn at 42%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Dedicated senior support and simplified plans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value-added services = higher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Promote security, backup, and tech support bundles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Short tenure customers churn more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Improve onboarding; offer first-year loyalty bonus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Paperless billing users churn more (34%)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Digital-first engagement and personalized comms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57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Reducing Customer Churn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6968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Improve Satisfaction &amp; Engagement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38074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Regular surveys, faster support response, reduce complaint resolution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21808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Optimize Pricing &amp; Contracts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21808" y="138074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Discounts for long-term commitments, flexible contract options, loyalty programs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1343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313432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63347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696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Proactive Retention Program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6968" y="28254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Target high-risk customers flagged by ML model with exclusive retention offers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13432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313432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63347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2180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Enhance New Customer Onboarding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21808" y="28254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Welcome calls, tutorials, early engagement — reduce first-year churn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58184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758184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07822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86968" y="38496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Improve Fiber Optic Service Quality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6968" y="42702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Address reliability issues, invest in infrastructure, premium support tiers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58184"/>
            <a:ext cx="41605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758184"/>
            <a:ext cx="475488" cy="126187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407822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321808" y="38496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</a:rPr>
              <a:t>Leverage Predictive Analytics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21808" y="42702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Continuous monitoring via dashboards, retrain model quarterly on new data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A4CF"/>
                </a:solidFill>
              </a:rPr>
              <a:t>We welcome your questions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41148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7"/>
                </a:solidFill>
              </a:rPr>
              <a:t>→  GitHub: github.com/Eng-MIR/DEPI4-CCPA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7"/>
                </a:solidFill>
              </a:rPr>
              <a:t>→  Streamlit App: depi4-ccpa.streamlit.app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2102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8F7"/>
                </a:solidFill>
              </a:rPr>
              <a:t>→  Dataset: Kaggle — Telco Customer Churn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Team: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A4CF"/>
                </a:solidFill>
              </a:rPr>
              <a:t>Mohamed Ibrahem  </a:t>
            </a:r>
            <a:r>
              <a:rPr lang="en-US" sz="1200" dirty="0">
                <a:solidFill>
                  <a:srgbClr val="5BA4CF"/>
                </a:solidFill>
              </a:rPr>
              <a:t>·  Ahmed Esmail  ·  Amr El-Azab  ·  Mohamed Abdul Aziz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i="1" dirty="0">
                <a:solidFill>
                  <a:srgbClr val="666666"/>
                </a:solidFill>
              </a:rPr>
              <a:t>BACKUP SLIDES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55555"/>
                </a:solidFill>
              </a:rPr>
              <a:t>Available on request during Q&amp;A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Retraining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25880" y="105156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B2545"/>
                </a:solidFill>
              </a:rPr>
              <a:t>XGBoost</a:t>
            </a:r>
            <a:r>
              <a:rPr lang="en-US" sz="1200" b="1" dirty="0">
                <a:solidFill>
                  <a:srgbClr val="0B2545"/>
                </a:solidFill>
              </a:rPr>
              <a:t> / </a:t>
            </a:r>
            <a:r>
              <a:rPr lang="en-US" sz="1200" b="1" dirty="0" err="1">
                <a:solidFill>
                  <a:srgbClr val="0B2545"/>
                </a:solidFill>
              </a:rPr>
              <a:t>LightGBM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Test more powerful gradient boosting variants for higher recall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0" y="105156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0" y="107899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8470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Explore neural networks for complex feature interaction capture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91440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69480" y="105156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69480" y="107899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18470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Real-Time Data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Connect live CRM data feeds for continuous model scoring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25880" y="320040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25880" y="322783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1480" y="39959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Explainability (SHAP)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Add SHAP values to explain individual predictions to retention teams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97680" y="320040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0" y="322783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0" y="39959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Quarterly Retraining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Automated pipeline: monitor data drift → trigger retraining → redeploy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063240"/>
            <a:ext cx="26974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69480" y="3200400"/>
            <a:ext cx="685800" cy="685800"/>
          </a:xfrm>
          <a:prstGeom prst="ellipse">
            <a:avLst/>
          </a:prstGeom>
          <a:solidFill>
            <a:srgbClr val="D6E8F7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69480" y="322783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CA8"/>
                </a:solidFill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55080" y="39959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</a:rPr>
              <a:t>Cloud Scaling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4434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Move from Streamlit to FastAPI + cloud (AWS/GCP) for enterprise scale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Full Model Metrics (All Models &amp; Variants)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841248"/>
          <a:ext cx="8503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Additional EDA: Partner, Dependents &amp; Senior Citizen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914400"/>
          <a:ext cx="2743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246120" y="914400"/>
          <a:ext cx="2743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172200" y="914400"/>
          <a:ext cx="2743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3"/>
          <p:cNvSpPr/>
          <p:nvPr/>
        </p:nvSpPr>
        <p:spPr>
          <a:xfrm>
            <a:off x="320040" y="3337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Customers without a partner churn at 33% vs. 20% with a partner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20040" y="37216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Senior citizens churn at 42% vs. 24% for non-seniors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20040" y="410565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• Customers without dependents churn at 31% vs. 16% with dependents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Full Recommendations Summary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427939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Month-to-month contracts have 43%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Incentivize migration to longer-term contracts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Fiber optic churn = 42%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Improve service quality; targeted retention offers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Electronic check churn = 45%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Incentivize switch to auto-pay or credit card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partner/dependents = higher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Family and partnership bundled service discounts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Senior citizens churn at 42%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Dedicated senior support and simplified plans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value-added services = higher churn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Promote security, backup, and tech support bundles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Short tenure customers churn more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Improve onboarding; offer first-year loyalty bonus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Paperless billing users churn more (34%)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Digital-first engagement and personalized comms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Modeling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941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Data Split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9418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14356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Stratified 80/20 split preserving 73/27 churn ratio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8686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8686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01568" y="941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SMOTE Balancing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94183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1568" y="14356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Applied only to training set to prevent data leakage on test set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63640" y="8686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63640" y="8686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373368" y="941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5 Classifiers Trained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941832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3368" y="14356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Logistic Regression, Random Forest, Gradient Boosting, KNN, Naïve Bayes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2926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20040" y="2926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29768" y="2999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5-Fold CV</a:t>
            </a:r>
            <a:endParaRPr lang="en-US" sz="13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299923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" y="3493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SMOTE wrapped inside imblearn Pipeline — no leakage into validation fold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2926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91840" y="2926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3401568" y="2999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Hyperparameter Tuning</a:t>
            </a:r>
            <a:endParaRPr lang="en-US" sz="13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999232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401568" y="3493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GridSearchCV applied to top-2 baselines: Gradient Boosting &amp; Random Forest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63640" y="2926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63640" y="2926080"/>
            <a:ext cx="27432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6373368" y="29992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 Winner Selection</a:t>
            </a:r>
            <a:endParaRPr lang="en-US" sz="13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2999232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373368" y="349300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Final model chosen by F1-score — optimal for imbalanced churn detection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36260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Model Performance Comparison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20040" y="822960"/>
          <a:ext cx="7772400" cy="3657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★ Gradient Boosting (tuned)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74.7%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51.5%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80.8%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62.9%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0.839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76.4%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53.7%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79.1%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0.839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72.7%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49.1%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80.8%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61.1%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0.833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 (tuned)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77.0%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55.6%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66.8%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0.822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Naïve Bayes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69.9%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46.3%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83.9%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59.7%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0.815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76.9%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55.6%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64.2%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59.6%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0.812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72.0%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48.2%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72.5%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57.9%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0.778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6CA8"/>
                </a:solidFill>
              </a:rPr>
              <a:t>★ Winner by F1-Score and Recall — best for churn detection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34688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Model Evaluation: ROC Curves</a:t>
            </a:r>
            <a:endParaRPr lang="en-US" sz="2200" dirty="0"/>
          </a:p>
        </p:txBody>
      </p:sp>
      <p:pic>
        <p:nvPicPr>
          <p:cNvPr id="5" name="Image 0" descr="/mnt/user-data/uploads/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548640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822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Top AUC Scores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261872"/>
            <a:ext cx="28346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89320" y="1261872"/>
            <a:ext cx="73152" cy="7498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53912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Gradient Boosting (tuned)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53912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AUC = 0.839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89320" y="2176272"/>
            <a:ext cx="28346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89320" y="2176272"/>
            <a:ext cx="73152" cy="7498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53912" y="2231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53912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AUC = 0.833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89320" y="3090672"/>
            <a:ext cx="28346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9320" y="3090672"/>
            <a:ext cx="73152" cy="74980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53912" y="3145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Random Forest (tuned)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53912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</a:rPr>
              <a:t>AUC = 0.822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4005072"/>
            <a:ext cx="28346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989320" y="4005072"/>
            <a:ext cx="73152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53912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</a:rPr>
              <a:t>Naïve Bayes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53912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AUC = 0.815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126643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Confusion Matrices (All Models)</a:t>
            </a:r>
            <a:endParaRPr lang="en-US" sz="2200" dirty="0"/>
          </a:p>
        </p:txBody>
      </p:sp>
      <p:pic>
        <p:nvPicPr>
          <p:cNvPr id="5" name="Image 0" descr="/mnt/user-data/uploads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8503920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19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2225</Words>
  <Application>Microsoft Office PowerPoint</Application>
  <PresentationFormat>On-screen Show (16:9)</PresentationFormat>
  <Paragraphs>511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DEPI Project Presentation - Customer Churn Prediction and Analysis</dc:title>
  <dc:subject/>
  <dc:creator>mohamed.ibrahem@phpco.net;Ahmed Esmail;Amr El-Azab;Mohamed Abdulaziz</dc:creator>
  <cp:lastModifiedBy>Mohamed Ibrahem</cp:lastModifiedBy>
  <cp:revision>9</cp:revision>
  <dcterms:created xsi:type="dcterms:W3CDTF">2026-05-22T09:02:14Z</dcterms:created>
  <dcterms:modified xsi:type="dcterms:W3CDTF">2026-05-25T21:06:29Z</dcterms:modified>
  <cp:category>DEPI Graduation Project</cp:category>
</cp:coreProperties>
</file>