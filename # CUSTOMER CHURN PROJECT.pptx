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24" r:id="rId3"/>
    <p:sldId id="3354" r:id="rId4"/>
    <p:sldId id="3356" r:id="rId5"/>
    <p:sldId id="326" r:id="rId6"/>
    <p:sldId id="3420" r:id="rId7"/>
    <p:sldId id="3419" r:id="rId8"/>
    <p:sldId id="3421" r:id="rId9"/>
    <p:sldId id="3401" r:id="rId10"/>
    <p:sldId id="3387" r:id="rId11"/>
    <p:sldId id="3386" r:id="rId12"/>
    <p:sldId id="3388" r:id="rId13"/>
    <p:sldId id="3391" r:id="rId14"/>
    <p:sldId id="3398" r:id="rId15"/>
    <p:sldId id="3399" r:id="rId16"/>
    <p:sldId id="3400" r:id="rId17"/>
    <p:sldId id="3402" r:id="rId18"/>
    <p:sldId id="3357" r:id="rId19"/>
    <p:sldId id="3422" r:id="rId20"/>
    <p:sldId id="3423" r:id="rId21"/>
    <p:sldId id="262" r:id="rId22"/>
    <p:sldId id="263" r:id="rId23"/>
    <p:sldId id="264" r:id="rId24"/>
    <p:sldId id="3359" r:id="rId25"/>
    <p:sldId id="3381" r:id="rId26"/>
    <p:sldId id="3409" r:id="rId27"/>
    <p:sldId id="3410" r:id="rId28"/>
    <p:sldId id="3412" r:id="rId29"/>
    <p:sldId id="3418" r:id="rId30"/>
    <p:sldId id="3382" r:id="rId31"/>
    <p:sldId id="3415" r:id="rId32"/>
    <p:sldId id="3416" r:id="rId33"/>
    <p:sldId id="3417" r:id="rId34"/>
    <p:sldId id="265" r:id="rId35"/>
    <p:sldId id="341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50" autoAdjust="0"/>
    <p:restoredTop sz="94660"/>
  </p:normalViewPr>
  <p:slideViewPr>
    <p:cSldViewPr snapToGrid="0">
      <p:cViewPr varScale="1">
        <p:scale>
          <a:sx n="47" d="100"/>
          <a:sy n="47" d="100"/>
        </p:scale>
        <p:origin x="48" y="6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B1380A-2A52-47F3-9159-684E169D9542}" type="doc">
      <dgm:prSet loTypeId="urn:microsoft.com/office/officeart/2008/layout/VerticalCurvedList" loCatId="list" qsTypeId="urn:microsoft.com/office/officeart/2005/8/quickstyle/simple1" qsCatId="simple" csTypeId="urn:microsoft.com/office/officeart/2005/8/colors/accent1_2" csCatId="accent1" phldr="1"/>
      <dgm:spPr/>
    </dgm:pt>
    <dgm:pt modelId="{7DD16FEC-BBF1-4358-BD54-6E9F9911A3AB}">
      <dgm:prSet phldrT="[Text]" custT="1"/>
      <dgm:spPr/>
      <dgm:t>
        <a:bodyPr/>
        <a:lstStyle/>
        <a:p>
          <a:r>
            <a:rPr lang="en-US" sz="1800" b="0" dirty="0"/>
            <a:t>Improve Customer Satisfaction &amp; Engagement</a:t>
          </a:r>
        </a:p>
      </dgm:t>
    </dgm:pt>
    <dgm:pt modelId="{E6F86CC0-7575-486E-812D-DBFA159F1739}" type="parTrans" cxnId="{332BE682-5EC5-4721-A35B-790AA46538B9}">
      <dgm:prSet/>
      <dgm:spPr/>
      <dgm:t>
        <a:bodyPr/>
        <a:lstStyle/>
        <a:p>
          <a:endParaRPr lang="en-US" sz="1800" b="0"/>
        </a:p>
      </dgm:t>
    </dgm:pt>
    <dgm:pt modelId="{5CCCA98B-B82D-4587-8814-9C7C10D0509F}" type="sibTrans" cxnId="{332BE682-5EC5-4721-A35B-790AA46538B9}">
      <dgm:prSet/>
      <dgm:spPr/>
      <dgm:t>
        <a:bodyPr/>
        <a:lstStyle/>
        <a:p>
          <a:endParaRPr lang="en-US" sz="1800" b="0"/>
        </a:p>
      </dgm:t>
    </dgm:pt>
    <dgm:pt modelId="{6F74D753-2D39-481B-98A2-A3F044150CE2}">
      <dgm:prSet phldrT="[Text]" custT="1"/>
      <dgm:spPr/>
      <dgm:t>
        <a:bodyPr/>
        <a:lstStyle/>
        <a:p>
          <a:r>
            <a:rPr lang="en-US" sz="1800" b="0" dirty="0"/>
            <a:t>Optimize Pricing &amp; Service Offerings</a:t>
          </a:r>
        </a:p>
      </dgm:t>
    </dgm:pt>
    <dgm:pt modelId="{561E9843-F43E-4D00-B229-F0A86B0078FC}" type="parTrans" cxnId="{47A3931A-3663-486D-A3DA-C8F2F2071128}">
      <dgm:prSet/>
      <dgm:spPr/>
      <dgm:t>
        <a:bodyPr/>
        <a:lstStyle/>
        <a:p>
          <a:endParaRPr lang="en-US" sz="1800" b="0"/>
        </a:p>
      </dgm:t>
    </dgm:pt>
    <dgm:pt modelId="{D9688BAF-136A-498A-8294-8A9BD6436DED}" type="sibTrans" cxnId="{47A3931A-3663-486D-A3DA-C8F2F2071128}">
      <dgm:prSet/>
      <dgm:spPr/>
      <dgm:t>
        <a:bodyPr/>
        <a:lstStyle/>
        <a:p>
          <a:endParaRPr lang="en-US" sz="1800" b="0"/>
        </a:p>
      </dgm:t>
    </dgm:pt>
    <dgm:pt modelId="{22BC35CE-7FFE-44CF-9B5F-1377F4B77ABF}">
      <dgm:prSet phldrT="[Text]" custT="1"/>
      <dgm:spPr/>
      <dgm:t>
        <a:bodyPr/>
        <a:lstStyle/>
        <a:p>
          <a:r>
            <a:rPr lang="en-US" sz="1800" b="0" dirty="0"/>
            <a:t>Strengthen Retention Strategies</a:t>
          </a:r>
        </a:p>
      </dgm:t>
    </dgm:pt>
    <dgm:pt modelId="{9DEE7FB4-C7F6-457B-ACC1-54D0379C6C42}" type="parTrans" cxnId="{74AFECD0-73FA-434A-A405-BADB3E897896}">
      <dgm:prSet/>
      <dgm:spPr/>
      <dgm:t>
        <a:bodyPr/>
        <a:lstStyle/>
        <a:p>
          <a:endParaRPr lang="en-US" sz="1800" b="0"/>
        </a:p>
      </dgm:t>
    </dgm:pt>
    <dgm:pt modelId="{B909A6F0-F3E9-43C7-92B0-89E79D94D32B}" type="sibTrans" cxnId="{74AFECD0-73FA-434A-A405-BADB3E897896}">
      <dgm:prSet/>
      <dgm:spPr/>
      <dgm:t>
        <a:bodyPr/>
        <a:lstStyle/>
        <a:p>
          <a:endParaRPr lang="en-US" sz="1800" b="0"/>
        </a:p>
      </dgm:t>
    </dgm:pt>
    <dgm:pt modelId="{B39841FF-CBD2-4051-8806-B7AD8CF3C77D}">
      <dgm:prSet phldrT="[Text]" custT="1"/>
      <dgm:spPr/>
      <dgm:t>
        <a:bodyPr/>
        <a:lstStyle/>
        <a:p>
          <a:r>
            <a:rPr lang="en-US" sz="1800" b="0" dirty="0"/>
            <a:t>Enhance Customer Onboarding</a:t>
          </a:r>
        </a:p>
      </dgm:t>
    </dgm:pt>
    <dgm:pt modelId="{9C62E038-B99B-4211-AD8B-BC4F2A80BA9B}" type="parTrans" cxnId="{31D5E2B8-C1F0-463D-80FC-4C7B10FE2F2D}">
      <dgm:prSet/>
      <dgm:spPr/>
      <dgm:t>
        <a:bodyPr/>
        <a:lstStyle/>
        <a:p>
          <a:endParaRPr lang="en-US" sz="1800" b="0"/>
        </a:p>
      </dgm:t>
    </dgm:pt>
    <dgm:pt modelId="{BC4FBCDA-03C2-47C1-8423-6C9AC5EA7F57}" type="sibTrans" cxnId="{31D5E2B8-C1F0-463D-80FC-4C7B10FE2F2D}">
      <dgm:prSet/>
      <dgm:spPr/>
      <dgm:t>
        <a:bodyPr/>
        <a:lstStyle/>
        <a:p>
          <a:endParaRPr lang="en-US" sz="1800" b="0"/>
        </a:p>
      </dgm:t>
    </dgm:pt>
    <dgm:pt modelId="{3AA1B16C-BD0A-4415-AC96-41873E2D0EA7}">
      <dgm:prSet phldrT="[Text]" custT="1"/>
      <dgm:spPr/>
      <dgm:t>
        <a:bodyPr/>
        <a:lstStyle/>
        <a:p>
          <a:r>
            <a:rPr lang="en-US" sz="1800" b="0" dirty="0"/>
            <a:t>Improve Service Quality &amp; Offer Additional Value</a:t>
          </a:r>
        </a:p>
      </dgm:t>
    </dgm:pt>
    <dgm:pt modelId="{11EAC270-D604-4ECE-8278-05E9EAEF684C}" type="parTrans" cxnId="{316710AE-A248-465D-99AF-29FB8D878A2C}">
      <dgm:prSet/>
      <dgm:spPr/>
      <dgm:t>
        <a:bodyPr/>
        <a:lstStyle/>
        <a:p>
          <a:endParaRPr lang="en-US" sz="1800" b="0"/>
        </a:p>
      </dgm:t>
    </dgm:pt>
    <dgm:pt modelId="{C1D4A0DD-577A-41CA-826E-2CDE888176B2}" type="sibTrans" cxnId="{316710AE-A248-465D-99AF-29FB8D878A2C}">
      <dgm:prSet/>
      <dgm:spPr/>
      <dgm:t>
        <a:bodyPr/>
        <a:lstStyle/>
        <a:p>
          <a:endParaRPr lang="en-US" sz="1800" b="0"/>
        </a:p>
      </dgm:t>
    </dgm:pt>
    <dgm:pt modelId="{7F79BD46-4A47-48EA-9734-2C7E06344C8E}">
      <dgm:prSet phldrT="[Text]" custT="1"/>
      <dgm:spPr/>
      <dgm:t>
        <a:bodyPr/>
        <a:lstStyle/>
        <a:p>
          <a:r>
            <a:rPr lang="en-US" sz="1800" b="0" dirty="0"/>
            <a:t>Leverage Data &amp; Predictive Analytics</a:t>
          </a:r>
        </a:p>
      </dgm:t>
    </dgm:pt>
    <dgm:pt modelId="{D5E571A5-0D8B-4F84-ABD9-B153B8718C32}" type="parTrans" cxnId="{F828E73D-52E5-4956-AC10-60B2CDBE305B}">
      <dgm:prSet/>
      <dgm:spPr/>
      <dgm:t>
        <a:bodyPr/>
        <a:lstStyle/>
        <a:p>
          <a:endParaRPr lang="en-US" sz="1800" b="0"/>
        </a:p>
      </dgm:t>
    </dgm:pt>
    <dgm:pt modelId="{ABE9D312-64A0-47EA-B620-DEE6A6DF2670}" type="sibTrans" cxnId="{F828E73D-52E5-4956-AC10-60B2CDBE305B}">
      <dgm:prSet/>
      <dgm:spPr/>
      <dgm:t>
        <a:bodyPr/>
        <a:lstStyle/>
        <a:p>
          <a:endParaRPr lang="en-US" sz="1800" b="0"/>
        </a:p>
      </dgm:t>
    </dgm:pt>
    <dgm:pt modelId="{6A8C9525-6489-4E93-9E50-86921345AC3A}" type="pres">
      <dgm:prSet presAssocID="{40B1380A-2A52-47F3-9159-684E169D9542}" presName="Name0" presStyleCnt="0">
        <dgm:presLayoutVars>
          <dgm:chMax val="7"/>
          <dgm:chPref val="7"/>
          <dgm:dir/>
        </dgm:presLayoutVars>
      </dgm:prSet>
      <dgm:spPr/>
    </dgm:pt>
    <dgm:pt modelId="{6D3962EE-EC02-4C05-B59B-77EEFC6907E9}" type="pres">
      <dgm:prSet presAssocID="{40B1380A-2A52-47F3-9159-684E169D9542}" presName="Name1" presStyleCnt="0"/>
      <dgm:spPr/>
    </dgm:pt>
    <dgm:pt modelId="{83A19AF9-3A99-4FCC-A6B7-A0D40496D7A2}" type="pres">
      <dgm:prSet presAssocID="{40B1380A-2A52-47F3-9159-684E169D9542}" presName="cycle" presStyleCnt="0"/>
      <dgm:spPr/>
    </dgm:pt>
    <dgm:pt modelId="{488F7126-3674-468B-B87F-5CB28C664F9C}" type="pres">
      <dgm:prSet presAssocID="{40B1380A-2A52-47F3-9159-684E169D9542}" presName="srcNode" presStyleLbl="node1" presStyleIdx="0" presStyleCnt="6"/>
      <dgm:spPr/>
    </dgm:pt>
    <dgm:pt modelId="{9D8719ED-99FA-4E48-AB76-C6184350EC61}" type="pres">
      <dgm:prSet presAssocID="{40B1380A-2A52-47F3-9159-684E169D9542}" presName="conn" presStyleLbl="parChTrans1D2" presStyleIdx="0" presStyleCnt="1"/>
      <dgm:spPr/>
    </dgm:pt>
    <dgm:pt modelId="{B18C6A47-65BC-4930-94F1-D75BAAEC115D}" type="pres">
      <dgm:prSet presAssocID="{40B1380A-2A52-47F3-9159-684E169D9542}" presName="extraNode" presStyleLbl="node1" presStyleIdx="0" presStyleCnt="6"/>
      <dgm:spPr/>
    </dgm:pt>
    <dgm:pt modelId="{7F880672-7B3A-42B4-9763-15791C7762C6}" type="pres">
      <dgm:prSet presAssocID="{40B1380A-2A52-47F3-9159-684E169D9542}" presName="dstNode" presStyleLbl="node1" presStyleIdx="0" presStyleCnt="6"/>
      <dgm:spPr/>
    </dgm:pt>
    <dgm:pt modelId="{8C9972E5-345E-4E7F-9370-D28E676DA814}" type="pres">
      <dgm:prSet presAssocID="{7DD16FEC-BBF1-4358-BD54-6E9F9911A3AB}" presName="text_1" presStyleLbl="node1" presStyleIdx="0" presStyleCnt="6">
        <dgm:presLayoutVars>
          <dgm:bulletEnabled val="1"/>
        </dgm:presLayoutVars>
      </dgm:prSet>
      <dgm:spPr/>
    </dgm:pt>
    <dgm:pt modelId="{CC497DF0-3888-458B-8451-B8BDABAAFF4F}" type="pres">
      <dgm:prSet presAssocID="{7DD16FEC-BBF1-4358-BD54-6E9F9911A3AB}" presName="accent_1" presStyleCnt="0"/>
      <dgm:spPr/>
    </dgm:pt>
    <dgm:pt modelId="{1DE65E36-9EC5-46B4-9368-87F93EB4C268}" type="pres">
      <dgm:prSet presAssocID="{7DD16FEC-BBF1-4358-BD54-6E9F9911A3AB}" presName="accentRepeatNode" presStyleLbl="solidFgAcc1" presStyleIdx="0" presStyleCnt="6"/>
      <dgm:spPr/>
    </dgm:pt>
    <dgm:pt modelId="{86EDB9A2-11D3-42F0-8047-6AC9350E550C}" type="pres">
      <dgm:prSet presAssocID="{6F74D753-2D39-481B-98A2-A3F044150CE2}" presName="text_2" presStyleLbl="node1" presStyleIdx="1" presStyleCnt="6">
        <dgm:presLayoutVars>
          <dgm:bulletEnabled val="1"/>
        </dgm:presLayoutVars>
      </dgm:prSet>
      <dgm:spPr/>
    </dgm:pt>
    <dgm:pt modelId="{DA22442F-7CAC-42D6-8D68-8F611853DCAB}" type="pres">
      <dgm:prSet presAssocID="{6F74D753-2D39-481B-98A2-A3F044150CE2}" presName="accent_2" presStyleCnt="0"/>
      <dgm:spPr/>
    </dgm:pt>
    <dgm:pt modelId="{290A5CDC-F8D7-442E-B9DE-05B3A5EEE764}" type="pres">
      <dgm:prSet presAssocID="{6F74D753-2D39-481B-98A2-A3F044150CE2}" presName="accentRepeatNode" presStyleLbl="solidFgAcc1" presStyleIdx="1" presStyleCnt="6"/>
      <dgm:spPr/>
    </dgm:pt>
    <dgm:pt modelId="{61306EE0-4001-4963-9FEF-D2586BDD30C2}" type="pres">
      <dgm:prSet presAssocID="{22BC35CE-7FFE-44CF-9B5F-1377F4B77ABF}" presName="text_3" presStyleLbl="node1" presStyleIdx="2" presStyleCnt="6">
        <dgm:presLayoutVars>
          <dgm:bulletEnabled val="1"/>
        </dgm:presLayoutVars>
      </dgm:prSet>
      <dgm:spPr/>
    </dgm:pt>
    <dgm:pt modelId="{3E2BD1EA-DE9A-49BF-8A1A-FA3A7F713F4D}" type="pres">
      <dgm:prSet presAssocID="{22BC35CE-7FFE-44CF-9B5F-1377F4B77ABF}" presName="accent_3" presStyleCnt="0"/>
      <dgm:spPr/>
    </dgm:pt>
    <dgm:pt modelId="{EE6E2BCD-17C3-402F-92C6-7B42E3432CA6}" type="pres">
      <dgm:prSet presAssocID="{22BC35CE-7FFE-44CF-9B5F-1377F4B77ABF}" presName="accentRepeatNode" presStyleLbl="solidFgAcc1" presStyleIdx="2" presStyleCnt="6"/>
      <dgm:spPr/>
    </dgm:pt>
    <dgm:pt modelId="{70D3A3F1-A21C-4C22-93D2-136540116E1E}" type="pres">
      <dgm:prSet presAssocID="{B39841FF-CBD2-4051-8806-B7AD8CF3C77D}" presName="text_4" presStyleLbl="node1" presStyleIdx="3" presStyleCnt="6">
        <dgm:presLayoutVars>
          <dgm:bulletEnabled val="1"/>
        </dgm:presLayoutVars>
      </dgm:prSet>
      <dgm:spPr/>
    </dgm:pt>
    <dgm:pt modelId="{4D6EE7A6-19DC-4642-9AFC-01A569EA489C}" type="pres">
      <dgm:prSet presAssocID="{B39841FF-CBD2-4051-8806-B7AD8CF3C77D}" presName="accent_4" presStyleCnt="0"/>
      <dgm:spPr/>
    </dgm:pt>
    <dgm:pt modelId="{C1F93C35-24C7-4DE7-B3D7-50CD8492FCA5}" type="pres">
      <dgm:prSet presAssocID="{B39841FF-CBD2-4051-8806-B7AD8CF3C77D}" presName="accentRepeatNode" presStyleLbl="solidFgAcc1" presStyleIdx="3" presStyleCnt="6"/>
      <dgm:spPr/>
    </dgm:pt>
    <dgm:pt modelId="{9425EB6E-3439-4216-99A1-0180FA870966}" type="pres">
      <dgm:prSet presAssocID="{3AA1B16C-BD0A-4415-AC96-41873E2D0EA7}" presName="text_5" presStyleLbl="node1" presStyleIdx="4" presStyleCnt="6">
        <dgm:presLayoutVars>
          <dgm:bulletEnabled val="1"/>
        </dgm:presLayoutVars>
      </dgm:prSet>
      <dgm:spPr/>
    </dgm:pt>
    <dgm:pt modelId="{BF32CC5B-5AA1-4C7A-B02E-F5B0CA9001BB}" type="pres">
      <dgm:prSet presAssocID="{3AA1B16C-BD0A-4415-AC96-41873E2D0EA7}" presName="accent_5" presStyleCnt="0"/>
      <dgm:spPr/>
    </dgm:pt>
    <dgm:pt modelId="{D7628790-6726-431B-A6CF-6C92F6DD4F3A}" type="pres">
      <dgm:prSet presAssocID="{3AA1B16C-BD0A-4415-AC96-41873E2D0EA7}" presName="accentRepeatNode" presStyleLbl="solidFgAcc1" presStyleIdx="4" presStyleCnt="6"/>
      <dgm:spPr/>
    </dgm:pt>
    <dgm:pt modelId="{C722434E-0226-445B-B656-2A7582E1B7D6}" type="pres">
      <dgm:prSet presAssocID="{7F79BD46-4A47-48EA-9734-2C7E06344C8E}" presName="text_6" presStyleLbl="node1" presStyleIdx="5" presStyleCnt="6">
        <dgm:presLayoutVars>
          <dgm:bulletEnabled val="1"/>
        </dgm:presLayoutVars>
      </dgm:prSet>
      <dgm:spPr/>
    </dgm:pt>
    <dgm:pt modelId="{E44E312F-7DB3-44E1-9443-6AA162D0867D}" type="pres">
      <dgm:prSet presAssocID="{7F79BD46-4A47-48EA-9734-2C7E06344C8E}" presName="accent_6" presStyleCnt="0"/>
      <dgm:spPr/>
    </dgm:pt>
    <dgm:pt modelId="{A5E717FE-41FD-4816-8D25-82F3D3D2BD3C}" type="pres">
      <dgm:prSet presAssocID="{7F79BD46-4A47-48EA-9734-2C7E06344C8E}" presName="accentRepeatNode" presStyleLbl="solidFgAcc1" presStyleIdx="5" presStyleCnt="6"/>
      <dgm:spPr/>
    </dgm:pt>
  </dgm:ptLst>
  <dgm:cxnLst>
    <dgm:cxn modelId="{E97FD50A-5D93-4DD5-B7C9-690CF3DADC2E}" type="presOf" srcId="{B39841FF-CBD2-4051-8806-B7AD8CF3C77D}" destId="{70D3A3F1-A21C-4C22-93D2-136540116E1E}" srcOrd="0" destOrd="0" presId="urn:microsoft.com/office/officeart/2008/layout/VerticalCurvedList"/>
    <dgm:cxn modelId="{E0F2A40D-9CD5-4157-8BB9-0880F42D63DC}" type="presOf" srcId="{7DD16FEC-BBF1-4358-BD54-6E9F9911A3AB}" destId="{8C9972E5-345E-4E7F-9370-D28E676DA814}" srcOrd="0" destOrd="0" presId="urn:microsoft.com/office/officeart/2008/layout/VerticalCurvedList"/>
    <dgm:cxn modelId="{47A3931A-3663-486D-A3DA-C8F2F2071128}" srcId="{40B1380A-2A52-47F3-9159-684E169D9542}" destId="{6F74D753-2D39-481B-98A2-A3F044150CE2}" srcOrd="1" destOrd="0" parTransId="{561E9843-F43E-4D00-B229-F0A86B0078FC}" sibTransId="{D9688BAF-136A-498A-8294-8A9BD6436DED}"/>
    <dgm:cxn modelId="{62FB8E24-4F0F-405F-BD6C-2D3DA22EEE40}" type="presOf" srcId="{3AA1B16C-BD0A-4415-AC96-41873E2D0EA7}" destId="{9425EB6E-3439-4216-99A1-0180FA870966}" srcOrd="0" destOrd="0" presId="urn:microsoft.com/office/officeart/2008/layout/VerticalCurvedList"/>
    <dgm:cxn modelId="{FF74CE32-1BFA-4042-836E-D683E96899B2}" type="presOf" srcId="{5CCCA98B-B82D-4587-8814-9C7C10D0509F}" destId="{9D8719ED-99FA-4E48-AB76-C6184350EC61}" srcOrd="0" destOrd="0" presId="urn:microsoft.com/office/officeart/2008/layout/VerticalCurvedList"/>
    <dgm:cxn modelId="{F828E73D-52E5-4956-AC10-60B2CDBE305B}" srcId="{40B1380A-2A52-47F3-9159-684E169D9542}" destId="{7F79BD46-4A47-48EA-9734-2C7E06344C8E}" srcOrd="5" destOrd="0" parTransId="{D5E571A5-0D8B-4F84-ABD9-B153B8718C32}" sibTransId="{ABE9D312-64A0-47EA-B620-DEE6A6DF2670}"/>
    <dgm:cxn modelId="{332BE682-5EC5-4721-A35B-790AA46538B9}" srcId="{40B1380A-2A52-47F3-9159-684E169D9542}" destId="{7DD16FEC-BBF1-4358-BD54-6E9F9911A3AB}" srcOrd="0" destOrd="0" parTransId="{E6F86CC0-7575-486E-812D-DBFA159F1739}" sibTransId="{5CCCA98B-B82D-4587-8814-9C7C10D0509F}"/>
    <dgm:cxn modelId="{3493F997-A44F-4F11-8C02-B9EAE8798003}" type="presOf" srcId="{6F74D753-2D39-481B-98A2-A3F044150CE2}" destId="{86EDB9A2-11D3-42F0-8047-6AC9350E550C}" srcOrd="0" destOrd="0" presId="urn:microsoft.com/office/officeart/2008/layout/VerticalCurvedList"/>
    <dgm:cxn modelId="{316710AE-A248-465D-99AF-29FB8D878A2C}" srcId="{40B1380A-2A52-47F3-9159-684E169D9542}" destId="{3AA1B16C-BD0A-4415-AC96-41873E2D0EA7}" srcOrd="4" destOrd="0" parTransId="{11EAC270-D604-4ECE-8278-05E9EAEF684C}" sibTransId="{C1D4A0DD-577A-41CA-826E-2CDE888176B2}"/>
    <dgm:cxn modelId="{50F215AF-947E-4872-AFD5-74CC3B6B36C0}" type="presOf" srcId="{40B1380A-2A52-47F3-9159-684E169D9542}" destId="{6A8C9525-6489-4E93-9E50-86921345AC3A}" srcOrd="0" destOrd="0" presId="urn:microsoft.com/office/officeart/2008/layout/VerticalCurvedList"/>
    <dgm:cxn modelId="{31D5E2B8-C1F0-463D-80FC-4C7B10FE2F2D}" srcId="{40B1380A-2A52-47F3-9159-684E169D9542}" destId="{B39841FF-CBD2-4051-8806-B7AD8CF3C77D}" srcOrd="3" destOrd="0" parTransId="{9C62E038-B99B-4211-AD8B-BC4F2A80BA9B}" sibTransId="{BC4FBCDA-03C2-47C1-8423-6C9AC5EA7F57}"/>
    <dgm:cxn modelId="{74AFECD0-73FA-434A-A405-BADB3E897896}" srcId="{40B1380A-2A52-47F3-9159-684E169D9542}" destId="{22BC35CE-7FFE-44CF-9B5F-1377F4B77ABF}" srcOrd="2" destOrd="0" parTransId="{9DEE7FB4-C7F6-457B-ACC1-54D0379C6C42}" sibTransId="{B909A6F0-F3E9-43C7-92B0-89E79D94D32B}"/>
    <dgm:cxn modelId="{FBD33CD1-0C7D-44E1-A425-5DA0B462E716}" type="presOf" srcId="{22BC35CE-7FFE-44CF-9B5F-1377F4B77ABF}" destId="{61306EE0-4001-4963-9FEF-D2586BDD30C2}" srcOrd="0" destOrd="0" presId="urn:microsoft.com/office/officeart/2008/layout/VerticalCurvedList"/>
    <dgm:cxn modelId="{710E6ED4-F8F8-4AB2-97FB-746EE56BF763}" type="presOf" srcId="{7F79BD46-4A47-48EA-9734-2C7E06344C8E}" destId="{C722434E-0226-445B-B656-2A7582E1B7D6}" srcOrd="0" destOrd="0" presId="urn:microsoft.com/office/officeart/2008/layout/VerticalCurvedList"/>
    <dgm:cxn modelId="{6A394E70-0A79-4442-94FB-D2EE034FC970}" type="presParOf" srcId="{6A8C9525-6489-4E93-9E50-86921345AC3A}" destId="{6D3962EE-EC02-4C05-B59B-77EEFC6907E9}" srcOrd="0" destOrd="0" presId="urn:microsoft.com/office/officeart/2008/layout/VerticalCurvedList"/>
    <dgm:cxn modelId="{3EB41293-0AE5-4B37-B1D9-F775CDCCFE4D}" type="presParOf" srcId="{6D3962EE-EC02-4C05-B59B-77EEFC6907E9}" destId="{83A19AF9-3A99-4FCC-A6B7-A0D40496D7A2}" srcOrd="0" destOrd="0" presId="urn:microsoft.com/office/officeart/2008/layout/VerticalCurvedList"/>
    <dgm:cxn modelId="{753E8A6A-66C1-43DB-A1E1-5F0523ECEF18}" type="presParOf" srcId="{83A19AF9-3A99-4FCC-A6B7-A0D40496D7A2}" destId="{488F7126-3674-468B-B87F-5CB28C664F9C}" srcOrd="0" destOrd="0" presId="urn:microsoft.com/office/officeart/2008/layout/VerticalCurvedList"/>
    <dgm:cxn modelId="{A3D8105A-AA39-445D-847C-1F13D2D4E391}" type="presParOf" srcId="{83A19AF9-3A99-4FCC-A6B7-A0D40496D7A2}" destId="{9D8719ED-99FA-4E48-AB76-C6184350EC61}" srcOrd="1" destOrd="0" presId="urn:microsoft.com/office/officeart/2008/layout/VerticalCurvedList"/>
    <dgm:cxn modelId="{C4DAD6BD-598B-4E45-9674-57EB4314E591}" type="presParOf" srcId="{83A19AF9-3A99-4FCC-A6B7-A0D40496D7A2}" destId="{B18C6A47-65BC-4930-94F1-D75BAAEC115D}" srcOrd="2" destOrd="0" presId="urn:microsoft.com/office/officeart/2008/layout/VerticalCurvedList"/>
    <dgm:cxn modelId="{CDA6F7CF-66F9-4937-BC12-E0F1BF9D3EAE}" type="presParOf" srcId="{83A19AF9-3A99-4FCC-A6B7-A0D40496D7A2}" destId="{7F880672-7B3A-42B4-9763-15791C7762C6}" srcOrd="3" destOrd="0" presId="urn:microsoft.com/office/officeart/2008/layout/VerticalCurvedList"/>
    <dgm:cxn modelId="{C1B1C50A-4D4A-4BED-8887-9346AEC2444B}" type="presParOf" srcId="{6D3962EE-EC02-4C05-B59B-77EEFC6907E9}" destId="{8C9972E5-345E-4E7F-9370-D28E676DA814}" srcOrd="1" destOrd="0" presId="urn:microsoft.com/office/officeart/2008/layout/VerticalCurvedList"/>
    <dgm:cxn modelId="{8EFBBE0B-ACDC-4F26-B466-44DEBC89E363}" type="presParOf" srcId="{6D3962EE-EC02-4C05-B59B-77EEFC6907E9}" destId="{CC497DF0-3888-458B-8451-B8BDABAAFF4F}" srcOrd="2" destOrd="0" presId="urn:microsoft.com/office/officeart/2008/layout/VerticalCurvedList"/>
    <dgm:cxn modelId="{6365A7DC-E5D7-4EB1-A7B1-A63250811F83}" type="presParOf" srcId="{CC497DF0-3888-458B-8451-B8BDABAAFF4F}" destId="{1DE65E36-9EC5-46B4-9368-87F93EB4C268}" srcOrd="0" destOrd="0" presId="urn:microsoft.com/office/officeart/2008/layout/VerticalCurvedList"/>
    <dgm:cxn modelId="{F15ECF01-2D3E-4D73-9952-B5A017400A4B}" type="presParOf" srcId="{6D3962EE-EC02-4C05-B59B-77EEFC6907E9}" destId="{86EDB9A2-11D3-42F0-8047-6AC9350E550C}" srcOrd="3" destOrd="0" presId="urn:microsoft.com/office/officeart/2008/layout/VerticalCurvedList"/>
    <dgm:cxn modelId="{A6573E71-820E-4663-9AB9-EBF723AF4906}" type="presParOf" srcId="{6D3962EE-EC02-4C05-B59B-77EEFC6907E9}" destId="{DA22442F-7CAC-42D6-8D68-8F611853DCAB}" srcOrd="4" destOrd="0" presId="urn:microsoft.com/office/officeart/2008/layout/VerticalCurvedList"/>
    <dgm:cxn modelId="{3FF2CF18-6AA1-4E8A-9112-4E5A09BCC877}" type="presParOf" srcId="{DA22442F-7CAC-42D6-8D68-8F611853DCAB}" destId="{290A5CDC-F8D7-442E-B9DE-05B3A5EEE764}" srcOrd="0" destOrd="0" presId="urn:microsoft.com/office/officeart/2008/layout/VerticalCurvedList"/>
    <dgm:cxn modelId="{5424C75A-09EE-46B6-B966-EF9CE0C2412D}" type="presParOf" srcId="{6D3962EE-EC02-4C05-B59B-77EEFC6907E9}" destId="{61306EE0-4001-4963-9FEF-D2586BDD30C2}" srcOrd="5" destOrd="0" presId="urn:microsoft.com/office/officeart/2008/layout/VerticalCurvedList"/>
    <dgm:cxn modelId="{7891ED6A-804E-4EB1-848D-A65BA38D06DC}" type="presParOf" srcId="{6D3962EE-EC02-4C05-B59B-77EEFC6907E9}" destId="{3E2BD1EA-DE9A-49BF-8A1A-FA3A7F713F4D}" srcOrd="6" destOrd="0" presId="urn:microsoft.com/office/officeart/2008/layout/VerticalCurvedList"/>
    <dgm:cxn modelId="{3EFB9C1D-9B96-456F-80FD-29DB02900912}" type="presParOf" srcId="{3E2BD1EA-DE9A-49BF-8A1A-FA3A7F713F4D}" destId="{EE6E2BCD-17C3-402F-92C6-7B42E3432CA6}" srcOrd="0" destOrd="0" presId="urn:microsoft.com/office/officeart/2008/layout/VerticalCurvedList"/>
    <dgm:cxn modelId="{273D8DA0-67EE-4D96-AFBD-2B5298F27B46}" type="presParOf" srcId="{6D3962EE-EC02-4C05-B59B-77EEFC6907E9}" destId="{70D3A3F1-A21C-4C22-93D2-136540116E1E}" srcOrd="7" destOrd="0" presId="urn:microsoft.com/office/officeart/2008/layout/VerticalCurvedList"/>
    <dgm:cxn modelId="{0E950528-B72E-413E-AE45-8767BBD7460C}" type="presParOf" srcId="{6D3962EE-EC02-4C05-B59B-77EEFC6907E9}" destId="{4D6EE7A6-19DC-4642-9AFC-01A569EA489C}" srcOrd="8" destOrd="0" presId="urn:microsoft.com/office/officeart/2008/layout/VerticalCurvedList"/>
    <dgm:cxn modelId="{D78A60C2-3279-4317-82CC-A09A1A7A4815}" type="presParOf" srcId="{4D6EE7A6-19DC-4642-9AFC-01A569EA489C}" destId="{C1F93C35-24C7-4DE7-B3D7-50CD8492FCA5}" srcOrd="0" destOrd="0" presId="urn:microsoft.com/office/officeart/2008/layout/VerticalCurvedList"/>
    <dgm:cxn modelId="{2949AB8B-5DCF-4897-B6B8-4D7A94730F7F}" type="presParOf" srcId="{6D3962EE-EC02-4C05-B59B-77EEFC6907E9}" destId="{9425EB6E-3439-4216-99A1-0180FA870966}" srcOrd="9" destOrd="0" presId="urn:microsoft.com/office/officeart/2008/layout/VerticalCurvedList"/>
    <dgm:cxn modelId="{5568C320-5057-4796-862B-B6F30FCB14D6}" type="presParOf" srcId="{6D3962EE-EC02-4C05-B59B-77EEFC6907E9}" destId="{BF32CC5B-5AA1-4C7A-B02E-F5B0CA9001BB}" srcOrd="10" destOrd="0" presId="urn:microsoft.com/office/officeart/2008/layout/VerticalCurvedList"/>
    <dgm:cxn modelId="{D7BFD6B6-57FE-4479-AC59-BFA61B66D008}" type="presParOf" srcId="{BF32CC5B-5AA1-4C7A-B02E-F5B0CA9001BB}" destId="{D7628790-6726-431B-A6CF-6C92F6DD4F3A}" srcOrd="0" destOrd="0" presId="urn:microsoft.com/office/officeart/2008/layout/VerticalCurvedList"/>
    <dgm:cxn modelId="{6ABA0084-EC58-4185-933B-56B0CE661B43}" type="presParOf" srcId="{6D3962EE-EC02-4C05-B59B-77EEFC6907E9}" destId="{C722434E-0226-445B-B656-2A7582E1B7D6}" srcOrd="11" destOrd="0" presId="urn:microsoft.com/office/officeart/2008/layout/VerticalCurvedList"/>
    <dgm:cxn modelId="{008DFF53-CCE9-493F-A971-EA984C397C27}" type="presParOf" srcId="{6D3962EE-EC02-4C05-B59B-77EEFC6907E9}" destId="{E44E312F-7DB3-44E1-9443-6AA162D0867D}" srcOrd="12" destOrd="0" presId="urn:microsoft.com/office/officeart/2008/layout/VerticalCurvedList"/>
    <dgm:cxn modelId="{70F88631-94C7-4661-84EE-ED8BAA0FD308}" type="presParOf" srcId="{E44E312F-7DB3-44E1-9443-6AA162D0867D}" destId="{A5E717FE-41FD-4816-8D25-82F3D3D2BD3C}"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8719ED-99FA-4E48-AB76-C6184350EC61}">
      <dsp:nvSpPr>
        <dsp:cNvPr id="0" name=""/>
        <dsp:cNvSpPr/>
      </dsp:nvSpPr>
      <dsp:spPr>
        <a:xfrm>
          <a:off x="-4381250" y="-672013"/>
          <a:ext cx="5219685" cy="5219685"/>
        </a:xfrm>
        <a:prstGeom prst="blockArc">
          <a:avLst>
            <a:gd name="adj1" fmla="val 18900000"/>
            <a:gd name="adj2" fmla="val 2700000"/>
            <a:gd name="adj3" fmla="val 414"/>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9972E5-345E-4E7F-9370-D28E676DA814}">
      <dsp:nvSpPr>
        <dsp:cNvPr id="0" name=""/>
        <dsp:cNvSpPr/>
      </dsp:nvSpPr>
      <dsp:spPr>
        <a:xfrm>
          <a:off x="313262" y="204092"/>
          <a:ext cx="6192102" cy="4080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73" tIns="45720" rIns="45720" bIns="45720" numCol="1" spcCol="1270" anchor="ctr" anchorCtr="0">
          <a:noAutofit/>
        </a:bodyPr>
        <a:lstStyle/>
        <a:p>
          <a:pPr marL="0" lvl="0" indent="0" algn="l" defTabSz="800100">
            <a:lnSpc>
              <a:spcPct val="90000"/>
            </a:lnSpc>
            <a:spcBef>
              <a:spcPct val="0"/>
            </a:spcBef>
            <a:spcAft>
              <a:spcPct val="35000"/>
            </a:spcAft>
            <a:buNone/>
          </a:pPr>
          <a:r>
            <a:rPr lang="en-US" sz="1800" b="0" kern="1200" dirty="0"/>
            <a:t>Improve Customer Satisfaction &amp; Engagement</a:t>
          </a:r>
        </a:p>
      </dsp:txBody>
      <dsp:txXfrm>
        <a:off x="313262" y="204092"/>
        <a:ext cx="6192102" cy="408029"/>
      </dsp:txXfrm>
    </dsp:sp>
    <dsp:sp modelId="{1DE65E36-9EC5-46B4-9368-87F93EB4C268}">
      <dsp:nvSpPr>
        <dsp:cNvPr id="0" name=""/>
        <dsp:cNvSpPr/>
      </dsp:nvSpPr>
      <dsp:spPr>
        <a:xfrm>
          <a:off x="58244" y="153088"/>
          <a:ext cx="510036" cy="5100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EDB9A2-11D3-42F0-8047-6AC9350E550C}">
      <dsp:nvSpPr>
        <dsp:cNvPr id="0" name=""/>
        <dsp:cNvSpPr/>
      </dsp:nvSpPr>
      <dsp:spPr>
        <a:xfrm>
          <a:off x="648894" y="816058"/>
          <a:ext cx="5856470" cy="4080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73" tIns="45720" rIns="45720" bIns="45720" numCol="1" spcCol="1270" anchor="ctr" anchorCtr="0">
          <a:noAutofit/>
        </a:bodyPr>
        <a:lstStyle/>
        <a:p>
          <a:pPr marL="0" lvl="0" indent="0" algn="l" defTabSz="800100">
            <a:lnSpc>
              <a:spcPct val="90000"/>
            </a:lnSpc>
            <a:spcBef>
              <a:spcPct val="0"/>
            </a:spcBef>
            <a:spcAft>
              <a:spcPct val="35000"/>
            </a:spcAft>
            <a:buNone/>
          </a:pPr>
          <a:r>
            <a:rPr lang="en-US" sz="1800" b="0" kern="1200" dirty="0"/>
            <a:t>Optimize Pricing &amp; Service Offerings</a:t>
          </a:r>
        </a:p>
      </dsp:txBody>
      <dsp:txXfrm>
        <a:off x="648894" y="816058"/>
        <a:ext cx="5856470" cy="408029"/>
      </dsp:txXfrm>
    </dsp:sp>
    <dsp:sp modelId="{290A5CDC-F8D7-442E-B9DE-05B3A5EEE764}">
      <dsp:nvSpPr>
        <dsp:cNvPr id="0" name=""/>
        <dsp:cNvSpPr/>
      </dsp:nvSpPr>
      <dsp:spPr>
        <a:xfrm>
          <a:off x="393876" y="765055"/>
          <a:ext cx="510036" cy="5100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306EE0-4001-4963-9FEF-D2586BDD30C2}">
      <dsp:nvSpPr>
        <dsp:cNvPr id="0" name=""/>
        <dsp:cNvSpPr/>
      </dsp:nvSpPr>
      <dsp:spPr>
        <a:xfrm>
          <a:off x="802370" y="1428025"/>
          <a:ext cx="5702994" cy="4080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73" tIns="45720" rIns="45720" bIns="45720" numCol="1" spcCol="1270" anchor="ctr" anchorCtr="0">
          <a:noAutofit/>
        </a:bodyPr>
        <a:lstStyle/>
        <a:p>
          <a:pPr marL="0" lvl="0" indent="0" algn="l" defTabSz="800100">
            <a:lnSpc>
              <a:spcPct val="90000"/>
            </a:lnSpc>
            <a:spcBef>
              <a:spcPct val="0"/>
            </a:spcBef>
            <a:spcAft>
              <a:spcPct val="35000"/>
            </a:spcAft>
            <a:buNone/>
          </a:pPr>
          <a:r>
            <a:rPr lang="en-US" sz="1800" b="0" kern="1200" dirty="0"/>
            <a:t>Strengthen Retention Strategies</a:t>
          </a:r>
        </a:p>
      </dsp:txBody>
      <dsp:txXfrm>
        <a:off x="802370" y="1428025"/>
        <a:ext cx="5702994" cy="408029"/>
      </dsp:txXfrm>
    </dsp:sp>
    <dsp:sp modelId="{EE6E2BCD-17C3-402F-92C6-7B42E3432CA6}">
      <dsp:nvSpPr>
        <dsp:cNvPr id="0" name=""/>
        <dsp:cNvSpPr/>
      </dsp:nvSpPr>
      <dsp:spPr>
        <a:xfrm>
          <a:off x="547352" y="1377021"/>
          <a:ext cx="510036" cy="5100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D3A3F1-A21C-4C22-93D2-136540116E1E}">
      <dsp:nvSpPr>
        <dsp:cNvPr id="0" name=""/>
        <dsp:cNvSpPr/>
      </dsp:nvSpPr>
      <dsp:spPr>
        <a:xfrm>
          <a:off x="802370" y="2039604"/>
          <a:ext cx="5702994" cy="4080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73" tIns="45720" rIns="45720" bIns="45720" numCol="1" spcCol="1270" anchor="ctr" anchorCtr="0">
          <a:noAutofit/>
        </a:bodyPr>
        <a:lstStyle/>
        <a:p>
          <a:pPr marL="0" lvl="0" indent="0" algn="l" defTabSz="800100">
            <a:lnSpc>
              <a:spcPct val="90000"/>
            </a:lnSpc>
            <a:spcBef>
              <a:spcPct val="0"/>
            </a:spcBef>
            <a:spcAft>
              <a:spcPct val="35000"/>
            </a:spcAft>
            <a:buNone/>
          </a:pPr>
          <a:r>
            <a:rPr lang="en-US" sz="1800" b="0" kern="1200" dirty="0"/>
            <a:t>Enhance Customer Onboarding</a:t>
          </a:r>
        </a:p>
      </dsp:txBody>
      <dsp:txXfrm>
        <a:off x="802370" y="2039604"/>
        <a:ext cx="5702994" cy="408029"/>
      </dsp:txXfrm>
    </dsp:sp>
    <dsp:sp modelId="{C1F93C35-24C7-4DE7-B3D7-50CD8492FCA5}">
      <dsp:nvSpPr>
        <dsp:cNvPr id="0" name=""/>
        <dsp:cNvSpPr/>
      </dsp:nvSpPr>
      <dsp:spPr>
        <a:xfrm>
          <a:off x="547352" y="1988600"/>
          <a:ext cx="510036" cy="5100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425EB6E-3439-4216-99A1-0180FA870966}">
      <dsp:nvSpPr>
        <dsp:cNvPr id="0" name=""/>
        <dsp:cNvSpPr/>
      </dsp:nvSpPr>
      <dsp:spPr>
        <a:xfrm>
          <a:off x="648894" y="2651570"/>
          <a:ext cx="5856470" cy="4080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73" tIns="45720" rIns="45720" bIns="45720" numCol="1" spcCol="1270" anchor="ctr" anchorCtr="0">
          <a:noAutofit/>
        </a:bodyPr>
        <a:lstStyle/>
        <a:p>
          <a:pPr marL="0" lvl="0" indent="0" algn="l" defTabSz="800100">
            <a:lnSpc>
              <a:spcPct val="90000"/>
            </a:lnSpc>
            <a:spcBef>
              <a:spcPct val="0"/>
            </a:spcBef>
            <a:spcAft>
              <a:spcPct val="35000"/>
            </a:spcAft>
            <a:buNone/>
          </a:pPr>
          <a:r>
            <a:rPr lang="en-US" sz="1800" b="0" kern="1200" dirty="0"/>
            <a:t>Improve Service Quality &amp; Offer Additional Value</a:t>
          </a:r>
        </a:p>
      </dsp:txBody>
      <dsp:txXfrm>
        <a:off x="648894" y="2651570"/>
        <a:ext cx="5856470" cy="408029"/>
      </dsp:txXfrm>
    </dsp:sp>
    <dsp:sp modelId="{D7628790-6726-431B-A6CF-6C92F6DD4F3A}">
      <dsp:nvSpPr>
        <dsp:cNvPr id="0" name=""/>
        <dsp:cNvSpPr/>
      </dsp:nvSpPr>
      <dsp:spPr>
        <a:xfrm>
          <a:off x="393876" y="2600567"/>
          <a:ext cx="510036" cy="5100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22434E-0226-445B-B656-2A7582E1B7D6}">
      <dsp:nvSpPr>
        <dsp:cNvPr id="0" name=""/>
        <dsp:cNvSpPr/>
      </dsp:nvSpPr>
      <dsp:spPr>
        <a:xfrm>
          <a:off x="313262" y="3263537"/>
          <a:ext cx="6192102" cy="4080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73" tIns="45720" rIns="45720" bIns="45720" numCol="1" spcCol="1270" anchor="ctr" anchorCtr="0">
          <a:noAutofit/>
        </a:bodyPr>
        <a:lstStyle/>
        <a:p>
          <a:pPr marL="0" lvl="0" indent="0" algn="l" defTabSz="800100">
            <a:lnSpc>
              <a:spcPct val="90000"/>
            </a:lnSpc>
            <a:spcBef>
              <a:spcPct val="0"/>
            </a:spcBef>
            <a:spcAft>
              <a:spcPct val="35000"/>
            </a:spcAft>
            <a:buNone/>
          </a:pPr>
          <a:r>
            <a:rPr lang="en-US" sz="1800" b="0" kern="1200" dirty="0"/>
            <a:t>Leverage Data &amp; Predictive Analytics</a:t>
          </a:r>
        </a:p>
      </dsp:txBody>
      <dsp:txXfrm>
        <a:off x="313262" y="3263537"/>
        <a:ext cx="6192102" cy="408029"/>
      </dsp:txXfrm>
    </dsp:sp>
    <dsp:sp modelId="{A5E717FE-41FD-4816-8D25-82F3D3D2BD3C}">
      <dsp:nvSpPr>
        <dsp:cNvPr id="0" name=""/>
        <dsp:cNvSpPr/>
      </dsp:nvSpPr>
      <dsp:spPr>
        <a:xfrm>
          <a:off x="58244" y="3212533"/>
          <a:ext cx="510036" cy="5100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AFB00-05E0-4972-8674-410029D188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A3EBC3-522F-4D4E-919D-7C7234F4E7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ADB8E1-4890-471D-8E3C-32CB299A60E6}"/>
              </a:ext>
            </a:extLst>
          </p:cNvPr>
          <p:cNvSpPr>
            <a:spLocks noGrp="1"/>
          </p:cNvSpPr>
          <p:nvPr>
            <p:ph type="dt" sz="half" idx="10"/>
          </p:nvPr>
        </p:nvSpPr>
        <p:spPr/>
        <p:txBody>
          <a:bodyPr/>
          <a:lstStyle/>
          <a:p>
            <a:fld id="{3E1DFB9E-125D-442A-ABC4-28B673A52FED}" type="datetimeFigureOut">
              <a:rPr lang="en-US" smtClean="0"/>
              <a:t>21-May-26</a:t>
            </a:fld>
            <a:endParaRPr lang="en-US"/>
          </a:p>
        </p:txBody>
      </p:sp>
      <p:sp>
        <p:nvSpPr>
          <p:cNvPr id="5" name="Footer Placeholder 4">
            <a:extLst>
              <a:ext uri="{FF2B5EF4-FFF2-40B4-BE49-F238E27FC236}">
                <a16:creationId xmlns:a16="http://schemas.microsoft.com/office/drawing/2014/main" id="{3508107B-DA2E-47E4-833C-1F5C471872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331BCC-58A2-4891-989F-62737400D2CC}"/>
              </a:ext>
            </a:extLst>
          </p:cNvPr>
          <p:cNvSpPr>
            <a:spLocks noGrp="1"/>
          </p:cNvSpPr>
          <p:nvPr>
            <p:ph type="sldNum" sz="quarter" idx="12"/>
          </p:nvPr>
        </p:nvSpPr>
        <p:spPr/>
        <p:txBody>
          <a:bodyPr/>
          <a:lstStyle/>
          <a:p>
            <a:fld id="{26EE7027-5DF2-40C5-B603-019854B01238}" type="slidenum">
              <a:rPr lang="en-US" smtClean="0"/>
              <a:t>‹#›</a:t>
            </a:fld>
            <a:endParaRPr lang="en-US"/>
          </a:p>
        </p:txBody>
      </p:sp>
    </p:spTree>
    <p:extLst>
      <p:ext uri="{BB962C8B-B14F-4D97-AF65-F5344CB8AC3E}">
        <p14:creationId xmlns:p14="http://schemas.microsoft.com/office/powerpoint/2010/main" val="3168746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F85A0-4191-486D-99B7-3F26E1E3FE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4F8936-C7EA-4EC6-9DB0-9A39162583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497A0E-4AA6-4673-BF9A-8D0918891039}"/>
              </a:ext>
            </a:extLst>
          </p:cNvPr>
          <p:cNvSpPr>
            <a:spLocks noGrp="1"/>
          </p:cNvSpPr>
          <p:nvPr>
            <p:ph type="dt" sz="half" idx="10"/>
          </p:nvPr>
        </p:nvSpPr>
        <p:spPr/>
        <p:txBody>
          <a:bodyPr/>
          <a:lstStyle/>
          <a:p>
            <a:fld id="{3E1DFB9E-125D-442A-ABC4-28B673A52FED}" type="datetimeFigureOut">
              <a:rPr lang="en-US" smtClean="0"/>
              <a:t>21-May-26</a:t>
            </a:fld>
            <a:endParaRPr lang="en-US"/>
          </a:p>
        </p:txBody>
      </p:sp>
      <p:sp>
        <p:nvSpPr>
          <p:cNvPr id="5" name="Footer Placeholder 4">
            <a:extLst>
              <a:ext uri="{FF2B5EF4-FFF2-40B4-BE49-F238E27FC236}">
                <a16:creationId xmlns:a16="http://schemas.microsoft.com/office/drawing/2014/main" id="{8309030C-7279-43E8-94E0-080741CFBF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1EFA32-F7B4-4AC0-BA0A-3C1DC55293E5}"/>
              </a:ext>
            </a:extLst>
          </p:cNvPr>
          <p:cNvSpPr>
            <a:spLocks noGrp="1"/>
          </p:cNvSpPr>
          <p:nvPr>
            <p:ph type="sldNum" sz="quarter" idx="12"/>
          </p:nvPr>
        </p:nvSpPr>
        <p:spPr/>
        <p:txBody>
          <a:bodyPr/>
          <a:lstStyle/>
          <a:p>
            <a:fld id="{26EE7027-5DF2-40C5-B603-019854B01238}" type="slidenum">
              <a:rPr lang="en-US" smtClean="0"/>
              <a:t>‹#›</a:t>
            </a:fld>
            <a:endParaRPr lang="en-US"/>
          </a:p>
        </p:txBody>
      </p:sp>
    </p:spTree>
    <p:extLst>
      <p:ext uri="{BB962C8B-B14F-4D97-AF65-F5344CB8AC3E}">
        <p14:creationId xmlns:p14="http://schemas.microsoft.com/office/powerpoint/2010/main" val="648315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6F729-371E-4AE0-A080-C6F7D75D5B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B1829C-6EED-45F5-A648-D329D17D7C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4E04F3F-2B37-4358-A562-08F3E273C69E}"/>
              </a:ext>
            </a:extLst>
          </p:cNvPr>
          <p:cNvSpPr>
            <a:spLocks noGrp="1"/>
          </p:cNvSpPr>
          <p:nvPr>
            <p:ph type="dt" sz="half" idx="10"/>
          </p:nvPr>
        </p:nvSpPr>
        <p:spPr/>
        <p:txBody>
          <a:bodyPr/>
          <a:lstStyle/>
          <a:p>
            <a:fld id="{3E1DFB9E-125D-442A-ABC4-28B673A52FED}" type="datetimeFigureOut">
              <a:rPr lang="en-US" smtClean="0"/>
              <a:t>21-May-26</a:t>
            </a:fld>
            <a:endParaRPr lang="en-US"/>
          </a:p>
        </p:txBody>
      </p:sp>
      <p:sp>
        <p:nvSpPr>
          <p:cNvPr id="5" name="Footer Placeholder 4">
            <a:extLst>
              <a:ext uri="{FF2B5EF4-FFF2-40B4-BE49-F238E27FC236}">
                <a16:creationId xmlns:a16="http://schemas.microsoft.com/office/drawing/2014/main" id="{1DFB6C3A-9F0D-48E1-8ABD-DE79E0C753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D0DF8-A0A0-4BAB-B48A-DC62C7506EE6}"/>
              </a:ext>
            </a:extLst>
          </p:cNvPr>
          <p:cNvSpPr>
            <a:spLocks noGrp="1"/>
          </p:cNvSpPr>
          <p:nvPr>
            <p:ph type="sldNum" sz="quarter" idx="12"/>
          </p:nvPr>
        </p:nvSpPr>
        <p:spPr/>
        <p:txBody>
          <a:bodyPr/>
          <a:lstStyle/>
          <a:p>
            <a:fld id="{26EE7027-5DF2-40C5-B603-019854B01238}" type="slidenum">
              <a:rPr lang="en-US" smtClean="0"/>
              <a:t>‹#›</a:t>
            </a:fld>
            <a:endParaRPr lang="en-US"/>
          </a:p>
        </p:txBody>
      </p:sp>
    </p:spTree>
    <p:extLst>
      <p:ext uri="{BB962C8B-B14F-4D97-AF65-F5344CB8AC3E}">
        <p14:creationId xmlns:p14="http://schemas.microsoft.com/office/powerpoint/2010/main" val="496147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10E99-9E19-40F5-AA39-5474BC105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0B25F5-F3AA-45E2-A10C-2D0E1F03DBA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160901-F130-4863-9432-98A73D9E19B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95A8C3-569C-4256-A9D3-7122E4C93805}"/>
              </a:ext>
            </a:extLst>
          </p:cNvPr>
          <p:cNvSpPr>
            <a:spLocks noGrp="1"/>
          </p:cNvSpPr>
          <p:nvPr>
            <p:ph type="dt" sz="half" idx="10"/>
          </p:nvPr>
        </p:nvSpPr>
        <p:spPr/>
        <p:txBody>
          <a:bodyPr/>
          <a:lstStyle/>
          <a:p>
            <a:fld id="{3E1DFB9E-125D-442A-ABC4-28B673A52FED}" type="datetimeFigureOut">
              <a:rPr lang="en-US" smtClean="0"/>
              <a:t>21-May-26</a:t>
            </a:fld>
            <a:endParaRPr lang="en-US"/>
          </a:p>
        </p:txBody>
      </p:sp>
      <p:sp>
        <p:nvSpPr>
          <p:cNvPr id="6" name="Footer Placeholder 5">
            <a:extLst>
              <a:ext uri="{FF2B5EF4-FFF2-40B4-BE49-F238E27FC236}">
                <a16:creationId xmlns:a16="http://schemas.microsoft.com/office/drawing/2014/main" id="{ACCA935B-CEA9-4EA7-9FCA-84B8AD1DD9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A7904-4290-4262-BABD-813AA9018EFC}"/>
              </a:ext>
            </a:extLst>
          </p:cNvPr>
          <p:cNvSpPr>
            <a:spLocks noGrp="1"/>
          </p:cNvSpPr>
          <p:nvPr>
            <p:ph type="sldNum" sz="quarter" idx="12"/>
          </p:nvPr>
        </p:nvSpPr>
        <p:spPr/>
        <p:txBody>
          <a:bodyPr/>
          <a:lstStyle/>
          <a:p>
            <a:fld id="{26EE7027-5DF2-40C5-B603-019854B01238}" type="slidenum">
              <a:rPr lang="en-US" smtClean="0"/>
              <a:t>‹#›</a:t>
            </a:fld>
            <a:endParaRPr lang="en-US"/>
          </a:p>
        </p:txBody>
      </p:sp>
    </p:spTree>
    <p:extLst>
      <p:ext uri="{BB962C8B-B14F-4D97-AF65-F5344CB8AC3E}">
        <p14:creationId xmlns:p14="http://schemas.microsoft.com/office/powerpoint/2010/main" val="197129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DE501-5ADA-4053-AD52-705A566033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EE155B-EEC2-45AD-91C1-4C3D5B4BE3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554C199-A8BA-4E9F-BD72-8EBDD3D7376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3FEBDE-5EE1-489E-BAA0-31DEAA900A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03C59E9-2AA8-4A96-A8AD-97D1C99AACC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92B612-DBA1-40E0-8E4A-7D4E9C731CA6}"/>
              </a:ext>
            </a:extLst>
          </p:cNvPr>
          <p:cNvSpPr>
            <a:spLocks noGrp="1"/>
          </p:cNvSpPr>
          <p:nvPr>
            <p:ph type="dt" sz="half" idx="10"/>
          </p:nvPr>
        </p:nvSpPr>
        <p:spPr/>
        <p:txBody>
          <a:bodyPr/>
          <a:lstStyle/>
          <a:p>
            <a:fld id="{3E1DFB9E-125D-442A-ABC4-28B673A52FED}" type="datetimeFigureOut">
              <a:rPr lang="en-US" smtClean="0"/>
              <a:t>21-May-26</a:t>
            </a:fld>
            <a:endParaRPr lang="en-US"/>
          </a:p>
        </p:txBody>
      </p:sp>
      <p:sp>
        <p:nvSpPr>
          <p:cNvPr id="8" name="Footer Placeholder 7">
            <a:extLst>
              <a:ext uri="{FF2B5EF4-FFF2-40B4-BE49-F238E27FC236}">
                <a16:creationId xmlns:a16="http://schemas.microsoft.com/office/drawing/2014/main" id="{01A297F8-D15F-4C76-BDB8-ABDF7730F5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02A293-9714-49DF-91DC-22FD428FC794}"/>
              </a:ext>
            </a:extLst>
          </p:cNvPr>
          <p:cNvSpPr>
            <a:spLocks noGrp="1"/>
          </p:cNvSpPr>
          <p:nvPr>
            <p:ph type="sldNum" sz="quarter" idx="12"/>
          </p:nvPr>
        </p:nvSpPr>
        <p:spPr/>
        <p:txBody>
          <a:bodyPr/>
          <a:lstStyle/>
          <a:p>
            <a:fld id="{26EE7027-5DF2-40C5-B603-019854B01238}" type="slidenum">
              <a:rPr lang="en-US" smtClean="0"/>
              <a:t>‹#›</a:t>
            </a:fld>
            <a:endParaRPr lang="en-US"/>
          </a:p>
        </p:txBody>
      </p:sp>
    </p:spTree>
    <p:extLst>
      <p:ext uri="{BB962C8B-B14F-4D97-AF65-F5344CB8AC3E}">
        <p14:creationId xmlns:p14="http://schemas.microsoft.com/office/powerpoint/2010/main" val="57267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26907-987E-46B8-B5CA-F2F179AF1A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60281B-2587-4138-BAE3-FFC5FB772BC0}"/>
              </a:ext>
            </a:extLst>
          </p:cNvPr>
          <p:cNvSpPr>
            <a:spLocks noGrp="1"/>
          </p:cNvSpPr>
          <p:nvPr>
            <p:ph type="dt" sz="half" idx="10"/>
          </p:nvPr>
        </p:nvSpPr>
        <p:spPr/>
        <p:txBody>
          <a:bodyPr/>
          <a:lstStyle/>
          <a:p>
            <a:fld id="{3E1DFB9E-125D-442A-ABC4-28B673A52FED}" type="datetimeFigureOut">
              <a:rPr lang="en-US" smtClean="0"/>
              <a:t>21-May-26</a:t>
            </a:fld>
            <a:endParaRPr lang="en-US"/>
          </a:p>
        </p:txBody>
      </p:sp>
      <p:sp>
        <p:nvSpPr>
          <p:cNvPr id="4" name="Footer Placeholder 3">
            <a:extLst>
              <a:ext uri="{FF2B5EF4-FFF2-40B4-BE49-F238E27FC236}">
                <a16:creationId xmlns:a16="http://schemas.microsoft.com/office/drawing/2014/main" id="{B447BF6A-28FF-4969-A03A-88C8EB7E18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AF0464-C437-4E5A-93DC-7CF11D557D28}"/>
              </a:ext>
            </a:extLst>
          </p:cNvPr>
          <p:cNvSpPr>
            <a:spLocks noGrp="1"/>
          </p:cNvSpPr>
          <p:nvPr>
            <p:ph type="sldNum" sz="quarter" idx="12"/>
          </p:nvPr>
        </p:nvSpPr>
        <p:spPr/>
        <p:txBody>
          <a:bodyPr/>
          <a:lstStyle/>
          <a:p>
            <a:fld id="{26EE7027-5DF2-40C5-B603-019854B01238}" type="slidenum">
              <a:rPr lang="en-US" smtClean="0"/>
              <a:t>‹#›</a:t>
            </a:fld>
            <a:endParaRPr lang="en-US"/>
          </a:p>
        </p:txBody>
      </p:sp>
    </p:spTree>
    <p:extLst>
      <p:ext uri="{BB962C8B-B14F-4D97-AF65-F5344CB8AC3E}">
        <p14:creationId xmlns:p14="http://schemas.microsoft.com/office/powerpoint/2010/main" val="40258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A8FADE-9906-4712-B72F-7AD3D38EE437}"/>
              </a:ext>
            </a:extLst>
          </p:cNvPr>
          <p:cNvSpPr>
            <a:spLocks noGrp="1"/>
          </p:cNvSpPr>
          <p:nvPr>
            <p:ph type="dt" sz="half" idx="10"/>
          </p:nvPr>
        </p:nvSpPr>
        <p:spPr/>
        <p:txBody>
          <a:bodyPr/>
          <a:lstStyle/>
          <a:p>
            <a:fld id="{3E1DFB9E-125D-442A-ABC4-28B673A52FED}" type="datetimeFigureOut">
              <a:rPr lang="en-US" smtClean="0"/>
              <a:t>21-May-26</a:t>
            </a:fld>
            <a:endParaRPr lang="en-US"/>
          </a:p>
        </p:txBody>
      </p:sp>
      <p:sp>
        <p:nvSpPr>
          <p:cNvPr id="3" name="Footer Placeholder 2">
            <a:extLst>
              <a:ext uri="{FF2B5EF4-FFF2-40B4-BE49-F238E27FC236}">
                <a16:creationId xmlns:a16="http://schemas.microsoft.com/office/drawing/2014/main" id="{05A2EB5C-E358-42F0-86F3-C0F410D4D7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BB7AAB-F18C-4CCD-A2CE-2FCE3AD13325}"/>
              </a:ext>
            </a:extLst>
          </p:cNvPr>
          <p:cNvSpPr>
            <a:spLocks noGrp="1"/>
          </p:cNvSpPr>
          <p:nvPr>
            <p:ph type="sldNum" sz="quarter" idx="12"/>
          </p:nvPr>
        </p:nvSpPr>
        <p:spPr/>
        <p:txBody>
          <a:bodyPr/>
          <a:lstStyle/>
          <a:p>
            <a:fld id="{26EE7027-5DF2-40C5-B603-019854B01238}" type="slidenum">
              <a:rPr lang="en-US" smtClean="0"/>
              <a:t>‹#›</a:t>
            </a:fld>
            <a:endParaRPr lang="en-US"/>
          </a:p>
        </p:txBody>
      </p:sp>
    </p:spTree>
    <p:extLst>
      <p:ext uri="{BB962C8B-B14F-4D97-AF65-F5344CB8AC3E}">
        <p14:creationId xmlns:p14="http://schemas.microsoft.com/office/powerpoint/2010/main" val="1787640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11EF-FCEF-4F96-8D51-5DBF7543C3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D71DD5-E3EC-4F34-8908-C1C6C47784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3FB922-03CF-40E4-B97C-BF8F832545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89556BE-AB7E-4D58-B597-885F9AD434FF}"/>
              </a:ext>
            </a:extLst>
          </p:cNvPr>
          <p:cNvSpPr>
            <a:spLocks noGrp="1"/>
          </p:cNvSpPr>
          <p:nvPr>
            <p:ph type="dt" sz="half" idx="10"/>
          </p:nvPr>
        </p:nvSpPr>
        <p:spPr/>
        <p:txBody>
          <a:bodyPr/>
          <a:lstStyle/>
          <a:p>
            <a:fld id="{3E1DFB9E-125D-442A-ABC4-28B673A52FED}" type="datetimeFigureOut">
              <a:rPr lang="en-US" smtClean="0"/>
              <a:t>21-May-26</a:t>
            </a:fld>
            <a:endParaRPr lang="en-US"/>
          </a:p>
        </p:txBody>
      </p:sp>
      <p:sp>
        <p:nvSpPr>
          <p:cNvPr id="6" name="Footer Placeholder 5">
            <a:extLst>
              <a:ext uri="{FF2B5EF4-FFF2-40B4-BE49-F238E27FC236}">
                <a16:creationId xmlns:a16="http://schemas.microsoft.com/office/drawing/2014/main" id="{354FF9E6-CDAC-4E89-A68F-8BE64C5020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15E941-EBDE-4C1F-B3E2-33857817DE8E}"/>
              </a:ext>
            </a:extLst>
          </p:cNvPr>
          <p:cNvSpPr>
            <a:spLocks noGrp="1"/>
          </p:cNvSpPr>
          <p:nvPr>
            <p:ph type="sldNum" sz="quarter" idx="12"/>
          </p:nvPr>
        </p:nvSpPr>
        <p:spPr/>
        <p:txBody>
          <a:bodyPr/>
          <a:lstStyle/>
          <a:p>
            <a:fld id="{26EE7027-5DF2-40C5-B603-019854B01238}" type="slidenum">
              <a:rPr lang="en-US" smtClean="0"/>
              <a:t>‹#›</a:t>
            </a:fld>
            <a:endParaRPr lang="en-US"/>
          </a:p>
        </p:txBody>
      </p:sp>
    </p:spTree>
    <p:extLst>
      <p:ext uri="{BB962C8B-B14F-4D97-AF65-F5344CB8AC3E}">
        <p14:creationId xmlns:p14="http://schemas.microsoft.com/office/powerpoint/2010/main" val="19524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5B161-7B8D-4EAA-ABEA-CF2AB4C1B9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6B16B4-5E45-4D45-919E-CD16D00911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79F8FC-7F2D-478D-8B07-CD100F8F0D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3CBA33-1B60-4678-8204-D1EACA571549}"/>
              </a:ext>
            </a:extLst>
          </p:cNvPr>
          <p:cNvSpPr>
            <a:spLocks noGrp="1"/>
          </p:cNvSpPr>
          <p:nvPr>
            <p:ph type="dt" sz="half" idx="10"/>
          </p:nvPr>
        </p:nvSpPr>
        <p:spPr/>
        <p:txBody>
          <a:bodyPr/>
          <a:lstStyle/>
          <a:p>
            <a:fld id="{3E1DFB9E-125D-442A-ABC4-28B673A52FED}" type="datetimeFigureOut">
              <a:rPr lang="en-US" smtClean="0"/>
              <a:t>21-May-26</a:t>
            </a:fld>
            <a:endParaRPr lang="en-US"/>
          </a:p>
        </p:txBody>
      </p:sp>
      <p:sp>
        <p:nvSpPr>
          <p:cNvPr id="6" name="Footer Placeholder 5">
            <a:extLst>
              <a:ext uri="{FF2B5EF4-FFF2-40B4-BE49-F238E27FC236}">
                <a16:creationId xmlns:a16="http://schemas.microsoft.com/office/drawing/2014/main" id="{5D90380B-AC0B-4CDF-91B8-D499AE229F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9077BB-AF92-46D3-A669-A98CFAD8E6E2}"/>
              </a:ext>
            </a:extLst>
          </p:cNvPr>
          <p:cNvSpPr>
            <a:spLocks noGrp="1"/>
          </p:cNvSpPr>
          <p:nvPr>
            <p:ph type="sldNum" sz="quarter" idx="12"/>
          </p:nvPr>
        </p:nvSpPr>
        <p:spPr/>
        <p:txBody>
          <a:bodyPr/>
          <a:lstStyle/>
          <a:p>
            <a:fld id="{26EE7027-5DF2-40C5-B603-019854B01238}" type="slidenum">
              <a:rPr lang="en-US" smtClean="0"/>
              <a:t>‹#›</a:t>
            </a:fld>
            <a:endParaRPr lang="en-US"/>
          </a:p>
        </p:txBody>
      </p:sp>
    </p:spTree>
    <p:extLst>
      <p:ext uri="{BB962C8B-B14F-4D97-AF65-F5344CB8AC3E}">
        <p14:creationId xmlns:p14="http://schemas.microsoft.com/office/powerpoint/2010/main" val="1035629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2F275-9352-4795-A2DE-2E5C8D9757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3606DF-5770-48C7-A6A4-594371F966B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4C60C5-2809-46AD-9216-015661D8435A}"/>
              </a:ext>
            </a:extLst>
          </p:cNvPr>
          <p:cNvSpPr>
            <a:spLocks noGrp="1"/>
          </p:cNvSpPr>
          <p:nvPr>
            <p:ph type="dt" sz="half" idx="10"/>
          </p:nvPr>
        </p:nvSpPr>
        <p:spPr/>
        <p:txBody>
          <a:bodyPr/>
          <a:lstStyle/>
          <a:p>
            <a:fld id="{3E1DFB9E-125D-442A-ABC4-28B673A52FED}" type="datetimeFigureOut">
              <a:rPr lang="en-US" smtClean="0"/>
              <a:t>21-May-26</a:t>
            </a:fld>
            <a:endParaRPr lang="en-US"/>
          </a:p>
        </p:txBody>
      </p:sp>
      <p:sp>
        <p:nvSpPr>
          <p:cNvPr id="5" name="Footer Placeholder 4">
            <a:extLst>
              <a:ext uri="{FF2B5EF4-FFF2-40B4-BE49-F238E27FC236}">
                <a16:creationId xmlns:a16="http://schemas.microsoft.com/office/drawing/2014/main" id="{361382E0-5EFF-42C5-90E0-E58B67CD63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A6D827-E033-43DB-8F71-17FBAD0745E2}"/>
              </a:ext>
            </a:extLst>
          </p:cNvPr>
          <p:cNvSpPr>
            <a:spLocks noGrp="1"/>
          </p:cNvSpPr>
          <p:nvPr>
            <p:ph type="sldNum" sz="quarter" idx="12"/>
          </p:nvPr>
        </p:nvSpPr>
        <p:spPr/>
        <p:txBody>
          <a:bodyPr/>
          <a:lstStyle/>
          <a:p>
            <a:fld id="{26EE7027-5DF2-40C5-B603-019854B01238}" type="slidenum">
              <a:rPr lang="en-US" smtClean="0"/>
              <a:t>‹#›</a:t>
            </a:fld>
            <a:endParaRPr lang="en-US"/>
          </a:p>
        </p:txBody>
      </p:sp>
    </p:spTree>
    <p:extLst>
      <p:ext uri="{BB962C8B-B14F-4D97-AF65-F5344CB8AC3E}">
        <p14:creationId xmlns:p14="http://schemas.microsoft.com/office/powerpoint/2010/main" val="2975738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FC8E83-9107-4F54-9BE7-773456B87A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808DA3-F4C1-4821-9FE6-A487C674C75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0286A-14BC-4034-A7E8-85E1B318B542}"/>
              </a:ext>
            </a:extLst>
          </p:cNvPr>
          <p:cNvSpPr>
            <a:spLocks noGrp="1"/>
          </p:cNvSpPr>
          <p:nvPr>
            <p:ph type="dt" sz="half" idx="10"/>
          </p:nvPr>
        </p:nvSpPr>
        <p:spPr/>
        <p:txBody>
          <a:bodyPr/>
          <a:lstStyle/>
          <a:p>
            <a:fld id="{3E1DFB9E-125D-442A-ABC4-28B673A52FED}" type="datetimeFigureOut">
              <a:rPr lang="en-US" smtClean="0"/>
              <a:t>21-May-26</a:t>
            </a:fld>
            <a:endParaRPr lang="en-US"/>
          </a:p>
        </p:txBody>
      </p:sp>
      <p:sp>
        <p:nvSpPr>
          <p:cNvPr id="5" name="Footer Placeholder 4">
            <a:extLst>
              <a:ext uri="{FF2B5EF4-FFF2-40B4-BE49-F238E27FC236}">
                <a16:creationId xmlns:a16="http://schemas.microsoft.com/office/drawing/2014/main" id="{9E2EA09B-3611-435C-B0B3-F5858FCCCA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CF9E2-D38C-4BEB-8F70-8CCDD40D7768}"/>
              </a:ext>
            </a:extLst>
          </p:cNvPr>
          <p:cNvSpPr>
            <a:spLocks noGrp="1"/>
          </p:cNvSpPr>
          <p:nvPr>
            <p:ph type="sldNum" sz="quarter" idx="12"/>
          </p:nvPr>
        </p:nvSpPr>
        <p:spPr/>
        <p:txBody>
          <a:bodyPr/>
          <a:lstStyle/>
          <a:p>
            <a:fld id="{26EE7027-5DF2-40C5-B603-019854B01238}" type="slidenum">
              <a:rPr lang="en-US" smtClean="0"/>
              <a:t>‹#›</a:t>
            </a:fld>
            <a:endParaRPr lang="en-US"/>
          </a:p>
        </p:txBody>
      </p:sp>
    </p:spTree>
    <p:extLst>
      <p:ext uri="{BB962C8B-B14F-4D97-AF65-F5344CB8AC3E}">
        <p14:creationId xmlns:p14="http://schemas.microsoft.com/office/powerpoint/2010/main" val="57144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E9132D6-0004-C34B-A570-7AECE0027133}"/>
              </a:ext>
            </a:extLst>
          </p:cNvPr>
          <p:cNvSpPr>
            <a:spLocks noGrp="1"/>
          </p:cNvSpPr>
          <p:nvPr>
            <p:ph type="pic" sz="quarter" idx="10"/>
          </p:nvPr>
        </p:nvSpPr>
        <p:spPr>
          <a:xfrm>
            <a:off x="0" y="0"/>
            <a:ext cx="4054072" cy="6858000"/>
          </a:xfrm>
          <a:solidFill>
            <a:schemeClr val="bg1">
              <a:lumMod val="95000"/>
            </a:schemeClr>
          </a:solidFill>
        </p:spPr>
        <p:txBody>
          <a:bodyPr/>
          <a:lstStyle/>
          <a:p>
            <a:endParaRPr lang="en-US"/>
          </a:p>
        </p:txBody>
      </p:sp>
    </p:spTree>
    <p:extLst>
      <p:ext uri="{BB962C8B-B14F-4D97-AF65-F5344CB8AC3E}">
        <p14:creationId xmlns:p14="http://schemas.microsoft.com/office/powerpoint/2010/main" val="3264918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E9132D6-0004-C34B-A570-7AECE0027133}"/>
              </a:ext>
            </a:extLst>
          </p:cNvPr>
          <p:cNvSpPr>
            <a:spLocks noGrp="1"/>
          </p:cNvSpPr>
          <p:nvPr>
            <p:ph type="pic" sz="quarter" idx="10"/>
          </p:nvPr>
        </p:nvSpPr>
        <p:spPr>
          <a:xfrm>
            <a:off x="0" y="0"/>
            <a:ext cx="12192000" cy="3429000"/>
          </a:xfrm>
          <a:solidFill>
            <a:schemeClr val="bg1">
              <a:lumMod val="95000"/>
            </a:schemeClr>
          </a:solidFill>
        </p:spPr>
        <p:txBody>
          <a:bodyPr/>
          <a:lstStyle/>
          <a:p>
            <a:endParaRPr lang="en-US"/>
          </a:p>
        </p:txBody>
      </p:sp>
    </p:spTree>
    <p:extLst>
      <p:ext uri="{BB962C8B-B14F-4D97-AF65-F5344CB8AC3E}">
        <p14:creationId xmlns:p14="http://schemas.microsoft.com/office/powerpoint/2010/main" val="3540066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E90DA5-CAD5-481B-8712-A095D76885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9B7A75-45C5-437A-87B6-663EDB0A25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116B8C-2D4B-428C-81C0-C1ABC9A20B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1DFB9E-125D-442A-ABC4-28B673A52FED}" type="datetimeFigureOut">
              <a:rPr lang="en-US" smtClean="0"/>
              <a:t>21-May-26</a:t>
            </a:fld>
            <a:endParaRPr lang="en-US"/>
          </a:p>
        </p:txBody>
      </p:sp>
      <p:sp>
        <p:nvSpPr>
          <p:cNvPr id="5" name="Footer Placeholder 4">
            <a:extLst>
              <a:ext uri="{FF2B5EF4-FFF2-40B4-BE49-F238E27FC236}">
                <a16:creationId xmlns:a16="http://schemas.microsoft.com/office/drawing/2014/main" id="{0951CF06-3A84-4154-8A53-8FD5D0555E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C07F578-5598-4E5C-AF99-A8A278A065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E7027-5DF2-40C5-B603-019854B01238}" type="slidenum">
              <a:rPr lang="en-US" smtClean="0"/>
              <a:t>‹#›</a:t>
            </a:fld>
            <a:endParaRPr lang="en-US"/>
          </a:p>
        </p:txBody>
      </p:sp>
    </p:spTree>
    <p:extLst>
      <p:ext uri="{BB962C8B-B14F-4D97-AF65-F5344CB8AC3E}">
        <p14:creationId xmlns:p14="http://schemas.microsoft.com/office/powerpoint/2010/main" val="211615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kaggle.com/datasets/hossamfarhoud/wa-fn-usec-telco-customer-chur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4.sv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B9D433-D88F-43DB-983A-FB1F8CEFA9B8}"/>
              </a:ext>
            </a:extLst>
          </p:cNvPr>
          <p:cNvSpPr/>
          <p:nvPr/>
        </p:nvSpPr>
        <p:spPr>
          <a:xfrm>
            <a:off x="1690615" y="3136612"/>
            <a:ext cx="8957901" cy="584775"/>
          </a:xfrm>
          <a:prstGeom prst="rect">
            <a:avLst/>
          </a:prstGeom>
        </p:spPr>
        <p:txBody>
          <a:bodyPr wrap="none">
            <a:spAutoFit/>
          </a:bodyPr>
          <a:lstStyle/>
          <a:p>
            <a:r>
              <a:rPr lang="en-US" altLang="en-US" sz="3200" b="1" dirty="0">
                <a:latin typeface="Tahoma" panose="020B0604030504040204" pitchFamily="34" charset="0"/>
                <a:ea typeface="Tahoma" panose="020B0604030504040204" pitchFamily="34" charset="0"/>
                <a:cs typeface="Tahoma" panose="020B0604030504040204" pitchFamily="34" charset="0"/>
              </a:rPr>
              <a:t>Customer Churn Analysis in Telco Industry</a:t>
            </a:r>
            <a:endParaRPr lang="en-US" sz="3200" b="1" dirty="0">
              <a:latin typeface="Tahoma" panose="020B0604030504040204" pitchFamily="34" charset="0"/>
              <a:ea typeface="Tahoma" panose="020B0604030504040204" pitchFamily="34" charset="0"/>
              <a:cs typeface="Tahoma" panose="020B0604030504040204" pitchFamily="34" charset="0"/>
            </a:endParaRPr>
          </a:p>
        </p:txBody>
      </p:sp>
      <p:pic>
        <p:nvPicPr>
          <p:cNvPr id="9" name="Picture 8">
            <a:extLst>
              <a:ext uri="{FF2B5EF4-FFF2-40B4-BE49-F238E27FC236}">
                <a16:creationId xmlns:a16="http://schemas.microsoft.com/office/drawing/2014/main" id="{EAD82D4C-1638-769F-7AB6-4258C5134F36}"/>
              </a:ext>
            </a:extLst>
          </p:cNvPr>
          <p:cNvPicPr>
            <a:picLocks noChangeAspect="1"/>
          </p:cNvPicPr>
          <p:nvPr/>
        </p:nvPicPr>
        <p:blipFill>
          <a:blip r:embed="rId2"/>
          <a:stretch>
            <a:fillRect/>
          </a:stretch>
        </p:blipFill>
        <p:spPr>
          <a:xfrm>
            <a:off x="212539" y="254664"/>
            <a:ext cx="1779634" cy="738866"/>
          </a:xfrm>
          <a:prstGeom prst="rect">
            <a:avLst/>
          </a:prstGeom>
        </p:spPr>
      </p:pic>
      <p:pic>
        <p:nvPicPr>
          <p:cNvPr id="10" name="Picture 2" descr="Home">
            <a:extLst>
              <a:ext uri="{FF2B5EF4-FFF2-40B4-BE49-F238E27FC236}">
                <a16:creationId xmlns:a16="http://schemas.microsoft.com/office/drawing/2014/main" id="{A44FC301-382C-DC19-8519-1CB139849F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2785" y="254664"/>
            <a:ext cx="1581150" cy="738866"/>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1E638273-94D6-DF98-98FE-6C3734A99BCC}"/>
              </a:ext>
            </a:extLst>
          </p:cNvPr>
          <p:cNvSpPr/>
          <p:nvPr/>
        </p:nvSpPr>
        <p:spPr>
          <a:xfrm>
            <a:off x="3474929" y="960418"/>
            <a:ext cx="5242141" cy="584775"/>
          </a:xfrm>
          <a:prstGeom prst="rect">
            <a:avLst/>
          </a:prstGeom>
        </p:spPr>
        <p:txBody>
          <a:bodyPr wrap="none">
            <a:spAutoFit/>
          </a:bodyPr>
          <a:lstStyle/>
          <a:p>
            <a:r>
              <a:rPr lang="en-US" sz="3200" b="1" dirty="0">
                <a:latin typeface="Tahoma" panose="020B0604030504040204" pitchFamily="34" charset="0"/>
                <a:ea typeface="Tahoma" panose="020B0604030504040204" pitchFamily="34" charset="0"/>
                <a:cs typeface="Tahoma" panose="020B0604030504040204" pitchFamily="34" charset="0"/>
              </a:rPr>
              <a:t>DEPI Graduation Project</a:t>
            </a:r>
          </a:p>
        </p:txBody>
      </p:sp>
      <p:sp>
        <p:nvSpPr>
          <p:cNvPr id="12" name="Rectangle 11">
            <a:extLst>
              <a:ext uri="{FF2B5EF4-FFF2-40B4-BE49-F238E27FC236}">
                <a16:creationId xmlns:a16="http://schemas.microsoft.com/office/drawing/2014/main" id="{59A2510A-8425-DB23-1B63-B66F58393313}"/>
              </a:ext>
            </a:extLst>
          </p:cNvPr>
          <p:cNvSpPr/>
          <p:nvPr/>
        </p:nvSpPr>
        <p:spPr>
          <a:xfrm>
            <a:off x="4473429" y="1731081"/>
            <a:ext cx="3332964" cy="400110"/>
          </a:xfrm>
          <a:prstGeom prst="rect">
            <a:avLst/>
          </a:prstGeom>
        </p:spPr>
        <p:txBody>
          <a:bodyPr wrap="none">
            <a:spAutoFit/>
          </a:bodyPr>
          <a:lstStyle/>
          <a:p>
            <a:r>
              <a:rPr lang="en-US" sz="2000" b="1" dirty="0">
                <a:latin typeface="Tahoma" panose="020B0604030504040204" pitchFamily="34" charset="0"/>
                <a:ea typeface="Tahoma" panose="020B0604030504040204" pitchFamily="34" charset="0"/>
                <a:cs typeface="Tahoma" panose="020B0604030504040204" pitchFamily="34" charset="0"/>
              </a:rPr>
              <a:t>ROUND : CAI4_AIS4_G2</a:t>
            </a:r>
          </a:p>
        </p:txBody>
      </p:sp>
      <p:sp>
        <p:nvSpPr>
          <p:cNvPr id="13" name="Rectangle 12">
            <a:extLst>
              <a:ext uri="{FF2B5EF4-FFF2-40B4-BE49-F238E27FC236}">
                <a16:creationId xmlns:a16="http://schemas.microsoft.com/office/drawing/2014/main" id="{698F3FE7-1B7B-338F-960A-61A8ACD9657B}"/>
              </a:ext>
            </a:extLst>
          </p:cNvPr>
          <p:cNvSpPr/>
          <p:nvPr/>
        </p:nvSpPr>
        <p:spPr>
          <a:xfrm>
            <a:off x="5378324" y="2364727"/>
            <a:ext cx="1523174" cy="400110"/>
          </a:xfrm>
          <a:prstGeom prst="rect">
            <a:avLst/>
          </a:prstGeom>
        </p:spPr>
        <p:txBody>
          <a:bodyPr wrap="none">
            <a:spAutoFit/>
          </a:bodyPr>
          <a:lstStyle/>
          <a:p>
            <a:r>
              <a:rPr lang="en-US" sz="2000" b="1" dirty="0">
                <a:latin typeface="Tahoma" panose="020B0604030504040204" pitchFamily="34" charset="0"/>
                <a:ea typeface="Tahoma" panose="020B0604030504040204" pitchFamily="34" charset="0"/>
                <a:cs typeface="Tahoma" panose="020B0604030504040204" pitchFamily="34" charset="0"/>
              </a:rPr>
              <a:t>GROUP : 1</a:t>
            </a:r>
          </a:p>
        </p:txBody>
      </p:sp>
      <p:sp>
        <p:nvSpPr>
          <p:cNvPr id="15" name="Rectangle 14">
            <a:extLst>
              <a:ext uri="{FF2B5EF4-FFF2-40B4-BE49-F238E27FC236}">
                <a16:creationId xmlns:a16="http://schemas.microsoft.com/office/drawing/2014/main" id="{847FA424-FAC5-19DF-7786-101B9B506287}"/>
              </a:ext>
            </a:extLst>
          </p:cNvPr>
          <p:cNvSpPr/>
          <p:nvPr/>
        </p:nvSpPr>
        <p:spPr>
          <a:xfrm>
            <a:off x="5722968" y="4298153"/>
            <a:ext cx="893193" cy="400110"/>
          </a:xfrm>
          <a:prstGeom prst="rect">
            <a:avLst/>
          </a:prstGeom>
        </p:spPr>
        <p:txBody>
          <a:bodyPr wrap="none">
            <a:spAutoFit/>
          </a:bodyPr>
          <a:lstStyle/>
          <a:p>
            <a:r>
              <a:rPr lang="en-US" sz="2000" b="1" dirty="0">
                <a:latin typeface="Tahoma" panose="020B0604030504040204" pitchFamily="34" charset="0"/>
                <a:ea typeface="Tahoma" panose="020B0604030504040204" pitchFamily="34" charset="0"/>
                <a:cs typeface="Tahoma" panose="020B0604030504040204" pitchFamily="34" charset="0"/>
              </a:rPr>
              <a:t>Team</a:t>
            </a:r>
          </a:p>
        </p:txBody>
      </p:sp>
      <p:sp>
        <p:nvSpPr>
          <p:cNvPr id="16" name="Rectangle 15">
            <a:extLst>
              <a:ext uri="{FF2B5EF4-FFF2-40B4-BE49-F238E27FC236}">
                <a16:creationId xmlns:a16="http://schemas.microsoft.com/office/drawing/2014/main" id="{74C28B5A-985E-C2F7-BF6A-CB66B3E2E314}"/>
              </a:ext>
            </a:extLst>
          </p:cNvPr>
          <p:cNvSpPr/>
          <p:nvPr/>
        </p:nvSpPr>
        <p:spPr>
          <a:xfrm>
            <a:off x="2389218" y="5079975"/>
            <a:ext cx="893193" cy="400110"/>
          </a:xfrm>
          <a:prstGeom prst="rect">
            <a:avLst/>
          </a:prstGeom>
        </p:spPr>
        <p:txBody>
          <a:bodyPr wrap="none">
            <a:spAutoFit/>
          </a:bodyPr>
          <a:lstStyle/>
          <a:p>
            <a:r>
              <a:rPr lang="en-US" sz="2000" b="1" dirty="0">
                <a:latin typeface="Tahoma" panose="020B0604030504040204" pitchFamily="34" charset="0"/>
                <a:ea typeface="Tahoma" panose="020B0604030504040204" pitchFamily="34" charset="0"/>
                <a:cs typeface="Tahoma" panose="020B0604030504040204" pitchFamily="34" charset="0"/>
              </a:rPr>
              <a:t>Team</a:t>
            </a:r>
          </a:p>
        </p:txBody>
      </p:sp>
      <p:sp>
        <p:nvSpPr>
          <p:cNvPr id="17" name="Rectangle 16">
            <a:extLst>
              <a:ext uri="{FF2B5EF4-FFF2-40B4-BE49-F238E27FC236}">
                <a16:creationId xmlns:a16="http://schemas.microsoft.com/office/drawing/2014/main" id="{6AAE2A78-BCE2-84CE-775F-10BA25E21E5A}"/>
              </a:ext>
            </a:extLst>
          </p:cNvPr>
          <p:cNvSpPr/>
          <p:nvPr/>
        </p:nvSpPr>
        <p:spPr>
          <a:xfrm>
            <a:off x="2389217" y="6013425"/>
            <a:ext cx="893193" cy="400110"/>
          </a:xfrm>
          <a:prstGeom prst="rect">
            <a:avLst/>
          </a:prstGeom>
        </p:spPr>
        <p:txBody>
          <a:bodyPr wrap="none">
            <a:spAutoFit/>
          </a:bodyPr>
          <a:lstStyle/>
          <a:p>
            <a:r>
              <a:rPr lang="en-US" sz="2000" b="1" dirty="0">
                <a:latin typeface="Tahoma" panose="020B0604030504040204" pitchFamily="34" charset="0"/>
                <a:ea typeface="Tahoma" panose="020B0604030504040204" pitchFamily="34" charset="0"/>
                <a:cs typeface="Tahoma" panose="020B0604030504040204" pitchFamily="34" charset="0"/>
              </a:rPr>
              <a:t>Team</a:t>
            </a:r>
          </a:p>
        </p:txBody>
      </p:sp>
      <p:sp>
        <p:nvSpPr>
          <p:cNvPr id="18" name="Rectangle 17">
            <a:extLst>
              <a:ext uri="{FF2B5EF4-FFF2-40B4-BE49-F238E27FC236}">
                <a16:creationId xmlns:a16="http://schemas.microsoft.com/office/drawing/2014/main" id="{C85A1759-BEEA-BCE5-A8C9-621BEDD36548}"/>
              </a:ext>
            </a:extLst>
          </p:cNvPr>
          <p:cNvSpPr/>
          <p:nvPr/>
        </p:nvSpPr>
        <p:spPr>
          <a:xfrm>
            <a:off x="9140015" y="5079975"/>
            <a:ext cx="1325533" cy="400110"/>
          </a:xfrm>
          <a:prstGeom prst="rect">
            <a:avLst/>
          </a:prstGeom>
        </p:spPr>
        <p:txBody>
          <a:bodyPr wrap="square">
            <a:spAutoFit/>
          </a:bodyPr>
          <a:lstStyle/>
          <a:p>
            <a:r>
              <a:rPr lang="en-US" sz="2000" b="1" dirty="0">
                <a:latin typeface="Tahoma" panose="020B0604030504040204" pitchFamily="34" charset="0"/>
                <a:ea typeface="Tahoma" panose="020B0604030504040204" pitchFamily="34" charset="0"/>
                <a:cs typeface="Tahoma" panose="020B0604030504040204" pitchFamily="34" charset="0"/>
              </a:rPr>
              <a:t>Team</a:t>
            </a:r>
          </a:p>
        </p:txBody>
      </p:sp>
      <p:sp>
        <p:nvSpPr>
          <p:cNvPr id="19" name="Rectangle 18">
            <a:extLst>
              <a:ext uri="{FF2B5EF4-FFF2-40B4-BE49-F238E27FC236}">
                <a16:creationId xmlns:a16="http://schemas.microsoft.com/office/drawing/2014/main" id="{945074D6-D902-DFD1-54F2-7C9CAE6E16D9}"/>
              </a:ext>
            </a:extLst>
          </p:cNvPr>
          <p:cNvSpPr/>
          <p:nvPr/>
        </p:nvSpPr>
        <p:spPr>
          <a:xfrm>
            <a:off x="9140014" y="6013425"/>
            <a:ext cx="1325533" cy="400110"/>
          </a:xfrm>
          <a:prstGeom prst="rect">
            <a:avLst/>
          </a:prstGeom>
        </p:spPr>
        <p:txBody>
          <a:bodyPr wrap="square">
            <a:spAutoFit/>
          </a:bodyPr>
          <a:lstStyle/>
          <a:p>
            <a:r>
              <a:rPr lang="en-US" sz="2000" b="1" dirty="0">
                <a:latin typeface="Tahoma" panose="020B0604030504040204" pitchFamily="34" charset="0"/>
                <a:ea typeface="Tahoma" panose="020B0604030504040204" pitchFamily="34" charset="0"/>
                <a:cs typeface="Tahoma" panose="020B0604030504040204" pitchFamily="34" charset="0"/>
              </a:rPr>
              <a:t>Team</a:t>
            </a:r>
          </a:p>
        </p:txBody>
      </p:sp>
    </p:spTree>
    <p:extLst>
      <p:ext uri="{BB962C8B-B14F-4D97-AF65-F5344CB8AC3E}">
        <p14:creationId xmlns:p14="http://schemas.microsoft.com/office/powerpoint/2010/main" val="2491226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55E52-C4F0-19ED-6097-A121B4925777}"/>
              </a:ext>
            </a:extLst>
          </p:cNvPr>
          <p:cNvSpPr>
            <a:spLocks noGrp="1"/>
          </p:cNvSpPr>
          <p:nvPr>
            <p:ph type="title"/>
          </p:nvPr>
        </p:nvSpPr>
        <p:spPr/>
        <p:txBody>
          <a:bodyPr/>
          <a:lstStyle/>
          <a:p>
            <a:endParaRPr lang="en-US"/>
          </a:p>
        </p:txBody>
      </p:sp>
      <p:pic>
        <p:nvPicPr>
          <p:cNvPr id="2050" name="Picture 2" descr="https://miro.medium.com/v2/resize:fit:700/0*vz_yu4mZ6Y69XSZg.png">
            <a:extLst>
              <a:ext uri="{FF2B5EF4-FFF2-40B4-BE49-F238E27FC236}">
                <a16:creationId xmlns:a16="http://schemas.microsoft.com/office/drawing/2014/main" id="{55ED882A-BA5A-4879-A49A-40E6B599C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1029" y="2853928"/>
            <a:ext cx="3885977" cy="266139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481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Placeholder 33">
            <a:extLst>
              <a:ext uri="{FF2B5EF4-FFF2-40B4-BE49-F238E27FC236}">
                <a16:creationId xmlns:a16="http://schemas.microsoft.com/office/drawing/2014/main" id="{881463A5-889B-024C-847C-15EF14B39645}"/>
              </a:ext>
            </a:extLst>
          </p:cNvPr>
          <p:cNvPicPr>
            <a:picLocks noGrp="1" noChangeAspect="1"/>
          </p:cNvPicPr>
          <p:nvPr>
            <p:ph type="pic" sz="quarter" idx="10"/>
          </p:nvPr>
        </p:nvPicPr>
        <p:blipFill rotWithShape="1">
          <a:blip r:embed="rId2" cstate="hqprint">
            <a:extLst>
              <a:ext uri="{28A0092B-C50C-407E-A947-70E740481C1C}">
                <a14:useLocalDpi xmlns:a14="http://schemas.microsoft.com/office/drawing/2010/main"/>
              </a:ext>
            </a:extLst>
          </a:blip>
          <a:srcRect/>
          <a:stretch/>
        </p:blipFill>
        <p:spPr>
          <a:xfrm>
            <a:off x="1588" y="0"/>
            <a:ext cx="4053017" cy="6858000"/>
          </a:xfrm>
        </p:spPr>
      </p:pic>
      <p:sp>
        <p:nvSpPr>
          <p:cNvPr id="13" name="TextBox 12">
            <a:extLst>
              <a:ext uri="{FF2B5EF4-FFF2-40B4-BE49-F238E27FC236}">
                <a16:creationId xmlns:a16="http://schemas.microsoft.com/office/drawing/2014/main" id="{99CE8E20-ACA3-3A44-B5A3-DBF3E541B2B9}"/>
              </a:ext>
            </a:extLst>
          </p:cNvPr>
          <p:cNvSpPr txBox="1"/>
          <p:nvPr/>
        </p:nvSpPr>
        <p:spPr>
          <a:xfrm>
            <a:off x="7186565" y="383724"/>
            <a:ext cx="1638589" cy="553998"/>
          </a:xfrm>
          <a:prstGeom prst="rect">
            <a:avLst/>
          </a:prstGeom>
          <a:noFill/>
        </p:spPr>
        <p:txBody>
          <a:bodyPr wrap="none" rtlCol="0">
            <a:spAutoFit/>
          </a:bodyPr>
          <a:lstStyle/>
          <a:p>
            <a:pPr algn="ctr"/>
            <a:r>
              <a:rPr lang="en-US" sz="3000" b="1" dirty="0">
                <a:solidFill>
                  <a:schemeClr val="tx2"/>
                </a:solidFill>
                <a:latin typeface="Tahoma" panose="020B0604030504040204" pitchFamily="34" charset="0"/>
                <a:ea typeface="Tahoma" panose="020B0604030504040204" pitchFamily="34" charset="0"/>
                <a:cs typeface="Tahoma" panose="020B0604030504040204" pitchFamily="34" charset="0"/>
              </a:rPr>
              <a:t>Agenda</a:t>
            </a:r>
          </a:p>
        </p:txBody>
      </p:sp>
      <p:sp>
        <p:nvSpPr>
          <p:cNvPr id="6" name="Diamond 5">
            <a:extLst>
              <a:ext uri="{FF2B5EF4-FFF2-40B4-BE49-F238E27FC236}">
                <a16:creationId xmlns:a16="http://schemas.microsoft.com/office/drawing/2014/main" id="{D75AB539-68A9-3C4B-B57C-4B023BAA9F3A}"/>
              </a:ext>
            </a:extLst>
          </p:cNvPr>
          <p:cNvSpPr/>
          <p:nvPr/>
        </p:nvSpPr>
        <p:spPr>
          <a:xfrm>
            <a:off x="3535621" y="1493772"/>
            <a:ext cx="1037967" cy="1037967"/>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Tahoma" panose="020B0604030504040204" pitchFamily="34" charset="0"/>
              <a:ea typeface="Tahoma" panose="020B0604030504040204" pitchFamily="34" charset="0"/>
              <a:cs typeface="Tahoma" panose="020B0604030504040204" pitchFamily="34" charset="0"/>
            </a:endParaRPr>
          </a:p>
        </p:txBody>
      </p:sp>
      <p:sp>
        <p:nvSpPr>
          <p:cNvPr id="10" name="Diamond 9">
            <a:extLst>
              <a:ext uri="{FF2B5EF4-FFF2-40B4-BE49-F238E27FC236}">
                <a16:creationId xmlns:a16="http://schemas.microsoft.com/office/drawing/2014/main" id="{BFCE72D1-9595-B548-9B7A-3AB6307C5326}"/>
              </a:ext>
            </a:extLst>
          </p:cNvPr>
          <p:cNvSpPr/>
          <p:nvPr/>
        </p:nvSpPr>
        <p:spPr>
          <a:xfrm>
            <a:off x="3535621" y="2804011"/>
            <a:ext cx="1037967" cy="1037967"/>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Tahoma" panose="020B0604030504040204" pitchFamily="34" charset="0"/>
              <a:ea typeface="Tahoma" panose="020B0604030504040204" pitchFamily="34" charset="0"/>
              <a:cs typeface="Tahoma" panose="020B0604030504040204" pitchFamily="34" charset="0"/>
            </a:endParaRPr>
          </a:p>
        </p:txBody>
      </p:sp>
      <p:sp>
        <p:nvSpPr>
          <p:cNvPr id="11" name="Diamond 10">
            <a:extLst>
              <a:ext uri="{FF2B5EF4-FFF2-40B4-BE49-F238E27FC236}">
                <a16:creationId xmlns:a16="http://schemas.microsoft.com/office/drawing/2014/main" id="{6A05D8C9-5455-EA48-8E04-21E0F5A2CAF0}"/>
              </a:ext>
            </a:extLst>
          </p:cNvPr>
          <p:cNvSpPr/>
          <p:nvPr/>
        </p:nvSpPr>
        <p:spPr>
          <a:xfrm>
            <a:off x="3535621" y="4114250"/>
            <a:ext cx="1037967" cy="1037967"/>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Tahoma" panose="020B0604030504040204" pitchFamily="34" charset="0"/>
              <a:ea typeface="Tahoma" panose="020B0604030504040204" pitchFamily="34" charset="0"/>
              <a:cs typeface="Tahoma" panose="020B0604030504040204" pitchFamily="34" charset="0"/>
            </a:endParaRPr>
          </a:p>
        </p:txBody>
      </p:sp>
      <p:sp>
        <p:nvSpPr>
          <p:cNvPr id="12" name="Diamond 11">
            <a:extLst>
              <a:ext uri="{FF2B5EF4-FFF2-40B4-BE49-F238E27FC236}">
                <a16:creationId xmlns:a16="http://schemas.microsoft.com/office/drawing/2014/main" id="{4EA92EBE-3574-CF4B-A0BC-50832EA98EB8}"/>
              </a:ext>
            </a:extLst>
          </p:cNvPr>
          <p:cNvSpPr/>
          <p:nvPr/>
        </p:nvSpPr>
        <p:spPr>
          <a:xfrm>
            <a:off x="3535621" y="5424488"/>
            <a:ext cx="1037967" cy="1037967"/>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Tahoma" panose="020B0604030504040204" pitchFamily="34" charset="0"/>
              <a:ea typeface="Tahoma" panose="020B0604030504040204" pitchFamily="34" charset="0"/>
              <a:cs typeface="Tahoma" panose="020B0604030504040204" pitchFamily="34" charset="0"/>
            </a:endParaRPr>
          </a:p>
        </p:txBody>
      </p:sp>
      <p:sp>
        <p:nvSpPr>
          <p:cNvPr id="15" name="TextBox 14">
            <a:extLst>
              <a:ext uri="{FF2B5EF4-FFF2-40B4-BE49-F238E27FC236}">
                <a16:creationId xmlns:a16="http://schemas.microsoft.com/office/drawing/2014/main" id="{683459D4-4AF6-6F47-8BB4-1CA1BBA68B26}"/>
              </a:ext>
            </a:extLst>
          </p:cNvPr>
          <p:cNvSpPr txBox="1"/>
          <p:nvPr/>
        </p:nvSpPr>
        <p:spPr>
          <a:xfrm>
            <a:off x="4694359" y="2984440"/>
            <a:ext cx="5761514" cy="615553"/>
          </a:xfrm>
          <a:prstGeom prst="rect">
            <a:avLst/>
          </a:prstGeom>
          <a:noFill/>
        </p:spPr>
        <p:txBody>
          <a:bodyPr wrap="none" rtlCol="0" anchor="b" anchorCtr="0">
            <a:spAutoFit/>
          </a:bodyPr>
          <a:lstStyle/>
          <a:p>
            <a:r>
              <a:rPr lang="en-US" sz="1600" b="1" dirty="0">
                <a:solidFill>
                  <a:schemeClr val="tx2"/>
                </a:solidFill>
                <a:latin typeface="Tahoma" panose="020B0604030504040204" pitchFamily="34" charset="0"/>
                <a:ea typeface="Tahoma" panose="020B0604030504040204" pitchFamily="34" charset="0"/>
                <a:cs typeface="Tahoma" panose="020B0604030504040204" pitchFamily="34" charset="0"/>
              </a:rPr>
              <a:t>Milestone 1 : </a:t>
            </a:r>
            <a:endParaRPr lang="en-US" dirty="0">
              <a:latin typeface="Tahoma" panose="020B0604030504040204" pitchFamily="34" charset="0"/>
              <a:ea typeface="Tahoma" panose="020B0604030504040204" pitchFamily="34" charset="0"/>
              <a:cs typeface="Tahoma" panose="020B0604030504040204" pitchFamily="34" charset="0"/>
            </a:endParaRPr>
          </a:p>
          <a:p>
            <a:r>
              <a:rPr lang="en-US" b="1" dirty="0">
                <a:latin typeface="Tahoma" panose="020B0604030504040204" pitchFamily="34" charset="0"/>
                <a:ea typeface="Tahoma" panose="020B0604030504040204" pitchFamily="34" charset="0"/>
                <a:cs typeface="Tahoma" panose="020B0604030504040204" pitchFamily="34" charset="0"/>
              </a:rPr>
              <a:t>Data Collection, Exploration, and Preprocessing </a:t>
            </a:r>
            <a:endParaRPr lang="en-US" sz="1600" b="1" dirty="0">
              <a:solidFill>
                <a:schemeClr val="tx2"/>
              </a:solidFill>
              <a:latin typeface="Tahoma" panose="020B0604030504040204" pitchFamily="34" charset="0"/>
              <a:ea typeface="Tahoma" panose="020B0604030504040204" pitchFamily="34" charset="0"/>
              <a:cs typeface="Tahoma" panose="020B0604030504040204" pitchFamily="34" charset="0"/>
            </a:endParaRPr>
          </a:p>
        </p:txBody>
      </p:sp>
      <p:sp>
        <p:nvSpPr>
          <p:cNvPr id="26" name="TextBox 25">
            <a:extLst>
              <a:ext uri="{FF2B5EF4-FFF2-40B4-BE49-F238E27FC236}">
                <a16:creationId xmlns:a16="http://schemas.microsoft.com/office/drawing/2014/main" id="{8B171435-CE3B-DA48-ABAF-76E18E9E7D13}"/>
              </a:ext>
            </a:extLst>
          </p:cNvPr>
          <p:cNvSpPr txBox="1"/>
          <p:nvPr/>
        </p:nvSpPr>
        <p:spPr>
          <a:xfrm>
            <a:off x="3839641" y="1735756"/>
            <a:ext cx="429926" cy="553998"/>
          </a:xfrm>
          <a:prstGeom prst="rect">
            <a:avLst/>
          </a:prstGeom>
          <a:noFill/>
        </p:spPr>
        <p:txBody>
          <a:bodyPr wrap="none" rtlCol="0" anchor="ctr" anchorCtr="0">
            <a:spAutoFit/>
          </a:bodyPr>
          <a:lstStyle/>
          <a:p>
            <a:pPr algn="ctr"/>
            <a:r>
              <a:rPr lang="en-US" sz="3000" b="1" dirty="0">
                <a:solidFill>
                  <a:schemeClr val="bg1"/>
                </a:solidFill>
                <a:latin typeface="Tahoma" panose="020B0604030504040204" pitchFamily="34" charset="0"/>
                <a:ea typeface="Tahoma" panose="020B0604030504040204" pitchFamily="34" charset="0"/>
                <a:cs typeface="Tahoma" panose="020B0604030504040204" pitchFamily="34" charset="0"/>
              </a:rPr>
              <a:t>1</a:t>
            </a:r>
          </a:p>
        </p:txBody>
      </p:sp>
      <p:sp>
        <p:nvSpPr>
          <p:cNvPr id="27" name="TextBox 26">
            <a:extLst>
              <a:ext uri="{FF2B5EF4-FFF2-40B4-BE49-F238E27FC236}">
                <a16:creationId xmlns:a16="http://schemas.microsoft.com/office/drawing/2014/main" id="{D2EDFA74-273E-6741-9B19-FEDEFBFA1B5C}"/>
              </a:ext>
            </a:extLst>
          </p:cNvPr>
          <p:cNvSpPr txBox="1"/>
          <p:nvPr/>
        </p:nvSpPr>
        <p:spPr>
          <a:xfrm>
            <a:off x="3839642" y="3045995"/>
            <a:ext cx="429926" cy="553998"/>
          </a:xfrm>
          <a:prstGeom prst="rect">
            <a:avLst/>
          </a:prstGeom>
          <a:noFill/>
        </p:spPr>
        <p:txBody>
          <a:bodyPr wrap="none" rtlCol="0" anchor="ctr" anchorCtr="0">
            <a:spAutoFit/>
          </a:bodyPr>
          <a:lstStyle/>
          <a:p>
            <a:pPr algn="ctr"/>
            <a:r>
              <a:rPr lang="en-US" sz="3000" b="1" dirty="0">
                <a:solidFill>
                  <a:schemeClr val="bg1"/>
                </a:solidFill>
                <a:latin typeface="Tahoma" panose="020B0604030504040204" pitchFamily="34" charset="0"/>
                <a:ea typeface="Tahoma" panose="020B0604030504040204" pitchFamily="34" charset="0"/>
                <a:cs typeface="Tahoma" panose="020B0604030504040204" pitchFamily="34" charset="0"/>
              </a:rPr>
              <a:t>2</a:t>
            </a:r>
          </a:p>
        </p:txBody>
      </p:sp>
      <p:sp>
        <p:nvSpPr>
          <p:cNvPr id="28" name="TextBox 27">
            <a:extLst>
              <a:ext uri="{FF2B5EF4-FFF2-40B4-BE49-F238E27FC236}">
                <a16:creationId xmlns:a16="http://schemas.microsoft.com/office/drawing/2014/main" id="{1792AAC7-9301-134C-88BB-2FEEB9D9B9C1}"/>
              </a:ext>
            </a:extLst>
          </p:cNvPr>
          <p:cNvSpPr txBox="1"/>
          <p:nvPr/>
        </p:nvSpPr>
        <p:spPr>
          <a:xfrm>
            <a:off x="3839642" y="4356234"/>
            <a:ext cx="429926" cy="553998"/>
          </a:xfrm>
          <a:prstGeom prst="rect">
            <a:avLst/>
          </a:prstGeom>
          <a:noFill/>
        </p:spPr>
        <p:txBody>
          <a:bodyPr wrap="none" rtlCol="0" anchor="ctr" anchorCtr="0">
            <a:spAutoFit/>
          </a:bodyPr>
          <a:lstStyle/>
          <a:p>
            <a:pPr algn="ctr"/>
            <a:r>
              <a:rPr lang="en-US" sz="3000" b="1" dirty="0">
                <a:solidFill>
                  <a:schemeClr val="bg1"/>
                </a:solidFill>
                <a:latin typeface="Tahoma" panose="020B0604030504040204" pitchFamily="34" charset="0"/>
                <a:ea typeface="Tahoma" panose="020B0604030504040204" pitchFamily="34" charset="0"/>
                <a:cs typeface="Tahoma" panose="020B0604030504040204" pitchFamily="34" charset="0"/>
              </a:rPr>
              <a:t>3</a:t>
            </a:r>
          </a:p>
        </p:txBody>
      </p:sp>
      <p:sp>
        <p:nvSpPr>
          <p:cNvPr id="29" name="TextBox 28">
            <a:extLst>
              <a:ext uri="{FF2B5EF4-FFF2-40B4-BE49-F238E27FC236}">
                <a16:creationId xmlns:a16="http://schemas.microsoft.com/office/drawing/2014/main" id="{B7ACDA49-4331-6540-A832-1EA4CFC38BA8}"/>
              </a:ext>
            </a:extLst>
          </p:cNvPr>
          <p:cNvSpPr txBox="1"/>
          <p:nvPr/>
        </p:nvSpPr>
        <p:spPr>
          <a:xfrm>
            <a:off x="3839641" y="5666473"/>
            <a:ext cx="429926" cy="553998"/>
          </a:xfrm>
          <a:prstGeom prst="rect">
            <a:avLst/>
          </a:prstGeom>
          <a:noFill/>
        </p:spPr>
        <p:txBody>
          <a:bodyPr wrap="none" rtlCol="0" anchor="ctr" anchorCtr="0">
            <a:spAutoFit/>
          </a:bodyPr>
          <a:lstStyle/>
          <a:p>
            <a:pPr algn="ctr"/>
            <a:r>
              <a:rPr lang="en-US" sz="3000" b="1" dirty="0">
                <a:solidFill>
                  <a:schemeClr val="bg1"/>
                </a:solidFill>
                <a:latin typeface="Tahoma" panose="020B0604030504040204" pitchFamily="34" charset="0"/>
                <a:ea typeface="Tahoma" panose="020B0604030504040204" pitchFamily="34" charset="0"/>
                <a:cs typeface="Tahoma" panose="020B0604030504040204" pitchFamily="34" charset="0"/>
              </a:rPr>
              <a:t>4</a:t>
            </a:r>
          </a:p>
        </p:txBody>
      </p:sp>
      <p:sp>
        <p:nvSpPr>
          <p:cNvPr id="2" name="TextBox 1">
            <a:extLst>
              <a:ext uri="{FF2B5EF4-FFF2-40B4-BE49-F238E27FC236}">
                <a16:creationId xmlns:a16="http://schemas.microsoft.com/office/drawing/2014/main" id="{BF4E8DB0-26DF-A9A4-1067-C834730727DA}"/>
              </a:ext>
            </a:extLst>
          </p:cNvPr>
          <p:cNvSpPr txBox="1"/>
          <p:nvPr/>
        </p:nvSpPr>
        <p:spPr>
          <a:xfrm>
            <a:off x="4721417" y="1843478"/>
            <a:ext cx="1500732" cy="338554"/>
          </a:xfrm>
          <a:prstGeom prst="rect">
            <a:avLst/>
          </a:prstGeom>
          <a:noFill/>
        </p:spPr>
        <p:txBody>
          <a:bodyPr wrap="none" rtlCol="0" anchor="b" anchorCtr="0">
            <a:spAutoFit/>
          </a:bodyPr>
          <a:lstStyle/>
          <a:p>
            <a:r>
              <a:rPr lang="en-US" sz="1600" b="1" dirty="0">
                <a:solidFill>
                  <a:schemeClr val="tx2"/>
                </a:solidFill>
                <a:latin typeface="Tahoma" panose="020B0604030504040204" pitchFamily="34" charset="0"/>
                <a:ea typeface="Tahoma" panose="020B0604030504040204" pitchFamily="34" charset="0"/>
                <a:cs typeface="Tahoma" panose="020B0604030504040204" pitchFamily="34" charset="0"/>
              </a:rPr>
              <a:t>Introduction</a:t>
            </a:r>
          </a:p>
        </p:txBody>
      </p:sp>
      <p:sp>
        <p:nvSpPr>
          <p:cNvPr id="3" name="TextBox 2">
            <a:extLst>
              <a:ext uri="{FF2B5EF4-FFF2-40B4-BE49-F238E27FC236}">
                <a16:creationId xmlns:a16="http://schemas.microsoft.com/office/drawing/2014/main" id="{7376525F-CCF3-6CA2-8534-3363718728CF}"/>
              </a:ext>
            </a:extLst>
          </p:cNvPr>
          <p:cNvSpPr txBox="1"/>
          <p:nvPr/>
        </p:nvSpPr>
        <p:spPr>
          <a:xfrm>
            <a:off x="4694359" y="4392793"/>
            <a:ext cx="5928226" cy="615553"/>
          </a:xfrm>
          <a:prstGeom prst="rect">
            <a:avLst/>
          </a:prstGeom>
          <a:noFill/>
        </p:spPr>
        <p:txBody>
          <a:bodyPr wrap="none" rtlCol="0" anchor="b" anchorCtr="0">
            <a:spAutoFit/>
          </a:bodyPr>
          <a:lstStyle/>
          <a:p>
            <a:r>
              <a:rPr lang="en-US" sz="1600" b="1" dirty="0">
                <a:solidFill>
                  <a:schemeClr val="tx2"/>
                </a:solidFill>
                <a:latin typeface="Tahoma" panose="020B0604030504040204" pitchFamily="34" charset="0"/>
                <a:ea typeface="Tahoma" panose="020B0604030504040204" pitchFamily="34" charset="0"/>
                <a:cs typeface="Tahoma" panose="020B0604030504040204" pitchFamily="34" charset="0"/>
              </a:rPr>
              <a:t>Milestone 2 : </a:t>
            </a:r>
            <a:endParaRPr lang="en-US" dirty="0">
              <a:latin typeface="Tahoma" panose="020B0604030504040204" pitchFamily="34" charset="0"/>
              <a:ea typeface="Tahoma" panose="020B0604030504040204" pitchFamily="34" charset="0"/>
              <a:cs typeface="Tahoma" panose="020B0604030504040204" pitchFamily="34" charset="0"/>
            </a:endParaRPr>
          </a:p>
          <a:p>
            <a:r>
              <a:rPr lang="en-US" b="1" dirty="0">
                <a:latin typeface="Tahoma" panose="020B0604030504040204" pitchFamily="34" charset="0"/>
                <a:ea typeface="Tahoma" panose="020B0604030504040204" pitchFamily="34" charset="0"/>
                <a:cs typeface="Tahoma" panose="020B0604030504040204" pitchFamily="34" charset="0"/>
              </a:rPr>
              <a:t>Advanced Data Analysis and Feature Engineering </a:t>
            </a:r>
            <a:endParaRPr lang="en-US" sz="1600" b="1" dirty="0">
              <a:solidFill>
                <a:schemeClr val="tx2"/>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10930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Placeholder 43">
            <a:extLst>
              <a:ext uri="{FF2B5EF4-FFF2-40B4-BE49-F238E27FC236}">
                <a16:creationId xmlns:a16="http://schemas.microsoft.com/office/drawing/2014/main" id="{17587D1B-4629-4E4C-8DD3-806F2BC46332}"/>
              </a:ext>
            </a:extLst>
          </p:cNvPr>
          <p:cNvPicPr>
            <a:picLocks noGrp="1" noChangeAspect="1"/>
          </p:cNvPicPr>
          <p:nvPr>
            <p:ph type="pic" sz="quarter" idx="10"/>
          </p:nvPr>
        </p:nvPicPr>
        <p:blipFill rotWithShape="1">
          <a:blip r:embed="rId2" cstate="hqprint">
            <a:extLst>
              <a:ext uri="{28A0092B-C50C-407E-A947-70E740481C1C}">
                <a14:useLocalDpi xmlns:a14="http://schemas.microsoft.com/office/drawing/2010/main"/>
              </a:ext>
            </a:extLst>
          </a:blip>
          <a:srcRect/>
          <a:stretch/>
        </p:blipFill>
        <p:spPr>
          <a:xfrm>
            <a:off x="1588" y="0"/>
            <a:ext cx="12188825" cy="3429000"/>
          </a:xfrm>
        </p:spPr>
      </p:pic>
      <p:sp>
        <p:nvSpPr>
          <p:cNvPr id="45" name="Rectangle 44">
            <a:extLst>
              <a:ext uri="{FF2B5EF4-FFF2-40B4-BE49-F238E27FC236}">
                <a16:creationId xmlns:a16="http://schemas.microsoft.com/office/drawing/2014/main" id="{CCCFD0A8-C5D2-B34A-9F96-2B7A7A7C947D}"/>
              </a:ext>
            </a:extLst>
          </p:cNvPr>
          <p:cNvSpPr/>
          <p:nvPr/>
        </p:nvSpPr>
        <p:spPr>
          <a:xfrm>
            <a:off x="1588" y="0"/>
            <a:ext cx="12188825" cy="3429000"/>
          </a:xfrm>
          <a:prstGeom prst="rect">
            <a:avLst/>
          </a:prstGeom>
          <a:solidFill>
            <a:schemeClr val="accent6">
              <a:lumMod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riangle 7">
            <a:extLst>
              <a:ext uri="{FF2B5EF4-FFF2-40B4-BE49-F238E27FC236}">
                <a16:creationId xmlns:a16="http://schemas.microsoft.com/office/drawing/2014/main" id="{A62B5974-184A-0F42-ACAC-B27F7CD2C6B1}"/>
              </a:ext>
            </a:extLst>
          </p:cNvPr>
          <p:cNvSpPr/>
          <p:nvPr/>
        </p:nvSpPr>
        <p:spPr>
          <a:xfrm rot="10800000">
            <a:off x="1381614" y="3007380"/>
            <a:ext cx="1322173" cy="113980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riangle 8">
            <a:extLst>
              <a:ext uri="{FF2B5EF4-FFF2-40B4-BE49-F238E27FC236}">
                <a16:creationId xmlns:a16="http://schemas.microsoft.com/office/drawing/2014/main" id="{8F5CF707-5998-0D4F-957D-AC47822309A0}"/>
              </a:ext>
            </a:extLst>
          </p:cNvPr>
          <p:cNvSpPr/>
          <p:nvPr/>
        </p:nvSpPr>
        <p:spPr>
          <a:xfrm rot="10800000">
            <a:off x="4083814" y="3007380"/>
            <a:ext cx="1322173" cy="1139805"/>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Triangle 9">
            <a:extLst>
              <a:ext uri="{FF2B5EF4-FFF2-40B4-BE49-F238E27FC236}">
                <a16:creationId xmlns:a16="http://schemas.microsoft.com/office/drawing/2014/main" id="{B3A3E237-5F1C-F343-AD3B-A6E44CE645B8}"/>
              </a:ext>
            </a:extLst>
          </p:cNvPr>
          <p:cNvSpPr/>
          <p:nvPr/>
        </p:nvSpPr>
        <p:spPr>
          <a:xfrm rot="10800000">
            <a:off x="6786013" y="3007380"/>
            <a:ext cx="1322173" cy="1139805"/>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Triangle 10">
            <a:extLst>
              <a:ext uri="{FF2B5EF4-FFF2-40B4-BE49-F238E27FC236}">
                <a16:creationId xmlns:a16="http://schemas.microsoft.com/office/drawing/2014/main" id="{2E6A4EFE-37E1-6A45-8E90-F93E94E0982C}"/>
              </a:ext>
            </a:extLst>
          </p:cNvPr>
          <p:cNvSpPr/>
          <p:nvPr/>
        </p:nvSpPr>
        <p:spPr>
          <a:xfrm rot="10800000">
            <a:off x="9488213" y="3007380"/>
            <a:ext cx="1322173" cy="1139805"/>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TextBox 11">
            <a:extLst>
              <a:ext uri="{FF2B5EF4-FFF2-40B4-BE49-F238E27FC236}">
                <a16:creationId xmlns:a16="http://schemas.microsoft.com/office/drawing/2014/main" id="{9BA586AE-EE05-8E4B-BE7E-CFD3B5049A1D}"/>
              </a:ext>
            </a:extLst>
          </p:cNvPr>
          <p:cNvSpPr txBox="1"/>
          <p:nvPr/>
        </p:nvSpPr>
        <p:spPr>
          <a:xfrm>
            <a:off x="1854989"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1</a:t>
            </a:r>
          </a:p>
        </p:txBody>
      </p:sp>
      <p:sp>
        <p:nvSpPr>
          <p:cNvPr id="13" name="TextBox 12">
            <a:extLst>
              <a:ext uri="{FF2B5EF4-FFF2-40B4-BE49-F238E27FC236}">
                <a16:creationId xmlns:a16="http://schemas.microsoft.com/office/drawing/2014/main" id="{B4AD8CBC-664F-0944-9F12-9B05130C05CD}"/>
              </a:ext>
            </a:extLst>
          </p:cNvPr>
          <p:cNvSpPr txBox="1"/>
          <p:nvPr/>
        </p:nvSpPr>
        <p:spPr>
          <a:xfrm>
            <a:off x="4557188"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2</a:t>
            </a:r>
          </a:p>
        </p:txBody>
      </p:sp>
      <p:sp>
        <p:nvSpPr>
          <p:cNvPr id="14" name="TextBox 13">
            <a:extLst>
              <a:ext uri="{FF2B5EF4-FFF2-40B4-BE49-F238E27FC236}">
                <a16:creationId xmlns:a16="http://schemas.microsoft.com/office/drawing/2014/main" id="{21F3C510-168E-2149-A827-45F2DEA04763}"/>
              </a:ext>
            </a:extLst>
          </p:cNvPr>
          <p:cNvSpPr txBox="1"/>
          <p:nvPr/>
        </p:nvSpPr>
        <p:spPr>
          <a:xfrm>
            <a:off x="7259388"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3</a:t>
            </a:r>
          </a:p>
        </p:txBody>
      </p:sp>
      <p:sp>
        <p:nvSpPr>
          <p:cNvPr id="16" name="TextBox 15">
            <a:extLst>
              <a:ext uri="{FF2B5EF4-FFF2-40B4-BE49-F238E27FC236}">
                <a16:creationId xmlns:a16="http://schemas.microsoft.com/office/drawing/2014/main" id="{FBCF2C2B-7716-2C4D-9693-0BB887A3BF94}"/>
              </a:ext>
            </a:extLst>
          </p:cNvPr>
          <p:cNvSpPr txBox="1"/>
          <p:nvPr/>
        </p:nvSpPr>
        <p:spPr>
          <a:xfrm>
            <a:off x="9961587"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4</a:t>
            </a:r>
          </a:p>
        </p:txBody>
      </p:sp>
      <p:sp>
        <p:nvSpPr>
          <p:cNvPr id="22" name="TextBox 21">
            <a:extLst>
              <a:ext uri="{FF2B5EF4-FFF2-40B4-BE49-F238E27FC236}">
                <a16:creationId xmlns:a16="http://schemas.microsoft.com/office/drawing/2014/main" id="{89776E29-0DD7-47D2-A6A1-E4B6FB82E8E7}"/>
              </a:ext>
            </a:extLst>
          </p:cNvPr>
          <p:cNvSpPr txBox="1"/>
          <p:nvPr/>
        </p:nvSpPr>
        <p:spPr>
          <a:xfrm>
            <a:off x="1380261" y="4504682"/>
            <a:ext cx="1500732" cy="338554"/>
          </a:xfrm>
          <a:prstGeom prst="rect">
            <a:avLst/>
          </a:prstGeom>
          <a:noFill/>
        </p:spPr>
        <p:txBody>
          <a:bodyPr wrap="none" rtlCol="0" anchor="b" anchorCtr="0">
            <a:spAutoFit/>
          </a:bodyPr>
          <a:lstStyle/>
          <a:p>
            <a:r>
              <a:rPr lang="en-US" sz="1600" b="1" dirty="0">
                <a:latin typeface="Poppins" pitchFamily="2" charset="77"/>
              </a:rPr>
              <a:t>Introduction</a:t>
            </a:r>
          </a:p>
        </p:txBody>
      </p:sp>
      <p:sp>
        <p:nvSpPr>
          <p:cNvPr id="23" name="TextBox 22">
            <a:extLst>
              <a:ext uri="{FF2B5EF4-FFF2-40B4-BE49-F238E27FC236}">
                <a16:creationId xmlns:a16="http://schemas.microsoft.com/office/drawing/2014/main" id="{79C30C5A-DF8D-4CB5-9E3F-52961CA69DC1}"/>
              </a:ext>
            </a:extLst>
          </p:cNvPr>
          <p:cNvSpPr txBox="1"/>
          <p:nvPr/>
        </p:nvSpPr>
        <p:spPr>
          <a:xfrm>
            <a:off x="4077089" y="4524275"/>
            <a:ext cx="1335622" cy="338554"/>
          </a:xfrm>
          <a:prstGeom prst="rect">
            <a:avLst/>
          </a:prstGeom>
          <a:noFill/>
        </p:spPr>
        <p:txBody>
          <a:bodyPr wrap="none" rtlCol="0" anchor="b" anchorCtr="0">
            <a:spAutoFit/>
          </a:bodyPr>
          <a:lstStyle/>
          <a:p>
            <a:r>
              <a:rPr lang="en-US" sz="1600" b="1" dirty="0">
                <a:solidFill>
                  <a:schemeClr val="bg1">
                    <a:lumMod val="75000"/>
                  </a:schemeClr>
                </a:solidFill>
                <a:latin typeface="Poppins" pitchFamily="2" charset="77"/>
                <a:cs typeface="Poppins" pitchFamily="2" charset="77"/>
              </a:rPr>
              <a:t>Milestone 1</a:t>
            </a:r>
          </a:p>
        </p:txBody>
      </p:sp>
      <p:sp>
        <p:nvSpPr>
          <p:cNvPr id="2" name="TextBox 1">
            <a:extLst>
              <a:ext uri="{FF2B5EF4-FFF2-40B4-BE49-F238E27FC236}">
                <a16:creationId xmlns:a16="http://schemas.microsoft.com/office/drawing/2014/main" id="{93C6AD77-2294-8A40-FA6F-33A0A245E549}"/>
              </a:ext>
            </a:extLst>
          </p:cNvPr>
          <p:cNvSpPr txBox="1"/>
          <p:nvPr/>
        </p:nvSpPr>
        <p:spPr>
          <a:xfrm>
            <a:off x="6732488" y="4524275"/>
            <a:ext cx="1375698" cy="338554"/>
          </a:xfrm>
          <a:prstGeom prst="rect">
            <a:avLst/>
          </a:prstGeom>
          <a:noFill/>
        </p:spPr>
        <p:txBody>
          <a:bodyPr wrap="none" rtlCol="0" anchor="b" anchorCtr="0">
            <a:spAutoFit/>
          </a:bodyPr>
          <a:lstStyle/>
          <a:p>
            <a:r>
              <a:rPr lang="en-US" sz="1600" b="1" dirty="0">
                <a:solidFill>
                  <a:schemeClr val="bg1">
                    <a:lumMod val="75000"/>
                  </a:schemeClr>
                </a:solidFill>
                <a:latin typeface="Poppins" pitchFamily="2" charset="77"/>
                <a:cs typeface="Poppins" pitchFamily="2" charset="77"/>
              </a:rPr>
              <a:t>Milestone 2</a:t>
            </a:r>
          </a:p>
        </p:txBody>
      </p:sp>
      <p:sp>
        <p:nvSpPr>
          <p:cNvPr id="3" name="TextBox 2">
            <a:extLst>
              <a:ext uri="{FF2B5EF4-FFF2-40B4-BE49-F238E27FC236}">
                <a16:creationId xmlns:a16="http://schemas.microsoft.com/office/drawing/2014/main" id="{C189D921-6B57-0A80-F688-4E18D427F43B}"/>
              </a:ext>
            </a:extLst>
          </p:cNvPr>
          <p:cNvSpPr txBox="1"/>
          <p:nvPr/>
        </p:nvSpPr>
        <p:spPr>
          <a:xfrm>
            <a:off x="9376504" y="4524275"/>
            <a:ext cx="1382110" cy="338554"/>
          </a:xfrm>
          <a:prstGeom prst="rect">
            <a:avLst/>
          </a:prstGeom>
          <a:noFill/>
        </p:spPr>
        <p:txBody>
          <a:bodyPr wrap="none" rtlCol="0" anchor="b" anchorCtr="0">
            <a:spAutoFit/>
          </a:bodyPr>
          <a:lstStyle/>
          <a:p>
            <a:r>
              <a:rPr lang="en-US" sz="1600" b="1" dirty="0">
                <a:solidFill>
                  <a:schemeClr val="bg1">
                    <a:lumMod val="75000"/>
                  </a:schemeClr>
                </a:solidFill>
                <a:latin typeface="Poppins" pitchFamily="2" charset="77"/>
                <a:cs typeface="Poppins" pitchFamily="2" charset="77"/>
              </a:rPr>
              <a:t>Milestone 3</a:t>
            </a:r>
          </a:p>
        </p:txBody>
      </p:sp>
      <p:sp>
        <p:nvSpPr>
          <p:cNvPr id="7" name="TextBox 6">
            <a:extLst>
              <a:ext uri="{FF2B5EF4-FFF2-40B4-BE49-F238E27FC236}">
                <a16:creationId xmlns:a16="http://schemas.microsoft.com/office/drawing/2014/main" id="{72D8357F-36D3-8013-8AEB-51F78EC12077}"/>
              </a:ext>
            </a:extLst>
          </p:cNvPr>
          <p:cNvSpPr txBox="1"/>
          <p:nvPr/>
        </p:nvSpPr>
        <p:spPr>
          <a:xfrm>
            <a:off x="-540628" y="1105697"/>
            <a:ext cx="13273255" cy="830997"/>
          </a:xfrm>
          <a:prstGeom prst="rect">
            <a:avLst/>
          </a:prstGeom>
          <a:noFill/>
        </p:spPr>
        <p:txBody>
          <a:bodyPr wrap="square" rtlCol="0">
            <a:spAutoFit/>
          </a:bodyPr>
          <a:lstStyle/>
          <a:p>
            <a:pPr algn="ctr"/>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Introduction</a:t>
            </a:r>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77791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0E7C70-605D-4EF2-92C1-4453D85205B0}"/>
              </a:ext>
            </a:extLst>
          </p:cNvPr>
          <p:cNvSpPr>
            <a:spLocks noChangeArrowheads="1"/>
          </p:cNvSpPr>
          <p:nvPr/>
        </p:nvSpPr>
        <p:spPr bwMode="auto">
          <a:xfrm>
            <a:off x="484545" y="1250266"/>
            <a:ext cx="11222909" cy="2118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algn="just" eaLnBrk="0" fontAlgn="base" hangingPunct="0">
              <a:lnSpc>
                <a:spcPct val="150000"/>
              </a:lnSpc>
              <a:spcBef>
                <a:spcPct val="0"/>
              </a:spcBef>
              <a:spcAft>
                <a:spcPct val="0"/>
              </a:spcAft>
            </a:pPr>
            <a:r>
              <a:rPr lang="en-US" dirty="0">
                <a:latin typeface="Tahoma" panose="020B0604030504040204" pitchFamily="34" charset="0"/>
                <a:ea typeface="Tahoma" panose="020B0604030504040204" pitchFamily="34" charset="0"/>
                <a:cs typeface="Tahoma" panose="020B0604030504040204" pitchFamily="34" charset="0"/>
              </a:rPr>
              <a:t>Customer churn, also known as customer attrition, refers to the departure of customers or subscribers for any reason. Businesses monitor churn by calculating the percentage of lost customers relative to the total customer base within a specific timeframe. This metric is typically measured on a monthly basis and reported at the end of each month.</a:t>
            </a:r>
            <a:endParaRPr lang="en-US" altLang="en-US" dirty="0">
              <a:latin typeface="Tahoma" panose="020B0604030504040204" pitchFamily="34" charset="0"/>
              <a:ea typeface="Tahoma" panose="020B0604030504040204" pitchFamily="34" charset="0"/>
              <a:cs typeface="Tahoma" panose="020B0604030504040204" pitchFamily="34"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3" name="Rectangle 2">
            <a:extLst>
              <a:ext uri="{FF2B5EF4-FFF2-40B4-BE49-F238E27FC236}">
                <a16:creationId xmlns:a16="http://schemas.microsoft.com/office/drawing/2014/main" id="{F81D2507-F3C7-42C8-BE59-0631227C6F36}"/>
              </a:ext>
            </a:extLst>
          </p:cNvPr>
          <p:cNvSpPr/>
          <p:nvPr/>
        </p:nvSpPr>
        <p:spPr>
          <a:xfrm>
            <a:off x="362309" y="239141"/>
            <a:ext cx="4802918" cy="584775"/>
          </a:xfrm>
          <a:prstGeom prst="rect">
            <a:avLst/>
          </a:prstGeom>
        </p:spPr>
        <p:txBody>
          <a:bodyPr wrap="none">
            <a:spAutoFit/>
          </a:bodyPr>
          <a:lstStyle/>
          <a:p>
            <a:r>
              <a:rPr lang="en-US" altLang="en-US" sz="3200" dirty="0">
                <a:solidFill>
                  <a:srgbClr val="535353"/>
                </a:solidFill>
                <a:latin typeface="Tahoma" panose="020B0604030504040204" pitchFamily="34" charset="0"/>
                <a:ea typeface="Tahoma" panose="020B0604030504040204" pitchFamily="34" charset="0"/>
                <a:cs typeface="Tahoma" panose="020B0604030504040204" pitchFamily="34" charset="0"/>
              </a:rPr>
              <a:t>What is Customer Churn?</a:t>
            </a:r>
            <a:endParaRPr lang="en-US" sz="3200" dirty="0">
              <a:solidFill>
                <a:srgbClr val="535353"/>
              </a:solidFill>
              <a:latin typeface="Tahoma" panose="020B0604030504040204" pitchFamily="34" charset="0"/>
              <a:ea typeface="Tahoma" panose="020B0604030504040204" pitchFamily="34" charset="0"/>
              <a:cs typeface="Tahoma" panose="020B0604030504040204" pitchFamily="34" charset="0"/>
            </a:endParaRPr>
          </a:p>
        </p:txBody>
      </p:sp>
      <p:sp>
        <p:nvSpPr>
          <p:cNvPr id="4" name="Rectangle 3">
            <a:extLst>
              <a:ext uri="{FF2B5EF4-FFF2-40B4-BE49-F238E27FC236}">
                <a16:creationId xmlns:a16="http://schemas.microsoft.com/office/drawing/2014/main" id="{4FDA9BE2-C6BD-4ADE-9E97-8847FC2764B9}"/>
              </a:ext>
            </a:extLst>
          </p:cNvPr>
          <p:cNvSpPr/>
          <p:nvPr/>
        </p:nvSpPr>
        <p:spPr>
          <a:xfrm>
            <a:off x="1404793" y="4587203"/>
            <a:ext cx="2627642" cy="369332"/>
          </a:xfrm>
          <a:prstGeom prst="rect">
            <a:avLst/>
          </a:prstGeom>
        </p:spPr>
        <p:txBody>
          <a:bodyPr wrap="none">
            <a:spAutoFit/>
          </a:bodyPr>
          <a:lstStyle/>
          <a:p>
            <a:r>
              <a:rPr lang="en-US" dirty="0">
                <a:latin typeface="Tahoma" panose="020B0604030504040204" pitchFamily="34" charset="0"/>
                <a:ea typeface="Tahoma" panose="020B0604030504040204" pitchFamily="34" charset="0"/>
                <a:cs typeface="Tahoma" panose="020B0604030504040204" pitchFamily="34" charset="0"/>
              </a:rPr>
              <a:t>Customer Churn Rate =</a:t>
            </a:r>
          </a:p>
        </p:txBody>
      </p:sp>
      <p:sp>
        <p:nvSpPr>
          <p:cNvPr id="6" name="Rectangle 5">
            <a:extLst>
              <a:ext uri="{FF2B5EF4-FFF2-40B4-BE49-F238E27FC236}">
                <a16:creationId xmlns:a16="http://schemas.microsoft.com/office/drawing/2014/main" id="{865CFB42-26F7-4290-B01A-C16C28C75B6E}"/>
              </a:ext>
            </a:extLst>
          </p:cNvPr>
          <p:cNvSpPr/>
          <p:nvPr/>
        </p:nvSpPr>
        <p:spPr>
          <a:xfrm>
            <a:off x="4373499" y="4369854"/>
            <a:ext cx="4678397" cy="369332"/>
          </a:xfrm>
          <a:prstGeom prst="rect">
            <a:avLst/>
          </a:prstGeom>
        </p:spPr>
        <p:txBody>
          <a:bodyPr wrap="none">
            <a:spAutoFit/>
          </a:bodyPr>
          <a:lstStyle/>
          <a:p>
            <a:r>
              <a:rPr lang="en-US" dirty="0">
                <a:latin typeface="Tahoma" panose="020B0604030504040204" pitchFamily="34" charset="0"/>
                <a:ea typeface="Tahoma" panose="020B0604030504040204" pitchFamily="34" charset="0"/>
                <a:cs typeface="Tahoma" panose="020B0604030504040204" pitchFamily="34" charset="0"/>
              </a:rPr>
              <a:t># of churned customers over a given period</a:t>
            </a:r>
          </a:p>
        </p:txBody>
      </p:sp>
      <p:sp>
        <p:nvSpPr>
          <p:cNvPr id="8" name="Rectangle 7">
            <a:extLst>
              <a:ext uri="{FF2B5EF4-FFF2-40B4-BE49-F238E27FC236}">
                <a16:creationId xmlns:a16="http://schemas.microsoft.com/office/drawing/2014/main" id="{6328AA34-0E80-4959-9DE2-266803F0F98C}"/>
              </a:ext>
            </a:extLst>
          </p:cNvPr>
          <p:cNvSpPr/>
          <p:nvPr/>
        </p:nvSpPr>
        <p:spPr>
          <a:xfrm>
            <a:off x="4087748" y="4844139"/>
            <a:ext cx="5295745" cy="369332"/>
          </a:xfrm>
          <a:prstGeom prst="rect">
            <a:avLst/>
          </a:prstGeom>
        </p:spPr>
        <p:txBody>
          <a:bodyPr wrap="none">
            <a:spAutoFit/>
          </a:bodyPr>
          <a:lstStyle/>
          <a:p>
            <a:r>
              <a:rPr lang="en-US" dirty="0">
                <a:latin typeface="Tahoma" panose="020B0604030504040204" pitchFamily="34" charset="0"/>
                <a:ea typeface="Tahoma" panose="020B0604030504040204" pitchFamily="34" charset="0"/>
                <a:cs typeface="Tahoma" panose="020B0604030504040204" pitchFamily="34" charset="0"/>
              </a:rPr>
              <a:t>Total # of customers at the beginning o the period</a:t>
            </a:r>
          </a:p>
        </p:txBody>
      </p:sp>
      <p:sp>
        <p:nvSpPr>
          <p:cNvPr id="9" name="Rectangle 8">
            <a:extLst>
              <a:ext uri="{FF2B5EF4-FFF2-40B4-BE49-F238E27FC236}">
                <a16:creationId xmlns:a16="http://schemas.microsoft.com/office/drawing/2014/main" id="{C1B259D5-BC16-49CF-83C4-A53207D63D8C}"/>
              </a:ext>
            </a:extLst>
          </p:cNvPr>
          <p:cNvSpPr/>
          <p:nvPr/>
        </p:nvSpPr>
        <p:spPr>
          <a:xfrm>
            <a:off x="9482014" y="4587203"/>
            <a:ext cx="319318" cy="369332"/>
          </a:xfrm>
          <a:prstGeom prst="rect">
            <a:avLst/>
          </a:prstGeom>
        </p:spPr>
        <p:txBody>
          <a:bodyPr wrap="none">
            <a:spAutoFit/>
          </a:bodyPr>
          <a:lstStyle/>
          <a:p>
            <a:r>
              <a:rPr lang="en-US" dirty="0">
                <a:latin typeface="Tahoma" panose="020B0604030504040204" pitchFamily="34" charset="0"/>
                <a:ea typeface="Tahoma" panose="020B0604030504040204" pitchFamily="34" charset="0"/>
                <a:cs typeface="Tahoma" panose="020B0604030504040204" pitchFamily="34" charset="0"/>
              </a:rPr>
              <a:t>X</a:t>
            </a:r>
          </a:p>
        </p:txBody>
      </p:sp>
      <p:sp>
        <p:nvSpPr>
          <p:cNvPr id="10" name="Rectangle 9">
            <a:extLst>
              <a:ext uri="{FF2B5EF4-FFF2-40B4-BE49-F238E27FC236}">
                <a16:creationId xmlns:a16="http://schemas.microsoft.com/office/drawing/2014/main" id="{A9B3D6B2-D979-4891-9CEF-F93E11CB6652}"/>
              </a:ext>
            </a:extLst>
          </p:cNvPr>
          <p:cNvSpPr/>
          <p:nvPr/>
        </p:nvSpPr>
        <p:spPr>
          <a:xfrm>
            <a:off x="9834007" y="4587203"/>
            <a:ext cx="569387" cy="369332"/>
          </a:xfrm>
          <a:prstGeom prst="rect">
            <a:avLst/>
          </a:prstGeom>
        </p:spPr>
        <p:txBody>
          <a:bodyPr wrap="none">
            <a:spAutoFit/>
          </a:bodyPr>
          <a:lstStyle/>
          <a:p>
            <a:r>
              <a:rPr lang="en-US" dirty="0">
                <a:latin typeface="Tahoma" panose="020B0604030504040204" pitchFamily="34" charset="0"/>
                <a:ea typeface="Tahoma" panose="020B0604030504040204" pitchFamily="34" charset="0"/>
                <a:cs typeface="Tahoma" panose="020B0604030504040204" pitchFamily="34" charset="0"/>
              </a:rPr>
              <a:t>100</a:t>
            </a:r>
          </a:p>
        </p:txBody>
      </p:sp>
      <p:cxnSp>
        <p:nvCxnSpPr>
          <p:cNvPr id="11" name="Straight Connector 10">
            <a:extLst>
              <a:ext uri="{FF2B5EF4-FFF2-40B4-BE49-F238E27FC236}">
                <a16:creationId xmlns:a16="http://schemas.microsoft.com/office/drawing/2014/main" id="{DE2DB05D-42A7-46E4-99E7-8CA331BD83CE}"/>
              </a:ext>
            </a:extLst>
          </p:cNvPr>
          <p:cNvCxnSpPr/>
          <p:nvPr/>
        </p:nvCxnSpPr>
        <p:spPr>
          <a:xfrm>
            <a:off x="4036351" y="4771869"/>
            <a:ext cx="5352691" cy="0"/>
          </a:xfrm>
          <a:prstGeom prst="line">
            <a:avLst/>
          </a:prstGeom>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316338DF-9E95-40F5-B21F-B246B1E28829}"/>
              </a:ext>
            </a:extLst>
          </p:cNvPr>
          <p:cNvSpPr/>
          <p:nvPr/>
        </p:nvSpPr>
        <p:spPr>
          <a:xfrm>
            <a:off x="1233343" y="4160853"/>
            <a:ext cx="9318543" cy="13427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96242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F87B47-5111-4698-2C1C-572C2A7A36B0}"/>
              </a:ext>
            </a:extLst>
          </p:cNvPr>
          <p:cNvSpPr txBox="1"/>
          <p:nvPr/>
        </p:nvSpPr>
        <p:spPr>
          <a:xfrm>
            <a:off x="362309" y="889843"/>
            <a:ext cx="10183483" cy="5078313"/>
          </a:xfrm>
          <a:prstGeom prst="rect">
            <a:avLst/>
          </a:prstGeom>
          <a:noFill/>
        </p:spPr>
        <p:txBody>
          <a:bodyPr wrap="square">
            <a:spAutoFit/>
          </a:bodyPr>
          <a:lstStyle/>
          <a:p>
            <a:pPr>
              <a:buNone/>
            </a:pPr>
            <a:r>
              <a:rPr lang="en-US" b="1" dirty="0">
                <a:latin typeface="Tahoma" panose="020B0604030504040204" pitchFamily="34" charset="0"/>
                <a:ea typeface="Tahoma" panose="020B0604030504040204" pitchFamily="34" charset="0"/>
                <a:cs typeface="Tahoma" panose="020B0604030504040204" pitchFamily="34" charset="0"/>
              </a:rPr>
              <a:t>Business Problem</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Customer churn causes revenue loss and increased acquisition costs. </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Telecom companies need to identify customers likely to leave to take proactive retention measures. </a:t>
            </a:r>
          </a:p>
          <a:p>
            <a:pPr>
              <a:buFont typeface="Arial" panose="020B0604020202020204" pitchFamily="34" charset="0"/>
              <a:buChar char="•"/>
            </a:pPr>
            <a:endParaRPr lang="en-US" dirty="0">
              <a:latin typeface="Tahoma" panose="020B0604030504040204" pitchFamily="34" charset="0"/>
              <a:ea typeface="Tahoma" panose="020B0604030504040204" pitchFamily="34" charset="0"/>
              <a:cs typeface="Tahoma" panose="020B0604030504040204" pitchFamily="34" charset="0"/>
            </a:endParaRPr>
          </a:p>
          <a:p>
            <a:pPr>
              <a:buNone/>
            </a:pPr>
            <a:r>
              <a:rPr lang="en-US" b="1" dirty="0">
                <a:latin typeface="Tahoma" panose="020B0604030504040204" pitchFamily="34" charset="0"/>
                <a:ea typeface="Tahoma" panose="020B0604030504040204" pitchFamily="34" charset="0"/>
                <a:cs typeface="Tahoma" panose="020B0604030504040204" pitchFamily="34" charset="0"/>
              </a:rPr>
              <a:t>Project Objective</a:t>
            </a:r>
          </a:p>
          <a:p>
            <a:r>
              <a:rPr lang="en-US" dirty="0">
                <a:latin typeface="Tahoma" panose="020B0604030504040204" pitchFamily="34" charset="0"/>
                <a:ea typeface="Tahoma" panose="020B0604030504040204" pitchFamily="34" charset="0"/>
                <a:cs typeface="Tahoma" panose="020B0604030504040204" pitchFamily="34" charset="0"/>
              </a:rPr>
              <a:t>Building a machine learning model – utilizing data science techniques such as data collection, exploration, feature engineering, machine learning, etc. – to predict customer churn. </a:t>
            </a:r>
          </a:p>
          <a:p>
            <a:pPr>
              <a:buFont typeface="Arial" panose="020B0604020202020204" pitchFamily="34" charset="0"/>
              <a:buChar char="•"/>
            </a:pPr>
            <a:endParaRPr lang="en-US" dirty="0">
              <a:latin typeface="Tahoma" panose="020B0604030504040204" pitchFamily="34" charset="0"/>
              <a:ea typeface="Tahoma" panose="020B0604030504040204" pitchFamily="34" charset="0"/>
              <a:cs typeface="Tahoma" panose="020B0604030504040204" pitchFamily="34" charset="0"/>
            </a:endParaRPr>
          </a:p>
          <a:p>
            <a:pPr>
              <a:buNone/>
            </a:pPr>
            <a:r>
              <a:rPr lang="en-US" b="1" dirty="0">
                <a:latin typeface="Tahoma" panose="020B0604030504040204" pitchFamily="34" charset="0"/>
                <a:ea typeface="Tahoma" panose="020B0604030504040204" pitchFamily="34" charset="0"/>
                <a:cs typeface="Tahoma" panose="020B0604030504040204" pitchFamily="34" charset="0"/>
              </a:rPr>
              <a:t>Dataset Overview</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Telco Customer Churn Dataset </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7,043 customer records </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Includes: </a:t>
            </a:r>
          </a:p>
          <a:p>
            <a:pPr marL="742950" lvl="1" indent="-28575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Customer demographics </a:t>
            </a:r>
          </a:p>
          <a:p>
            <a:pPr marL="742950" lvl="1" indent="-28575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Service subscriptions </a:t>
            </a:r>
          </a:p>
          <a:p>
            <a:pPr marL="742950" lvl="1" indent="-28575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Contract information </a:t>
            </a:r>
          </a:p>
          <a:p>
            <a:pPr marL="742950" lvl="1" indent="-28575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Billing details </a:t>
            </a:r>
          </a:p>
          <a:p>
            <a:pPr marL="742950" lvl="1" indent="-28575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Churn status</a:t>
            </a:r>
          </a:p>
        </p:txBody>
      </p:sp>
      <p:sp>
        <p:nvSpPr>
          <p:cNvPr id="6" name="Rectangle 5">
            <a:extLst>
              <a:ext uri="{FF2B5EF4-FFF2-40B4-BE49-F238E27FC236}">
                <a16:creationId xmlns:a16="http://schemas.microsoft.com/office/drawing/2014/main" id="{E7907964-C806-D643-DFBA-E5C84D815D2F}"/>
              </a:ext>
            </a:extLst>
          </p:cNvPr>
          <p:cNvSpPr/>
          <p:nvPr/>
        </p:nvSpPr>
        <p:spPr>
          <a:xfrm>
            <a:off x="362309" y="239141"/>
            <a:ext cx="3242811" cy="584775"/>
          </a:xfrm>
          <a:prstGeom prst="rect">
            <a:avLst/>
          </a:prstGeom>
        </p:spPr>
        <p:txBody>
          <a:bodyPr wrap="none">
            <a:spAutoFit/>
          </a:bodyPr>
          <a:lstStyle/>
          <a:p>
            <a:r>
              <a:rPr lang="en-US" altLang="en-US" sz="3200" dirty="0">
                <a:solidFill>
                  <a:srgbClr val="535353"/>
                </a:solidFill>
                <a:latin typeface="Tahoma" panose="020B0604030504040204" pitchFamily="34" charset="0"/>
                <a:ea typeface="Tahoma" panose="020B0604030504040204" pitchFamily="34" charset="0"/>
                <a:cs typeface="Tahoma" panose="020B0604030504040204" pitchFamily="34" charset="0"/>
              </a:rPr>
              <a:t>Project Overview</a:t>
            </a:r>
            <a:endParaRPr lang="en-US" sz="3200" dirty="0">
              <a:solidFill>
                <a:srgbClr val="535353"/>
              </a:solidFill>
              <a:latin typeface="Tahoma" panose="020B0604030504040204" pitchFamily="34" charset="0"/>
              <a:ea typeface="Tahoma" panose="020B0604030504040204" pitchFamily="34" charset="0"/>
              <a:cs typeface="Tahoma" panose="020B0604030504040204" pitchFamily="34" charset="0"/>
            </a:endParaRPr>
          </a:p>
        </p:txBody>
      </p:sp>
      <p:sp>
        <p:nvSpPr>
          <p:cNvPr id="7" name="Rectangle 6">
            <a:extLst>
              <a:ext uri="{FF2B5EF4-FFF2-40B4-BE49-F238E27FC236}">
                <a16:creationId xmlns:a16="http://schemas.microsoft.com/office/drawing/2014/main" id="{D0FEBEAD-44A4-4497-89D7-F0D87C6A3058}"/>
              </a:ext>
            </a:extLst>
          </p:cNvPr>
          <p:cNvSpPr/>
          <p:nvPr/>
        </p:nvSpPr>
        <p:spPr>
          <a:xfrm>
            <a:off x="362309" y="6160404"/>
            <a:ext cx="11222909" cy="369332"/>
          </a:xfrm>
          <a:prstGeom prst="rect">
            <a:avLst/>
          </a:prstGeom>
        </p:spPr>
        <p:txBody>
          <a:bodyPr wrap="square">
            <a:spAutoFit/>
          </a:bodyPr>
          <a:lstStyle/>
          <a:p>
            <a:r>
              <a:rPr lang="en-US" altLang="en-US" b="1" dirty="0">
                <a:latin typeface="Lato-Light"/>
              </a:rPr>
              <a:t>Dataset URL</a:t>
            </a:r>
            <a:r>
              <a:rPr lang="en-US" altLang="en-US" dirty="0">
                <a:latin typeface="Lato-Light"/>
              </a:rPr>
              <a:t>: </a:t>
            </a:r>
            <a:r>
              <a:rPr lang="en-US" altLang="en-US" dirty="0">
                <a:latin typeface="Lato-Light"/>
                <a:hlinkClick r:id="rId2"/>
              </a:rPr>
              <a:t>https://www.kaggle.com/datasets/hossamfarhoud/wa-fn-usec-telco-customer-churn</a:t>
            </a:r>
            <a:endParaRPr lang="en-US" altLang="en-US" dirty="0">
              <a:latin typeface="Lato-Light"/>
            </a:endParaRPr>
          </a:p>
        </p:txBody>
      </p:sp>
    </p:spTree>
    <p:extLst>
      <p:ext uri="{BB962C8B-B14F-4D97-AF65-F5344CB8AC3E}">
        <p14:creationId xmlns:p14="http://schemas.microsoft.com/office/powerpoint/2010/main" val="1298298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C575D-5B03-6D3D-D29F-607E078EA2C8}"/>
            </a:ext>
          </a:extLst>
        </p:cNvPr>
        <p:cNvGrpSpPr/>
        <p:nvPr/>
      </p:nvGrpSpPr>
      <p:grpSpPr>
        <a:xfrm>
          <a:off x="0" y="0"/>
          <a:ext cx="0" cy="0"/>
          <a:chOff x="0" y="0"/>
          <a:chExt cx="0" cy="0"/>
        </a:xfrm>
      </p:grpSpPr>
      <p:pic>
        <p:nvPicPr>
          <p:cNvPr id="44" name="Picture Placeholder 43">
            <a:extLst>
              <a:ext uri="{FF2B5EF4-FFF2-40B4-BE49-F238E27FC236}">
                <a16:creationId xmlns:a16="http://schemas.microsoft.com/office/drawing/2014/main" id="{F6DB2CAB-F601-661B-3428-83A19A1A2AC0}"/>
              </a:ext>
            </a:extLst>
          </p:cNvPr>
          <p:cNvPicPr>
            <a:picLocks noGrp="1" noChangeAspect="1"/>
          </p:cNvPicPr>
          <p:nvPr>
            <p:ph type="pic" sz="quarter" idx="10"/>
          </p:nvPr>
        </p:nvPicPr>
        <p:blipFill rotWithShape="1">
          <a:blip r:embed="rId2" cstate="hqprint">
            <a:extLst>
              <a:ext uri="{28A0092B-C50C-407E-A947-70E740481C1C}">
                <a14:useLocalDpi xmlns:a14="http://schemas.microsoft.com/office/drawing/2010/main"/>
              </a:ext>
            </a:extLst>
          </a:blip>
          <a:srcRect/>
          <a:stretch/>
        </p:blipFill>
        <p:spPr>
          <a:xfrm>
            <a:off x="1588" y="0"/>
            <a:ext cx="12188825" cy="3429000"/>
          </a:xfrm>
        </p:spPr>
      </p:pic>
      <p:sp>
        <p:nvSpPr>
          <p:cNvPr id="45" name="Rectangle 44">
            <a:extLst>
              <a:ext uri="{FF2B5EF4-FFF2-40B4-BE49-F238E27FC236}">
                <a16:creationId xmlns:a16="http://schemas.microsoft.com/office/drawing/2014/main" id="{C7ECCBE1-DDD2-F4D3-5829-42314232851C}"/>
              </a:ext>
            </a:extLst>
          </p:cNvPr>
          <p:cNvSpPr/>
          <p:nvPr/>
        </p:nvSpPr>
        <p:spPr>
          <a:xfrm>
            <a:off x="1588" y="0"/>
            <a:ext cx="12188825" cy="3429000"/>
          </a:xfrm>
          <a:prstGeom prst="rect">
            <a:avLst/>
          </a:prstGeom>
          <a:solidFill>
            <a:schemeClr val="accent6">
              <a:lumMod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riangle 7">
            <a:extLst>
              <a:ext uri="{FF2B5EF4-FFF2-40B4-BE49-F238E27FC236}">
                <a16:creationId xmlns:a16="http://schemas.microsoft.com/office/drawing/2014/main" id="{5503DBA9-0EC3-D089-5CC9-2F9F2CE41F88}"/>
              </a:ext>
            </a:extLst>
          </p:cNvPr>
          <p:cNvSpPr/>
          <p:nvPr/>
        </p:nvSpPr>
        <p:spPr>
          <a:xfrm rot="10800000">
            <a:off x="1381614" y="3007380"/>
            <a:ext cx="1322173" cy="1139805"/>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riangle 8">
            <a:extLst>
              <a:ext uri="{FF2B5EF4-FFF2-40B4-BE49-F238E27FC236}">
                <a16:creationId xmlns:a16="http://schemas.microsoft.com/office/drawing/2014/main" id="{8C2B0AF7-1466-ECF5-0BDB-35DD73DBC2E6}"/>
              </a:ext>
            </a:extLst>
          </p:cNvPr>
          <p:cNvSpPr/>
          <p:nvPr/>
        </p:nvSpPr>
        <p:spPr>
          <a:xfrm rot="10800000">
            <a:off x="4083814" y="3007380"/>
            <a:ext cx="1322173" cy="113980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Triangle 9">
            <a:extLst>
              <a:ext uri="{FF2B5EF4-FFF2-40B4-BE49-F238E27FC236}">
                <a16:creationId xmlns:a16="http://schemas.microsoft.com/office/drawing/2014/main" id="{4839C47E-9496-D239-D4FA-1EB2624071C8}"/>
              </a:ext>
            </a:extLst>
          </p:cNvPr>
          <p:cNvSpPr/>
          <p:nvPr/>
        </p:nvSpPr>
        <p:spPr>
          <a:xfrm rot="10800000">
            <a:off x="6786013" y="3007380"/>
            <a:ext cx="1322173" cy="1139805"/>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Triangle 10">
            <a:extLst>
              <a:ext uri="{FF2B5EF4-FFF2-40B4-BE49-F238E27FC236}">
                <a16:creationId xmlns:a16="http://schemas.microsoft.com/office/drawing/2014/main" id="{C59ACF7F-5270-883D-33B4-CFD73FA8EF59}"/>
              </a:ext>
            </a:extLst>
          </p:cNvPr>
          <p:cNvSpPr/>
          <p:nvPr/>
        </p:nvSpPr>
        <p:spPr>
          <a:xfrm rot="10800000">
            <a:off x="9488213" y="3007380"/>
            <a:ext cx="1322173" cy="1139805"/>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TextBox 11">
            <a:extLst>
              <a:ext uri="{FF2B5EF4-FFF2-40B4-BE49-F238E27FC236}">
                <a16:creationId xmlns:a16="http://schemas.microsoft.com/office/drawing/2014/main" id="{437605BC-C0F6-22F3-6B6B-795806B2BD7B}"/>
              </a:ext>
            </a:extLst>
          </p:cNvPr>
          <p:cNvSpPr txBox="1"/>
          <p:nvPr/>
        </p:nvSpPr>
        <p:spPr>
          <a:xfrm>
            <a:off x="1854989"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1</a:t>
            </a:r>
          </a:p>
        </p:txBody>
      </p:sp>
      <p:sp>
        <p:nvSpPr>
          <p:cNvPr id="13" name="TextBox 12">
            <a:extLst>
              <a:ext uri="{FF2B5EF4-FFF2-40B4-BE49-F238E27FC236}">
                <a16:creationId xmlns:a16="http://schemas.microsoft.com/office/drawing/2014/main" id="{4AA8EC64-3D09-8AC9-E969-B9BC145AE1BC}"/>
              </a:ext>
            </a:extLst>
          </p:cNvPr>
          <p:cNvSpPr txBox="1"/>
          <p:nvPr/>
        </p:nvSpPr>
        <p:spPr>
          <a:xfrm>
            <a:off x="4557188"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2</a:t>
            </a:r>
          </a:p>
        </p:txBody>
      </p:sp>
      <p:sp>
        <p:nvSpPr>
          <p:cNvPr id="14" name="TextBox 13">
            <a:extLst>
              <a:ext uri="{FF2B5EF4-FFF2-40B4-BE49-F238E27FC236}">
                <a16:creationId xmlns:a16="http://schemas.microsoft.com/office/drawing/2014/main" id="{5C554A9B-CC12-C446-695D-0B29005FDC2C}"/>
              </a:ext>
            </a:extLst>
          </p:cNvPr>
          <p:cNvSpPr txBox="1"/>
          <p:nvPr/>
        </p:nvSpPr>
        <p:spPr>
          <a:xfrm>
            <a:off x="7259388"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3</a:t>
            </a:r>
          </a:p>
        </p:txBody>
      </p:sp>
      <p:sp>
        <p:nvSpPr>
          <p:cNvPr id="16" name="TextBox 15">
            <a:extLst>
              <a:ext uri="{FF2B5EF4-FFF2-40B4-BE49-F238E27FC236}">
                <a16:creationId xmlns:a16="http://schemas.microsoft.com/office/drawing/2014/main" id="{242BFAD4-4D05-F0CE-16D7-6F45E21A5889}"/>
              </a:ext>
            </a:extLst>
          </p:cNvPr>
          <p:cNvSpPr txBox="1"/>
          <p:nvPr/>
        </p:nvSpPr>
        <p:spPr>
          <a:xfrm>
            <a:off x="9961587"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4</a:t>
            </a:r>
          </a:p>
        </p:txBody>
      </p:sp>
      <p:sp>
        <p:nvSpPr>
          <p:cNvPr id="6" name="TextBox 5">
            <a:extLst>
              <a:ext uri="{FF2B5EF4-FFF2-40B4-BE49-F238E27FC236}">
                <a16:creationId xmlns:a16="http://schemas.microsoft.com/office/drawing/2014/main" id="{1FCAEF9B-D986-2D01-6FC5-E83B2240A5B3}"/>
              </a:ext>
            </a:extLst>
          </p:cNvPr>
          <p:cNvSpPr txBox="1"/>
          <p:nvPr/>
        </p:nvSpPr>
        <p:spPr>
          <a:xfrm>
            <a:off x="1380261" y="4504682"/>
            <a:ext cx="1500732" cy="338554"/>
          </a:xfrm>
          <a:prstGeom prst="rect">
            <a:avLst/>
          </a:prstGeom>
          <a:noFill/>
        </p:spPr>
        <p:txBody>
          <a:bodyPr wrap="none" rtlCol="0" anchor="b" anchorCtr="0">
            <a:spAutoFit/>
          </a:bodyPr>
          <a:lstStyle/>
          <a:p>
            <a:r>
              <a:rPr lang="en-US" sz="1600" b="1" dirty="0">
                <a:solidFill>
                  <a:schemeClr val="bg1">
                    <a:lumMod val="75000"/>
                  </a:schemeClr>
                </a:solidFill>
                <a:latin typeface="Poppins" pitchFamily="2" charset="77"/>
                <a:cs typeface="Poppins" pitchFamily="2" charset="77"/>
              </a:rPr>
              <a:t>Introduction</a:t>
            </a:r>
          </a:p>
        </p:txBody>
      </p:sp>
      <p:sp>
        <p:nvSpPr>
          <p:cNvPr id="7" name="TextBox 6">
            <a:extLst>
              <a:ext uri="{FF2B5EF4-FFF2-40B4-BE49-F238E27FC236}">
                <a16:creationId xmlns:a16="http://schemas.microsoft.com/office/drawing/2014/main" id="{50794D90-31F8-608F-391D-2FEAFDD07DE5}"/>
              </a:ext>
            </a:extLst>
          </p:cNvPr>
          <p:cNvSpPr txBox="1"/>
          <p:nvPr/>
        </p:nvSpPr>
        <p:spPr>
          <a:xfrm>
            <a:off x="4077089" y="4524275"/>
            <a:ext cx="1335622" cy="338554"/>
          </a:xfrm>
          <a:prstGeom prst="rect">
            <a:avLst/>
          </a:prstGeom>
          <a:noFill/>
        </p:spPr>
        <p:txBody>
          <a:bodyPr wrap="none" rtlCol="0" anchor="b" anchorCtr="0">
            <a:spAutoFit/>
          </a:bodyPr>
          <a:lstStyle/>
          <a:p>
            <a:r>
              <a:rPr lang="en-US" sz="1600" b="1" dirty="0">
                <a:latin typeface="Poppins" pitchFamily="2" charset="77"/>
              </a:rPr>
              <a:t>Milestone 1</a:t>
            </a:r>
          </a:p>
        </p:txBody>
      </p:sp>
      <p:sp>
        <p:nvSpPr>
          <p:cNvPr id="15" name="TextBox 14">
            <a:extLst>
              <a:ext uri="{FF2B5EF4-FFF2-40B4-BE49-F238E27FC236}">
                <a16:creationId xmlns:a16="http://schemas.microsoft.com/office/drawing/2014/main" id="{BED737E7-9B49-B75E-85D2-F628C7426A5B}"/>
              </a:ext>
            </a:extLst>
          </p:cNvPr>
          <p:cNvSpPr txBox="1"/>
          <p:nvPr/>
        </p:nvSpPr>
        <p:spPr>
          <a:xfrm>
            <a:off x="6732488" y="4524275"/>
            <a:ext cx="1375698" cy="338554"/>
          </a:xfrm>
          <a:prstGeom prst="rect">
            <a:avLst/>
          </a:prstGeom>
          <a:noFill/>
        </p:spPr>
        <p:txBody>
          <a:bodyPr wrap="none" rtlCol="0" anchor="b" anchorCtr="0">
            <a:spAutoFit/>
          </a:bodyPr>
          <a:lstStyle/>
          <a:p>
            <a:r>
              <a:rPr lang="en-US" sz="1600" b="1" dirty="0">
                <a:solidFill>
                  <a:schemeClr val="bg1">
                    <a:lumMod val="75000"/>
                  </a:schemeClr>
                </a:solidFill>
                <a:latin typeface="Poppins" pitchFamily="2" charset="77"/>
                <a:cs typeface="Poppins" pitchFamily="2" charset="77"/>
              </a:rPr>
              <a:t>Milestone 2</a:t>
            </a:r>
          </a:p>
        </p:txBody>
      </p:sp>
      <p:sp>
        <p:nvSpPr>
          <p:cNvPr id="17" name="TextBox 16">
            <a:extLst>
              <a:ext uri="{FF2B5EF4-FFF2-40B4-BE49-F238E27FC236}">
                <a16:creationId xmlns:a16="http://schemas.microsoft.com/office/drawing/2014/main" id="{7B273F84-3647-FC11-DE6D-B5CE0AAE59CE}"/>
              </a:ext>
            </a:extLst>
          </p:cNvPr>
          <p:cNvSpPr txBox="1"/>
          <p:nvPr/>
        </p:nvSpPr>
        <p:spPr>
          <a:xfrm>
            <a:off x="9376504" y="4524275"/>
            <a:ext cx="1382110" cy="338554"/>
          </a:xfrm>
          <a:prstGeom prst="rect">
            <a:avLst/>
          </a:prstGeom>
          <a:noFill/>
        </p:spPr>
        <p:txBody>
          <a:bodyPr wrap="none" rtlCol="0" anchor="b" anchorCtr="0">
            <a:spAutoFit/>
          </a:bodyPr>
          <a:lstStyle/>
          <a:p>
            <a:r>
              <a:rPr lang="en-US" sz="1600" b="1" dirty="0">
                <a:solidFill>
                  <a:schemeClr val="bg1">
                    <a:lumMod val="75000"/>
                  </a:schemeClr>
                </a:solidFill>
                <a:latin typeface="Poppins" pitchFamily="2" charset="77"/>
                <a:cs typeface="Poppins" pitchFamily="2" charset="77"/>
              </a:rPr>
              <a:t>Milestone 3</a:t>
            </a:r>
          </a:p>
        </p:txBody>
      </p:sp>
      <p:sp>
        <p:nvSpPr>
          <p:cNvPr id="19" name="TextBox 18">
            <a:extLst>
              <a:ext uri="{FF2B5EF4-FFF2-40B4-BE49-F238E27FC236}">
                <a16:creationId xmlns:a16="http://schemas.microsoft.com/office/drawing/2014/main" id="{4DB4B853-F869-8EA0-0DEF-2FBAB3ABF0CD}"/>
              </a:ext>
            </a:extLst>
          </p:cNvPr>
          <p:cNvSpPr txBox="1"/>
          <p:nvPr/>
        </p:nvSpPr>
        <p:spPr>
          <a:xfrm>
            <a:off x="-540628" y="795143"/>
            <a:ext cx="13273255" cy="1569660"/>
          </a:xfrm>
          <a:prstGeom prst="rect">
            <a:avLst/>
          </a:prstGeom>
          <a:noFill/>
        </p:spPr>
        <p:txBody>
          <a:bodyPr wrap="square" rtlCol="0">
            <a:spAutoFit/>
          </a:bodyPr>
          <a:lstStyle/>
          <a:p>
            <a:pPr algn="ctr"/>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Data Collection, Exploration, and Preprocessing </a:t>
            </a:r>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68260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57F92-508E-093E-43DF-8BF5C516089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AD4712-DA9F-A6BB-127C-D6A9AD5B9ED5}"/>
              </a:ext>
            </a:extLst>
          </p:cNvPr>
          <p:cNvSpPr txBox="1"/>
          <p:nvPr/>
        </p:nvSpPr>
        <p:spPr>
          <a:xfrm>
            <a:off x="362309" y="1070138"/>
            <a:ext cx="6098874" cy="5078313"/>
          </a:xfrm>
          <a:prstGeom prst="rect">
            <a:avLst/>
          </a:prstGeom>
          <a:noFill/>
        </p:spPr>
        <p:txBody>
          <a:bodyPr wrap="square">
            <a:spAutoFit/>
          </a:bodyPr>
          <a:lstStyle/>
          <a:p>
            <a:pPr>
              <a:buNone/>
            </a:pPr>
            <a:r>
              <a:rPr lang="en-US" b="1" dirty="0">
                <a:latin typeface="Tahoma" panose="020B0604030504040204" pitchFamily="34" charset="0"/>
                <a:ea typeface="Tahoma" panose="020B0604030504040204" pitchFamily="34" charset="0"/>
                <a:cs typeface="Tahoma" panose="020B0604030504040204" pitchFamily="34" charset="0"/>
              </a:rPr>
              <a:t>Exploratory Data Analysis (EDA)</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Missing value analysis </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Duplicate detection </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Numerical and categorical analysis </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Distribution analysis </a:t>
            </a:r>
          </a:p>
          <a:p>
            <a:pPr>
              <a:buFont typeface="Arial" panose="020B0604020202020204" pitchFamily="34" charset="0"/>
              <a:buChar char="•"/>
            </a:pPr>
            <a:endParaRPr lang="en-US" dirty="0">
              <a:latin typeface="Tahoma" panose="020B0604030504040204" pitchFamily="34" charset="0"/>
              <a:ea typeface="Tahoma" panose="020B0604030504040204" pitchFamily="34" charset="0"/>
              <a:cs typeface="Tahoma" panose="020B0604030504040204" pitchFamily="34" charset="0"/>
            </a:endParaRPr>
          </a:p>
          <a:p>
            <a:pPr>
              <a:buNone/>
            </a:pPr>
            <a:r>
              <a:rPr lang="en-US" b="1" dirty="0">
                <a:latin typeface="Tahoma" panose="020B0604030504040204" pitchFamily="34" charset="0"/>
                <a:ea typeface="Tahoma" panose="020B0604030504040204" pitchFamily="34" charset="0"/>
                <a:cs typeface="Tahoma" panose="020B0604030504040204" pitchFamily="34" charset="0"/>
              </a:rPr>
              <a:t>Data Cleaning</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Converted some data types to numeric format </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Handled missing values </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Standardized inconsistent categories </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Checked outliers and data consistency</a:t>
            </a:r>
          </a:p>
          <a:p>
            <a:pPr>
              <a:buFont typeface="Arial" panose="020B0604020202020204" pitchFamily="34" charset="0"/>
              <a:buChar char="•"/>
            </a:pPr>
            <a:endParaRPr lang="en-US" dirty="0">
              <a:latin typeface="Tahoma" panose="020B0604030504040204" pitchFamily="34" charset="0"/>
              <a:ea typeface="Tahoma" panose="020B0604030504040204" pitchFamily="34" charset="0"/>
              <a:cs typeface="Tahoma" panose="020B0604030504040204" pitchFamily="34" charset="0"/>
            </a:endParaRPr>
          </a:p>
          <a:p>
            <a:pPr>
              <a:buNone/>
            </a:pPr>
            <a:r>
              <a:rPr lang="en-US" b="1" dirty="0">
                <a:latin typeface="Tahoma" panose="020B0604030504040204" pitchFamily="34" charset="0"/>
                <a:ea typeface="Tahoma" panose="020B0604030504040204" pitchFamily="34" charset="0"/>
                <a:cs typeface="Tahoma" panose="020B0604030504040204" pitchFamily="34" charset="0"/>
              </a:rPr>
              <a:t>Visualizations Used</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Bar Charts</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Pie Charts</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Histograms </a:t>
            </a:r>
          </a:p>
          <a:p>
            <a:pPr>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Boxplots </a:t>
            </a:r>
          </a:p>
          <a:p>
            <a:pPr>
              <a:buFont typeface="Arial" panose="020B0604020202020204" pitchFamily="34" charset="0"/>
              <a:buChar char="•"/>
            </a:pP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Rectangle 3">
            <a:extLst>
              <a:ext uri="{FF2B5EF4-FFF2-40B4-BE49-F238E27FC236}">
                <a16:creationId xmlns:a16="http://schemas.microsoft.com/office/drawing/2014/main" id="{9FFB5F03-5C37-5279-C70D-F5AD6713A42C}"/>
              </a:ext>
            </a:extLst>
          </p:cNvPr>
          <p:cNvSpPr/>
          <p:nvPr/>
        </p:nvSpPr>
        <p:spPr>
          <a:xfrm>
            <a:off x="362309" y="292930"/>
            <a:ext cx="11335411" cy="584775"/>
          </a:xfrm>
          <a:prstGeom prst="rect">
            <a:avLst/>
          </a:prstGeom>
        </p:spPr>
        <p:txBody>
          <a:bodyPr wrap="none">
            <a:spAutoFit/>
          </a:bodyPr>
          <a:lstStyle/>
          <a:p>
            <a:r>
              <a:rPr lang="en-US" altLang="en-US" sz="3200" dirty="0">
                <a:solidFill>
                  <a:srgbClr val="535353"/>
                </a:solidFill>
                <a:latin typeface="Tahoma" panose="020B0604030504040204" pitchFamily="34" charset="0"/>
                <a:ea typeface="Tahoma" panose="020B0604030504040204" pitchFamily="34" charset="0"/>
                <a:cs typeface="Tahoma" panose="020B0604030504040204" pitchFamily="34" charset="0"/>
              </a:rPr>
              <a:t>Milestone 1 : </a:t>
            </a:r>
            <a:r>
              <a:rPr lang="en-US" sz="3200" dirty="0">
                <a:solidFill>
                  <a:srgbClr val="535353"/>
                </a:solidFill>
                <a:latin typeface="Tahoma" panose="020B0604030504040204" pitchFamily="34" charset="0"/>
                <a:ea typeface="Tahoma" panose="020B0604030504040204" pitchFamily="34" charset="0"/>
                <a:cs typeface="Tahoma" panose="020B0604030504040204" pitchFamily="34" charset="0"/>
              </a:rPr>
              <a:t>Data Collection, Exploration, and Preprocessing </a:t>
            </a:r>
          </a:p>
        </p:txBody>
      </p:sp>
    </p:spTree>
    <p:extLst>
      <p:ext uri="{BB962C8B-B14F-4D97-AF65-F5344CB8AC3E}">
        <p14:creationId xmlns:p14="http://schemas.microsoft.com/office/powerpoint/2010/main" val="305738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C3788F-E7F1-48BA-8EDD-62B387602467}"/>
              </a:ext>
            </a:extLst>
          </p:cNvPr>
          <p:cNvPicPr>
            <a:picLocks noChangeAspect="1"/>
          </p:cNvPicPr>
          <p:nvPr/>
        </p:nvPicPr>
        <p:blipFill rotWithShape="1">
          <a:blip r:embed="rId2">
            <a:extLst>
              <a:ext uri="{28A0092B-C50C-407E-A947-70E740481C1C}">
                <a14:useLocalDpi xmlns:a14="http://schemas.microsoft.com/office/drawing/2010/main" val="0"/>
              </a:ext>
            </a:extLst>
          </a:blip>
          <a:srcRect t="5121" b="12137"/>
          <a:stretch/>
        </p:blipFill>
        <p:spPr>
          <a:xfrm>
            <a:off x="3604267" y="868579"/>
            <a:ext cx="4983465" cy="4123426"/>
          </a:xfrm>
          <a:prstGeom prst="rect">
            <a:avLst/>
          </a:prstGeom>
        </p:spPr>
      </p:pic>
      <p:sp>
        <p:nvSpPr>
          <p:cNvPr id="6" name="Rectangle 5">
            <a:extLst>
              <a:ext uri="{FF2B5EF4-FFF2-40B4-BE49-F238E27FC236}">
                <a16:creationId xmlns:a16="http://schemas.microsoft.com/office/drawing/2014/main" id="{87AD90F3-CFE4-4040-8E63-0DF5F93376ED}"/>
              </a:ext>
            </a:extLst>
          </p:cNvPr>
          <p:cNvSpPr/>
          <p:nvPr/>
        </p:nvSpPr>
        <p:spPr>
          <a:xfrm>
            <a:off x="164784" y="5380672"/>
            <a:ext cx="10549223" cy="1200329"/>
          </a:xfrm>
          <a:prstGeom prst="rect">
            <a:avLst/>
          </a:prstGeom>
        </p:spPr>
        <p:txBody>
          <a:bodyPr wrap="square">
            <a:spAutoFit/>
          </a:bodyPr>
          <a:lstStyle/>
          <a:p>
            <a:pPr marL="285750" indent="-285750">
              <a:buFont typeface="Arial" panose="020B0604020202020204" pitchFamily="34" charset="0"/>
              <a:buChar char="•"/>
            </a:pPr>
            <a:r>
              <a:rPr lang="en-US" dirty="0"/>
              <a:t>A significant majority</a:t>
            </a:r>
            <a:r>
              <a:rPr lang="en-US" b="1" dirty="0"/>
              <a:t> (73%) </a:t>
            </a:r>
            <a:r>
              <a:rPr lang="en-US" dirty="0"/>
              <a:t>of the customers have not churned, indicating a relatively high retention rate.</a:t>
            </a:r>
          </a:p>
          <a:p>
            <a:pPr marL="285750" indent="-285750">
              <a:buFont typeface="Arial" panose="020B0604020202020204" pitchFamily="34" charset="0"/>
              <a:buChar char="•"/>
            </a:pPr>
            <a:r>
              <a:rPr lang="en-US" dirty="0"/>
              <a:t>While the majority of customers are retained, the </a:t>
            </a:r>
            <a:r>
              <a:rPr lang="en-US" b="1" dirty="0"/>
              <a:t>27%</a:t>
            </a:r>
            <a:r>
              <a:rPr lang="en-US" dirty="0"/>
              <a:t> churn rate represents a substantial portion that could impact business performance. Understanding the reasons behind this churn is important for improving retention strategies.</a:t>
            </a:r>
            <a:endParaRPr lang="en-US" b="0" i="0" dirty="0">
              <a:effectLst/>
              <a:latin typeface="Inter"/>
            </a:endParaRPr>
          </a:p>
        </p:txBody>
      </p:sp>
      <p:sp>
        <p:nvSpPr>
          <p:cNvPr id="5" name="TextBox 4">
            <a:extLst>
              <a:ext uri="{FF2B5EF4-FFF2-40B4-BE49-F238E27FC236}">
                <a16:creationId xmlns:a16="http://schemas.microsoft.com/office/drawing/2014/main" id="{3A4A7FFF-AD8C-4B2A-AA02-7BA4D2C368CD}"/>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Churn Analysis</a:t>
            </a:r>
          </a:p>
        </p:txBody>
      </p:sp>
      <p:sp>
        <p:nvSpPr>
          <p:cNvPr id="8" name="TextBox 7">
            <a:extLst>
              <a:ext uri="{FF2B5EF4-FFF2-40B4-BE49-F238E27FC236}">
                <a16:creationId xmlns:a16="http://schemas.microsoft.com/office/drawing/2014/main" id="{14F2F989-DB6A-46E9-8070-61FAC456C5B1}"/>
              </a:ext>
            </a:extLst>
          </p:cNvPr>
          <p:cNvSpPr txBox="1"/>
          <p:nvPr/>
        </p:nvSpPr>
        <p:spPr>
          <a:xfrm>
            <a:off x="458082" y="4965352"/>
            <a:ext cx="1404808" cy="369332"/>
          </a:xfrm>
          <a:prstGeom prst="rect">
            <a:avLst/>
          </a:prstGeom>
          <a:noFill/>
        </p:spPr>
        <p:txBody>
          <a:bodyPr wrap="none" rtlCol="0">
            <a:spAutoFit/>
          </a:bodyPr>
          <a:lstStyle/>
          <a:p>
            <a:r>
              <a:rPr lang="en-US" b="1" u="sng" dirty="0"/>
              <a:t>Key Insights: </a:t>
            </a:r>
          </a:p>
        </p:txBody>
      </p:sp>
      <p:grpSp>
        <p:nvGrpSpPr>
          <p:cNvPr id="9" name="Group 8">
            <a:extLst>
              <a:ext uri="{FF2B5EF4-FFF2-40B4-BE49-F238E27FC236}">
                <a16:creationId xmlns:a16="http://schemas.microsoft.com/office/drawing/2014/main" id="{2D543599-6465-42E1-8D43-3F6FC32065A9}"/>
              </a:ext>
            </a:extLst>
          </p:cNvPr>
          <p:cNvGrpSpPr/>
          <p:nvPr/>
        </p:nvGrpSpPr>
        <p:grpSpPr>
          <a:xfrm>
            <a:off x="113025" y="4917165"/>
            <a:ext cx="365760" cy="365760"/>
            <a:chOff x="4221163" y="1965325"/>
            <a:chExt cx="838200" cy="927101"/>
          </a:xfrm>
          <a:solidFill>
            <a:schemeClr val="accent1"/>
          </a:solidFill>
          <a:effectLst>
            <a:glow rad="127000">
              <a:schemeClr val="bg1">
                <a:alpha val="99000"/>
              </a:schemeClr>
            </a:glow>
          </a:effectLst>
        </p:grpSpPr>
        <p:sp>
          <p:nvSpPr>
            <p:cNvPr id="10" name="Freeform 16">
              <a:extLst>
                <a:ext uri="{FF2B5EF4-FFF2-40B4-BE49-F238E27FC236}">
                  <a16:creationId xmlns:a16="http://schemas.microsoft.com/office/drawing/2014/main" id="{7AEF146D-B318-4957-8FA5-0C683C207065}"/>
                </a:ext>
              </a:extLst>
            </p:cNvPr>
            <p:cNvSpPr>
              <a:spLocks noEditPoints="1"/>
            </p:cNvSpPr>
            <p:nvPr/>
          </p:nvSpPr>
          <p:spPr bwMode="auto">
            <a:xfrm>
              <a:off x="4359275" y="2106613"/>
              <a:ext cx="561975" cy="785813"/>
            </a:xfrm>
            <a:custGeom>
              <a:avLst/>
              <a:gdLst>
                <a:gd name="T0" fmla="*/ 136 w 273"/>
                <a:gd name="T1" fmla="*/ 0 h 381"/>
                <a:gd name="T2" fmla="*/ 0 w 273"/>
                <a:gd name="T3" fmla="*/ 132 h 381"/>
                <a:gd name="T4" fmla="*/ 33 w 273"/>
                <a:gd name="T5" fmla="*/ 229 h 381"/>
                <a:gd name="T6" fmla="*/ 47 w 273"/>
                <a:gd name="T7" fmla="*/ 257 h 381"/>
                <a:gd name="T8" fmla="*/ 72 w 273"/>
                <a:gd name="T9" fmla="*/ 302 h 381"/>
                <a:gd name="T10" fmla="*/ 74 w 273"/>
                <a:gd name="T11" fmla="*/ 337 h 381"/>
                <a:gd name="T12" fmla="*/ 74 w 273"/>
                <a:gd name="T13" fmla="*/ 337 h 381"/>
                <a:gd name="T14" fmla="*/ 102 w 273"/>
                <a:gd name="T15" fmla="*/ 367 h 381"/>
                <a:gd name="T16" fmla="*/ 114 w 273"/>
                <a:gd name="T17" fmla="*/ 378 h 381"/>
                <a:gd name="T18" fmla="*/ 123 w 273"/>
                <a:gd name="T19" fmla="*/ 381 h 381"/>
                <a:gd name="T20" fmla="*/ 150 w 273"/>
                <a:gd name="T21" fmla="*/ 381 h 381"/>
                <a:gd name="T22" fmla="*/ 159 w 273"/>
                <a:gd name="T23" fmla="*/ 378 h 381"/>
                <a:gd name="T24" fmla="*/ 171 w 273"/>
                <a:gd name="T25" fmla="*/ 367 h 381"/>
                <a:gd name="T26" fmla="*/ 199 w 273"/>
                <a:gd name="T27" fmla="*/ 337 h 381"/>
                <a:gd name="T28" fmla="*/ 201 w 273"/>
                <a:gd name="T29" fmla="*/ 302 h 381"/>
                <a:gd name="T30" fmla="*/ 226 w 273"/>
                <a:gd name="T31" fmla="*/ 257 h 381"/>
                <a:gd name="T32" fmla="*/ 240 w 273"/>
                <a:gd name="T33" fmla="*/ 228 h 381"/>
                <a:gd name="T34" fmla="*/ 273 w 273"/>
                <a:gd name="T35" fmla="*/ 132 h 381"/>
                <a:gd name="T36" fmla="*/ 136 w 273"/>
                <a:gd name="T37" fmla="*/ 0 h 381"/>
                <a:gd name="T38" fmla="*/ 211 w 273"/>
                <a:gd name="T39" fmla="*/ 209 h 381"/>
                <a:gd name="T40" fmla="*/ 192 w 273"/>
                <a:gd name="T41" fmla="*/ 257 h 381"/>
                <a:gd name="T42" fmla="*/ 179 w 273"/>
                <a:gd name="T43" fmla="*/ 275 h 381"/>
                <a:gd name="T44" fmla="*/ 94 w 273"/>
                <a:gd name="T45" fmla="*/ 275 h 381"/>
                <a:gd name="T46" fmla="*/ 81 w 273"/>
                <a:gd name="T47" fmla="*/ 257 h 381"/>
                <a:gd name="T48" fmla="*/ 61 w 273"/>
                <a:gd name="T49" fmla="*/ 209 h 381"/>
                <a:gd name="T50" fmla="*/ 34 w 273"/>
                <a:gd name="T51" fmla="*/ 132 h 381"/>
                <a:gd name="T52" fmla="*/ 136 w 273"/>
                <a:gd name="T53" fmla="*/ 35 h 381"/>
                <a:gd name="T54" fmla="*/ 239 w 273"/>
                <a:gd name="T55" fmla="*/ 132 h 381"/>
                <a:gd name="T56" fmla="*/ 211 w 273"/>
                <a:gd name="T57" fmla="*/ 209 h 381"/>
                <a:gd name="T58" fmla="*/ 211 w 273"/>
                <a:gd name="T59" fmla="*/ 209 h 381"/>
                <a:gd name="T60" fmla="*/ 211 w 273"/>
                <a:gd name="T61" fmla="*/ 20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3" h="381">
                  <a:moveTo>
                    <a:pt x="136" y="0"/>
                  </a:moveTo>
                  <a:cubicBezTo>
                    <a:pt x="61" y="0"/>
                    <a:pt x="0" y="59"/>
                    <a:pt x="0" y="132"/>
                  </a:cubicBezTo>
                  <a:cubicBezTo>
                    <a:pt x="0" y="180"/>
                    <a:pt x="19" y="208"/>
                    <a:pt x="33" y="229"/>
                  </a:cubicBezTo>
                  <a:cubicBezTo>
                    <a:pt x="42" y="241"/>
                    <a:pt x="47" y="249"/>
                    <a:pt x="47" y="257"/>
                  </a:cubicBezTo>
                  <a:cubicBezTo>
                    <a:pt x="47" y="274"/>
                    <a:pt x="56" y="290"/>
                    <a:pt x="72" y="302"/>
                  </a:cubicBezTo>
                  <a:cubicBezTo>
                    <a:pt x="73" y="312"/>
                    <a:pt x="74" y="337"/>
                    <a:pt x="74" y="337"/>
                  </a:cubicBezTo>
                  <a:cubicBezTo>
                    <a:pt x="74" y="337"/>
                    <a:pt x="74" y="337"/>
                    <a:pt x="74" y="337"/>
                  </a:cubicBezTo>
                  <a:cubicBezTo>
                    <a:pt x="74" y="344"/>
                    <a:pt x="78" y="359"/>
                    <a:pt x="102" y="367"/>
                  </a:cubicBezTo>
                  <a:cubicBezTo>
                    <a:pt x="105" y="371"/>
                    <a:pt x="109" y="375"/>
                    <a:pt x="114" y="378"/>
                  </a:cubicBezTo>
                  <a:cubicBezTo>
                    <a:pt x="116" y="380"/>
                    <a:pt x="120" y="381"/>
                    <a:pt x="123" y="381"/>
                  </a:cubicBezTo>
                  <a:cubicBezTo>
                    <a:pt x="150" y="381"/>
                    <a:pt x="150" y="381"/>
                    <a:pt x="150" y="381"/>
                  </a:cubicBezTo>
                  <a:cubicBezTo>
                    <a:pt x="153" y="381"/>
                    <a:pt x="157" y="380"/>
                    <a:pt x="159" y="378"/>
                  </a:cubicBezTo>
                  <a:cubicBezTo>
                    <a:pt x="164" y="375"/>
                    <a:pt x="168" y="371"/>
                    <a:pt x="171" y="367"/>
                  </a:cubicBezTo>
                  <a:cubicBezTo>
                    <a:pt x="195" y="359"/>
                    <a:pt x="199" y="344"/>
                    <a:pt x="199" y="337"/>
                  </a:cubicBezTo>
                  <a:cubicBezTo>
                    <a:pt x="199" y="337"/>
                    <a:pt x="200" y="312"/>
                    <a:pt x="201" y="302"/>
                  </a:cubicBezTo>
                  <a:cubicBezTo>
                    <a:pt x="217" y="290"/>
                    <a:pt x="226" y="274"/>
                    <a:pt x="226" y="257"/>
                  </a:cubicBezTo>
                  <a:cubicBezTo>
                    <a:pt x="226" y="249"/>
                    <a:pt x="231" y="241"/>
                    <a:pt x="240" y="228"/>
                  </a:cubicBezTo>
                  <a:cubicBezTo>
                    <a:pt x="254" y="208"/>
                    <a:pt x="273" y="180"/>
                    <a:pt x="273" y="132"/>
                  </a:cubicBezTo>
                  <a:cubicBezTo>
                    <a:pt x="273" y="59"/>
                    <a:pt x="212" y="0"/>
                    <a:pt x="136" y="0"/>
                  </a:cubicBezTo>
                  <a:close/>
                  <a:moveTo>
                    <a:pt x="211" y="209"/>
                  </a:moveTo>
                  <a:cubicBezTo>
                    <a:pt x="201" y="224"/>
                    <a:pt x="192" y="238"/>
                    <a:pt x="192" y="257"/>
                  </a:cubicBezTo>
                  <a:cubicBezTo>
                    <a:pt x="192" y="265"/>
                    <a:pt x="184" y="271"/>
                    <a:pt x="179" y="275"/>
                  </a:cubicBezTo>
                  <a:cubicBezTo>
                    <a:pt x="94" y="275"/>
                    <a:pt x="94" y="275"/>
                    <a:pt x="94" y="275"/>
                  </a:cubicBezTo>
                  <a:cubicBezTo>
                    <a:pt x="89" y="271"/>
                    <a:pt x="81" y="265"/>
                    <a:pt x="81" y="257"/>
                  </a:cubicBezTo>
                  <a:cubicBezTo>
                    <a:pt x="81" y="238"/>
                    <a:pt x="72" y="224"/>
                    <a:pt x="61" y="209"/>
                  </a:cubicBezTo>
                  <a:cubicBezTo>
                    <a:pt x="49" y="190"/>
                    <a:pt x="34" y="169"/>
                    <a:pt x="34" y="132"/>
                  </a:cubicBezTo>
                  <a:cubicBezTo>
                    <a:pt x="34" y="78"/>
                    <a:pt x="80" y="35"/>
                    <a:pt x="136" y="35"/>
                  </a:cubicBezTo>
                  <a:cubicBezTo>
                    <a:pt x="193" y="35"/>
                    <a:pt x="239" y="78"/>
                    <a:pt x="239" y="132"/>
                  </a:cubicBezTo>
                  <a:cubicBezTo>
                    <a:pt x="239" y="169"/>
                    <a:pt x="224" y="190"/>
                    <a:pt x="211" y="209"/>
                  </a:cubicBezTo>
                  <a:close/>
                  <a:moveTo>
                    <a:pt x="211" y="209"/>
                  </a:moveTo>
                  <a:cubicBezTo>
                    <a:pt x="211" y="209"/>
                    <a:pt x="211" y="209"/>
                    <a:pt x="211" y="20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 name="Freeform 17">
              <a:extLst>
                <a:ext uri="{FF2B5EF4-FFF2-40B4-BE49-F238E27FC236}">
                  <a16:creationId xmlns:a16="http://schemas.microsoft.com/office/drawing/2014/main" id="{C1706310-DA29-43A7-BFD4-FE3ECB6A2D9B}"/>
                </a:ext>
              </a:extLst>
            </p:cNvPr>
            <p:cNvSpPr>
              <a:spLocks noEditPoints="1"/>
            </p:cNvSpPr>
            <p:nvPr/>
          </p:nvSpPr>
          <p:spPr bwMode="auto">
            <a:xfrm>
              <a:off x="4622800" y="1965325"/>
              <a:ext cx="34925" cy="88900"/>
            </a:xfrm>
            <a:custGeom>
              <a:avLst/>
              <a:gdLst>
                <a:gd name="T0" fmla="*/ 8 w 17"/>
                <a:gd name="T1" fmla="*/ 43 h 43"/>
                <a:gd name="T2" fmla="*/ 17 w 17"/>
                <a:gd name="T3" fmla="*/ 34 h 43"/>
                <a:gd name="T4" fmla="*/ 17 w 17"/>
                <a:gd name="T5" fmla="*/ 8 h 43"/>
                <a:gd name="T6" fmla="*/ 8 w 17"/>
                <a:gd name="T7" fmla="*/ 0 h 43"/>
                <a:gd name="T8" fmla="*/ 0 w 17"/>
                <a:gd name="T9" fmla="*/ 8 h 43"/>
                <a:gd name="T10" fmla="*/ 0 w 17"/>
                <a:gd name="T11" fmla="*/ 34 h 43"/>
                <a:gd name="T12" fmla="*/ 8 w 17"/>
                <a:gd name="T13" fmla="*/ 43 h 43"/>
                <a:gd name="T14" fmla="*/ 8 w 17"/>
                <a:gd name="T15" fmla="*/ 43 h 43"/>
                <a:gd name="T16" fmla="*/ 8 w 17"/>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43">
                  <a:moveTo>
                    <a:pt x="8" y="43"/>
                  </a:moveTo>
                  <a:cubicBezTo>
                    <a:pt x="13" y="43"/>
                    <a:pt x="17" y="39"/>
                    <a:pt x="17" y="34"/>
                  </a:cubicBezTo>
                  <a:cubicBezTo>
                    <a:pt x="17" y="8"/>
                    <a:pt x="17" y="8"/>
                    <a:pt x="17" y="8"/>
                  </a:cubicBezTo>
                  <a:cubicBezTo>
                    <a:pt x="17" y="4"/>
                    <a:pt x="13" y="0"/>
                    <a:pt x="8" y="0"/>
                  </a:cubicBezTo>
                  <a:cubicBezTo>
                    <a:pt x="4" y="0"/>
                    <a:pt x="0" y="4"/>
                    <a:pt x="0" y="8"/>
                  </a:cubicBezTo>
                  <a:cubicBezTo>
                    <a:pt x="0" y="34"/>
                    <a:pt x="0" y="34"/>
                    <a:pt x="0" y="34"/>
                  </a:cubicBezTo>
                  <a:cubicBezTo>
                    <a:pt x="0" y="39"/>
                    <a:pt x="4" y="43"/>
                    <a:pt x="8" y="43"/>
                  </a:cubicBezTo>
                  <a:close/>
                  <a:moveTo>
                    <a:pt x="8" y="43"/>
                  </a:moveTo>
                  <a:cubicBezTo>
                    <a:pt x="8" y="43"/>
                    <a:pt x="8" y="43"/>
                    <a:pt x="8" y="4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 name="Freeform 18">
              <a:extLst>
                <a:ext uri="{FF2B5EF4-FFF2-40B4-BE49-F238E27FC236}">
                  <a16:creationId xmlns:a16="http://schemas.microsoft.com/office/drawing/2014/main" id="{0D4E4299-5BFD-49EA-8934-0E44F76F6794}"/>
                </a:ext>
              </a:extLst>
            </p:cNvPr>
            <p:cNvSpPr>
              <a:spLocks noEditPoints="1"/>
            </p:cNvSpPr>
            <p:nvPr/>
          </p:nvSpPr>
          <p:spPr bwMode="auto">
            <a:xfrm>
              <a:off x="4419600" y="2016125"/>
              <a:ext cx="66675" cy="84138"/>
            </a:xfrm>
            <a:custGeom>
              <a:avLst/>
              <a:gdLst>
                <a:gd name="T0" fmla="*/ 16 w 33"/>
                <a:gd name="T1" fmla="*/ 36 h 41"/>
                <a:gd name="T2" fmla="*/ 23 w 33"/>
                <a:gd name="T3" fmla="*/ 41 h 41"/>
                <a:gd name="T4" fmla="*/ 27 w 33"/>
                <a:gd name="T5" fmla="*/ 39 h 41"/>
                <a:gd name="T6" fmla="*/ 31 w 33"/>
                <a:gd name="T7" fmla="*/ 28 h 41"/>
                <a:gd name="T8" fmla="*/ 18 w 33"/>
                <a:gd name="T9" fmla="*/ 5 h 41"/>
                <a:gd name="T10" fmla="*/ 6 w 33"/>
                <a:gd name="T11" fmla="*/ 2 h 41"/>
                <a:gd name="T12" fmla="*/ 3 w 33"/>
                <a:gd name="T13" fmla="*/ 14 h 41"/>
                <a:gd name="T14" fmla="*/ 16 w 33"/>
                <a:gd name="T15" fmla="*/ 36 h 41"/>
                <a:gd name="T16" fmla="*/ 16 w 33"/>
                <a:gd name="T17" fmla="*/ 36 h 41"/>
                <a:gd name="T18" fmla="*/ 16 w 33"/>
                <a:gd name="T19" fmla="*/ 3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16" y="36"/>
                  </a:moveTo>
                  <a:cubicBezTo>
                    <a:pt x="17" y="39"/>
                    <a:pt x="20" y="41"/>
                    <a:pt x="23" y="41"/>
                  </a:cubicBezTo>
                  <a:cubicBezTo>
                    <a:pt x="24" y="41"/>
                    <a:pt x="26" y="40"/>
                    <a:pt x="27" y="39"/>
                  </a:cubicBezTo>
                  <a:cubicBezTo>
                    <a:pt x="31" y="37"/>
                    <a:pt x="33" y="32"/>
                    <a:pt x="31" y="28"/>
                  </a:cubicBezTo>
                  <a:cubicBezTo>
                    <a:pt x="18" y="5"/>
                    <a:pt x="18" y="5"/>
                    <a:pt x="18" y="5"/>
                  </a:cubicBezTo>
                  <a:cubicBezTo>
                    <a:pt x="15" y="1"/>
                    <a:pt x="10" y="0"/>
                    <a:pt x="6" y="2"/>
                  </a:cubicBezTo>
                  <a:cubicBezTo>
                    <a:pt x="2" y="4"/>
                    <a:pt x="0" y="10"/>
                    <a:pt x="3" y="14"/>
                  </a:cubicBezTo>
                  <a:lnTo>
                    <a:pt x="16" y="36"/>
                  </a:lnTo>
                  <a:close/>
                  <a:moveTo>
                    <a:pt x="16" y="36"/>
                  </a:moveTo>
                  <a:cubicBezTo>
                    <a:pt x="16" y="36"/>
                    <a:pt x="16" y="36"/>
                    <a:pt x="16"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 name="Freeform 19">
              <a:extLst>
                <a:ext uri="{FF2B5EF4-FFF2-40B4-BE49-F238E27FC236}">
                  <a16:creationId xmlns:a16="http://schemas.microsoft.com/office/drawing/2014/main" id="{5634D7E8-2AB9-431E-8FCA-472798E0CA37}"/>
                </a:ext>
              </a:extLst>
            </p:cNvPr>
            <p:cNvSpPr>
              <a:spLocks noEditPoints="1"/>
            </p:cNvSpPr>
            <p:nvPr/>
          </p:nvSpPr>
          <p:spPr bwMode="auto">
            <a:xfrm>
              <a:off x="4273550" y="2162175"/>
              <a:ext cx="85725" cy="65088"/>
            </a:xfrm>
            <a:custGeom>
              <a:avLst/>
              <a:gdLst>
                <a:gd name="T0" fmla="*/ 37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7 w 42"/>
                <a:gd name="T15" fmla="*/ 15 h 31"/>
                <a:gd name="T16" fmla="*/ 37 w 42"/>
                <a:gd name="T17" fmla="*/ 15 h 31"/>
                <a:gd name="T18" fmla="*/ 37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7" y="15"/>
                  </a:moveTo>
                  <a:cubicBezTo>
                    <a:pt x="14" y="2"/>
                    <a:pt x="14" y="2"/>
                    <a:pt x="14" y="2"/>
                  </a:cubicBezTo>
                  <a:cubicBezTo>
                    <a:pt x="10" y="0"/>
                    <a:pt x="5" y="1"/>
                    <a:pt x="2" y="5"/>
                  </a:cubicBezTo>
                  <a:cubicBezTo>
                    <a:pt x="0" y="10"/>
                    <a:pt x="1" y="15"/>
                    <a:pt x="5" y="17"/>
                  </a:cubicBezTo>
                  <a:cubicBezTo>
                    <a:pt x="28" y="30"/>
                    <a:pt x="28" y="30"/>
                    <a:pt x="28" y="30"/>
                  </a:cubicBezTo>
                  <a:cubicBezTo>
                    <a:pt x="29" y="31"/>
                    <a:pt x="31" y="31"/>
                    <a:pt x="32" y="31"/>
                  </a:cubicBezTo>
                  <a:cubicBezTo>
                    <a:pt x="35" y="31"/>
                    <a:pt x="38" y="30"/>
                    <a:pt x="40" y="27"/>
                  </a:cubicBezTo>
                  <a:cubicBezTo>
                    <a:pt x="42" y="23"/>
                    <a:pt x="41" y="18"/>
                    <a:pt x="37" y="15"/>
                  </a:cubicBezTo>
                  <a:close/>
                  <a:moveTo>
                    <a:pt x="37" y="15"/>
                  </a:moveTo>
                  <a:cubicBezTo>
                    <a:pt x="37" y="15"/>
                    <a:pt x="37" y="15"/>
                    <a:pt x="37"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 name="Freeform 20">
              <a:extLst>
                <a:ext uri="{FF2B5EF4-FFF2-40B4-BE49-F238E27FC236}">
                  <a16:creationId xmlns:a16="http://schemas.microsoft.com/office/drawing/2014/main" id="{5814E4C6-3654-422C-996C-CDEDC594D26E}"/>
                </a:ext>
              </a:extLst>
            </p:cNvPr>
            <p:cNvSpPr>
              <a:spLocks noEditPoints="1"/>
            </p:cNvSpPr>
            <p:nvPr/>
          </p:nvSpPr>
          <p:spPr bwMode="auto">
            <a:xfrm>
              <a:off x="4221163" y="2366963"/>
              <a:ext cx="88900" cy="34925"/>
            </a:xfrm>
            <a:custGeom>
              <a:avLst/>
              <a:gdLst>
                <a:gd name="T0" fmla="*/ 43 w 43"/>
                <a:gd name="T1" fmla="*/ 8 h 17"/>
                <a:gd name="T2" fmla="*/ 35 w 43"/>
                <a:gd name="T3" fmla="*/ 0 h 17"/>
                <a:gd name="T4" fmla="*/ 9 w 43"/>
                <a:gd name="T5" fmla="*/ 0 h 17"/>
                <a:gd name="T6" fmla="*/ 0 w 43"/>
                <a:gd name="T7" fmla="*/ 8 h 17"/>
                <a:gd name="T8" fmla="*/ 9 w 43"/>
                <a:gd name="T9" fmla="*/ 17 h 17"/>
                <a:gd name="T10" fmla="*/ 35 w 43"/>
                <a:gd name="T11" fmla="*/ 17 h 17"/>
                <a:gd name="T12" fmla="*/ 43 w 43"/>
                <a:gd name="T13" fmla="*/ 8 h 17"/>
                <a:gd name="T14" fmla="*/ 43 w 43"/>
                <a:gd name="T15" fmla="*/ 8 h 17"/>
                <a:gd name="T16" fmla="*/ 43 w 43"/>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43" y="8"/>
                  </a:moveTo>
                  <a:cubicBezTo>
                    <a:pt x="43" y="3"/>
                    <a:pt x="39" y="0"/>
                    <a:pt x="35" y="0"/>
                  </a:cubicBezTo>
                  <a:cubicBezTo>
                    <a:pt x="9" y="0"/>
                    <a:pt x="9" y="0"/>
                    <a:pt x="9" y="0"/>
                  </a:cubicBezTo>
                  <a:cubicBezTo>
                    <a:pt x="4" y="0"/>
                    <a:pt x="0" y="3"/>
                    <a:pt x="0" y="8"/>
                  </a:cubicBezTo>
                  <a:cubicBezTo>
                    <a:pt x="0" y="13"/>
                    <a:pt x="4" y="17"/>
                    <a:pt x="9" y="17"/>
                  </a:cubicBezTo>
                  <a:cubicBezTo>
                    <a:pt x="35" y="17"/>
                    <a:pt x="35" y="17"/>
                    <a:pt x="35" y="17"/>
                  </a:cubicBezTo>
                  <a:cubicBezTo>
                    <a:pt x="39" y="17"/>
                    <a:pt x="43" y="13"/>
                    <a:pt x="43" y="8"/>
                  </a:cubicBezTo>
                  <a:close/>
                  <a:moveTo>
                    <a:pt x="43" y="8"/>
                  </a:moveTo>
                  <a:cubicBezTo>
                    <a:pt x="43" y="8"/>
                    <a:pt x="43" y="8"/>
                    <a:pt x="43"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Freeform 21">
              <a:extLst>
                <a:ext uri="{FF2B5EF4-FFF2-40B4-BE49-F238E27FC236}">
                  <a16:creationId xmlns:a16="http://schemas.microsoft.com/office/drawing/2014/main" id="{D6CDB54E-5765-4D76-9045-AA25C85E6A02}"/>
                </a:ext>
              </a:extLst>
            </p:cNvPr>
            <p:cNvSpPr>
              <a:spLocks noEditPoints="1"/>
            </p:cNvSpPr>
            <p:nvPr/>
          </p:nvSpPr>
          <p:spPr bwMode="auto">
            <a:xfrm>
              <a:off x="4273550" y="2538413"/>
              <a:ext cx="85725" cy="63500"/>
            </a:xfrm>
            <a:custGeom>
              <a:avLst/>
              <a:gdLst>
                <a:gd name="T0" fmla="*/ 28 w 42"/>
                <a:gd name="T1" fmla="*/ 2 h 31"/>
                <a:gd name="T2" fmla="*/ 5 w 42"/>
                <a:gd name="T3" fmla="*/ 15 h 31"/>
                <a:gd name="T4" fmla="*/ 2 w 42"/>
                <a:gd name="T5" fmla="*/ 27 h 31"/>
                <a:gd name="T6" fmla="*/ 10 w 42"/>
                <a:gd name="T7" fmla="*/ 31 h 31"/>
                <a:gd name="T8" fmla="*/ 14 w 42"/>
                <a:gd name="T9" fmla="*/ 30 h 31"/>
                <a:gd name="T10" fmla="*/ 37 w 42"/>
                <a:gd name="T11" fmla="*/ 17 h 31"/>
                <a:gd name="T12" fmla="*/ 40 w 42"/>
                <a:gd name="T13" fmla="*/ 5 h 31"/>
                <a:gd name="T14" fmla="*/ 28 w 42"/>
                <a:gd name="T15" fmla="*/ 2 h 31"/>
                <a:gd name="T16" fmla="*/ 28 w 42"/>
                <a:gd name="T17" fmla="*/ 2 h 31"/>
                <a:gd name="T18" fmla="*/ 28 w 42"/>
                <a:gd name="T19"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28" y="2"/>
                  </a:moveTo>
                  <a:cubicBezTo>
                    <a:pt x="5" y="15"/>
                    <a:pt x="5" y="15"/>
                    <a:pt x="5" y="15"/>
                  </a:cubicBezTo>
                  <a:cubicBezTo>
                    <a:pt x="1" y="18"/>
                    <a:pt x="0" y="23"/>
                    <a:pt x="2" y="27"/>
                  </a:cubicBezTo>
                  <a:cubicBezTo>
                    <a:pt x="4" y="30"/>
                    <a:pt x="7" y="31"/>
                    <a:pt x="10" y="31"/>
                  </a:cubicBezTo>
                  <a:cubicBezTo>
                    <a:pt x="11" y="31"/>
                    <a:pt x="13" y="31"/>
                    <a:pt x="14" y="30"/>
                  </a:cubicBezTo>
                  <a:cubicBezTo>
                    <a:pt x="37" y="17"/>
                    <a:pt x="37" y="17"/>
                    <a:pt x="37" y="17"/>
                  </a:cubicBezTo>
                  <a:cubicBezTo>
                    <a:pt x="41" y="15"/>
                    <a:pt x="42" y="9"/>
                    <a:pt x="40" y="5"/>
                  </a:cubicBezTo>
                  <a:cubicBezTo>
                    <a:pt x="37" y="1"/>
                    <a:pt x="32" y="0"/>
                    <a:pt x="28" y="2"/>
                  </a:cubicBezTo>
                  <a:close/>
                  <a:moveTo>
                    <a:pt x="28" y="2"/>
                  </a:moveTo>
                  <a:cubicBezTo>
                    <a:pt x="28" y="2"/>
                    <a:pt x="28" y="2"/>
                    <a:pt x="28"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 name="Freeform 22">
              <a:extLst>
                <a:ext uri="{FF2B5EF4-FFF2-40B4-BE49-F238E27FC236}">
                  <a16:creationId xmlns:a16="http://schemas.microsoft.com/office/drawing/2014/main" id="{D192A768-0B5F-4548-ACE1-7D7691FD9BAE}"/>
                </a:ext>
              </a:extLst>
            </p:cNvPr>
            <p:cNvSpPr>
              <a:spLocks noEditPoints="1"/>
            </p:cNvSpPr>
            <p:nvPr/>
          </p:nvSpPr>
          <p:spPr bwMode="auto">
            <a:xfrm>
              <a:off x="4921250" y="2538413"/>
              <a:ext cx="87313" cy="63500"/>
            </a:xfrm>
            <a:custGeom>
              <a:avLst/>
              <a:gdLst>
                <a:gd name="T0" fmla="*/ 36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6 w 42"/>
                <a:gd name="T15" fmla="*/ 15 h 31"/>
                <a:gd name="T16" fmla="*/ 36 w 42"/>
                <a:gd name="T17" fmla="*/ 15 h 31"/>
                <a:gd name="T18" fmla="*/ 36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6" y="15"/>
                  </a:moveTo>
                  <a:cubicBezTo>
                    <a:pt x="14" y="2"/>
                    <a:pt x="14" y="2"/>
                    <a:pt x="14" y="2"/>
                  </a:cubicBezTo>
                  <a:cubicBezTo>
                    <a:pt x="10" y="0"/>
                    <a:pt x="5" y="1"/>
                    <a:pt x="2" y="5"/>
                  </a:cubicBezTo>
                  <a:cubicBezTo>
                    <a:pt x="0" y="9"/>
                    <a:pt x="1" y="15"/>
                    <a:pt x="5" y="17"/>
                  </a:cubicBezTo>
                  <a:cubicBezTo>
                    <a:pt x="28" y="30"/>
                    <a:pt x="28" y="30"/>
                    <a:pt x="28" y="30"/>
                  </a:cubicBezTo>
                  <a:cubicBezTo>
                    <a:pt x="29" y="31"/>
                    <a:pt x="31" y="31"/>
                    <a:pt x="32" y="31"/>
                  </a:cubicBezTo>
                  <a:cubicBezTo>
                    <a:pt x="35" y="31"/>
                    <a:pt x="38" y="30"/>
                    <a:pt x="40" y="27"/>
                  </a:cubicBezTo>
                  <a:cubicBezTo>
                    <a:pt x="42" y="23"/>
                    <a:pt x="41" y="18"/>
                    <a:pt x="36" y="15"/>
                  </a:cubicBezTo>
                  <a:close/>
                  <a:moveTo>
                    <a:pt x="36" y="15"/>
                  </a:moveTo>
                  <a:cubicBezTo>
                    <a:pt x="36" y="15"/>
                    <a:pt x="36" y="15"/>
                    <a:pt x="36"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Freeform 23">
              <a:extLst>
                <a:ext uri="{FF2B5EF4-FFF2-40B4-BE49-F238E27FC236}">
                  <a16:creationId xmlns:a16="http://schemas.microsoft.com/office/drawing/2014/main" id="{054FE837-6B04-47C9-B2E0-5D84D3544CD4}"/>
                </a:ext>
              </a:extLst>
            </p:cNvPr>
            <p:cNvSpPr>
              <a:spLocks noEditPoints="1"/>
            </p:cNvSpPr>
            <p:nvPr/>
          </p:nvSpPr>
          <p:spPr bwMode="auto">
            <a:xfrm>
              <a:off x="4970463" y="2366963"/>
              <a:ext cx="88900" cy="34925"/>
            </a:xfrm>
            <a:custGeom>
              <a:avLst/>
              <a:gdLst>
                <a:gd name="T0" fmla="*/ 34 w 43"/>
                <a:gd name="T1" fmla="*/ 0 h 17"/>
                <a:gd name="T2" fmla="*/ 8 w 43"/>
                <a:gd name="T3" fmla="*/ 0 h 17"/>
                <a:gd name="T4" fmla="*/ 0 w 43"/>
                <a:gd name="T5" fmla="*/ 8 h 17"/>
                <a:gd name="T6" fmla="*/ 8 w 43"/>
                <a:gd name="T7" fmla="*/ 17 h 17"/>
                <a:gd name="T8" fmla="*/ 34 w 43"/>
                <a:gd name="T9" fmla="*/ 17 h 17"/>
                <a:gd name="T10" fmla="*/ 43 w 43"/>
                <a:gd name="T11" fmla="*/ 8 h 17"/>
                <a:gd name="T12" fmla="*/ 34 w 43"/>
                <a:gd name="T13" fmla="*/ 0 h 17"/>
                <a:gd name="T14" fmla="*/ 34 w 43"/>
                <a:gd name="T15" fmla="*/ 0 h 17"/>
                <a:gd name="T16" fmla="*/ 34 w 43"/>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34" y="0"/>
                  </a:moveTo>
                  <a:cubicBezTo>
                    <a:pt x="8" y="0"/>
                    <a:pt x="8" y="0"/>
                    <a:pt x="8" y="0"/>
                  </a:cubicBezTo>
                  <a:cubicBezTo>
                    <a:pt x="4" y="0"/>
                    <a:pt x="0" y="3"/>
                    <a:pt x="0" y="8"/>
                  </a:cubicBezTo>
                  <a:cubicBezTo>
                    <a:pt x="0" y="13"/>
                    <a:pt x="4" y="17"/>
                    <a:pt x="8" y="17"/>
                  </a:cubicBezTo>
                  <a:cubicBezTo>
                    <a:pt x="34" y="17"/>
                    <a:pt x="34" y="17"/>
                    <a:pt x="34" y="17"/>
                  </a:cubicBezTo>
                  <a:cubicBezTo>
                    <a:pt x="39" y="17"/>
                    <a:pt x="43" y="13"/>
                    <a:pt x="43" y="8"/>
                  </a:cubicBezTo>
                  <a:cubicBezTo>
                    <a:pt x="43" y="3"/>
                    <a:pt x="39" y="0"/>
                    <a:pt x="34" y="0"/>
                  </a:cubicBezTo>
                  <a:close/>
                  <a:moveTo>
                    <a:pt x="34" y="0"/>
                  </a:moveTo>
                  <a:cubicBezTo>
                    <a:pt x="34" y="0"/>
                    <a:pt x="34" y="0"/>
                    <a:pt x="3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Freeform 24">
              <a:extLst>
                <a:ext uri="{FF2B5EF4-FFF2-40B4-BE49-F238E27FC236}">
                  <a16:creationId xmlns:a16="http://schemas.microsoft.com/office/drawing/2014/main" id="{EDE6B13E-95BF-47E5-8990-407709A8280F}"/>
                </a:ext>
              </a:extLst>
            </p:cNvPr>
            <p:cNvSpPr>
              <a:spLocks noEditPoints="1"/>
            </p:cNvSpPr>
            <p:nvPr/>
          </p:nvSpPr>
          <p:spPr bwMode="auto">
            <a:xfrm>
              <a:off x="4921250" y="2162175"/>
              <a:ext cx="87313" cy="65088"/>
            </a:xfrm>
            <a:custGeom>
              <a:avLst/>
              <a:gdLst>
                <a:gd name="T0" fmla="*/ 10 w 42"/>
                <a:gd name="T1" fmla="*/ 31 h 31"/>
                <a:gd name="T2" fmla="*/ 14 w 42"/>
                <a:gd name="T3" fmla="*/ 30 h 31"/>
                <a:gd name="T4" fmla="*/ 36 w 42"/>
                <a:gd name="T5" fmla="*/ 17 h 31"/>
                <a:gd name="T6" fmla="*/ 40 w 42"/>
                <a:gd name="T7" fmla="*/ 5 h 31"/>
                <a:gd name="T8" fmla="*/ 28 w 42"/>
                <a:gd name="T9" fmla="*/ 2 h 31"/>
                <a:gd name="T10" fmla="*/ 5 w 42"/>
                <a:gd name="T11" fmla="*/ 15 h 31"/>
                <a:gd name="T12" fmla="*/ 2 w 42"/>
                <a:gd name="T13" fmla="*/ 27 h 31"/>
                <a:gd name="T14" fmla="*/ 10 w 42"/>
                <a:gd name="T15" fmla="*/ 31 h 31"/>
                <a:gd name="T16" fmla="*/ 10 w 42"/>
                <a:gd name="T17" fmla="*/ 31 h 31"/>
                <a:gd name="T18" fmla="*/ 10 w 42"/>
                <a:gd name="T19"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10" y="31"/>
                  </a:moveTo>
                  <a:cubicBezTo>
                    <a:pt x="11" y="31"/>
                    <a:pt x="13" y="31"/>
                    <a:pt x="14" y="30"/>
                  </a:cubicBezTo>
                  <a:cubicBezTo>
                    <a:pt x="36" y="17"/>
                    <a:pt x="36" y="17"/>
                    <a:pt x="36" y="17"/>
                  </a:cubicBezTo>
                  <a:cubicBezTo>
                    <a:pt x="41" y="15"/>
                    <a:pt x="42" y="10"/>
                    <a:pt x="40" y="5"/>
                  </a:cubicBezTo>
                  <a:cubicBezTo>
                    <a:pt x="37" y="1"/>
                    <a:pt x="32" y="0"/>
                    <a:pt x="28" y="2"/>
                  </a:cubicBezTo>
                  <a:cubicBezTo>
                    <a:pt x="5" y="15"/>
                    <a:pt x="5" y="15"/>
                    <a:pt x="5" y="15"/>
                  </a:cubicBezTo>
                  <a:cubicBezTo>
                    <a:pt x="1" y="18"/>
                    <a:pt x="0" y="23"/>
                    <a:pt x="2" y="27"/>
                  </a:cubicBezTo>
                  <a:cubicBezTo>
                    <a:pt x="4" y="30"/>
                    <a:pt x="7" y="31"/>
                    <a:pt x="10" y="31"/>
                  </a:cubicBezTo>
                  <a:close/>
                  <a:moveTo>
                    <a:pt x="10" y="31"/>
                  </a:moveTo>
                  <a:cubicBezTo>
                    <a:pt x="10" y="31"/>
                    <a:pt x="10" y="31"/>
                    <a:pt x="10"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Freeform 25">
              <a:extLst>
                <a:ext uri="{FF2B5EF4-FFF2-40B4-BE49-F238E27FC236}">
                  <a16:creationId xmlns:a16="http://schemas.microsoft.com/office/drawing/2014/main" id="{833338BE-24E1-4757-B564-743D32BD16DF}"/>
                </a:ext>
              </a:extLst>
            </p:cNvPr>
            <p:cNvSpPr>
              <a:spLocks noEditPoints="1"/>
            </p:cNvSpPr>
            <p:nvPr/>
          </p:nvSpPr>
          <p:spPr bwMode="auto">
            <a:xfrm>
              <a:off x="4794250" y="2016125"/>
              <a:ext cx="68263" cy="84138"/>
            </a:xfrm>
            <a:custGeom>
              <a:avLst/>
              <a:gdLst>
                <a:gd name="T0" fmla="*/ 6 w 33"/>
                <a:gd name="T1" fmla="*/ 39 h 41"/>
                <a:gd name="T2" fmla="*/ 10 w 33"/>
                <a:gd name="T3" fmla="*/ 41 h 41"/>
                <a:gd name="T4" fmla="*/ 17 w 33"/>
                <a:gd name="T5" fmla="*/ 36 h 41"/>
                <a:gd name="T6" fmla="*/ 30 w 33"/>
                <a:gd name="T7" fmla="*/ 14 h 41"/>
                <a:gd name="T8" fmla="*/ 27 w 33"/>
                <a:gd name="T9" fmla="*/ 2 h 41"/>
                <a:gd name="T10" fmla="*/ 15 w 33"/>
                <a:gd name="T11" fmla="*/ 5 h 41"/>
                <a:gd name="T12" fmla="*/ 2 w 33"/>
                <a:gd name="T13" fmla="*/ 28 h 41"/>
                <a:gd name="T14" fmla="*/ 6 w 33"/>
                <a:gd name="T15" fmla="*/ 39 h 41"/>
                <a:gd name="T16" fmla="*/ 6 w 33"/>
                <a:gd name="T17" fmla="*/ 39 h 41"/>
                <a:gd name="T18" fmla="*/ 6 w 33"/>
                <a:gd name="T1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6" y="39"/>
                  </a:moveTo>
                  <a:cubicBezTo>
                    <a:pt x="7" y="40"/>
                    <a:pt x="8" y="41"/>
                    <a:pt x="10" y="41"/>
                  </a:cubicBezTo>
                  <a:cubicBezTo>
                    <a:pt x="13" y="41"/>
                    <a:pt x="16" y="39"/>
                    <a:pt x="17" y="36"/>
                  </a:cubicBezTo>
                  <a:cubicBezTo>
                    <a:pt x="30" y="14"/>
                    <a:pt x="30" y="14"/>
                    <a:pt x="30" y="14"/>
                  </a:cubicBezTo>
                  <a:cubicBezTo>
                    <a:pt x="33" y="10"/>
                    <a:pt x="31" y="4"/>
                    <a:pt x="27" y="2"/>
                  </a:cubicBezTo>
                  <a:cubicBezTo>
                    <a:pt x="23" y="0"/>
                    <a:pt x="18" y="1"/>
                    <a:pt x="15" y="5"/>
                  </a:cubicBezTo>
                  <a:cubicBezTo>
                    <a:pt x="2" y="28"/>
                    <a:pt x="2" y="28"/>
                    <a:pt x="2" y="28"/>
                  </a:cubicBezTo>
                  <a:cubicBezTo>
                    <a:pt x="0" y="32"/>
                    <a:pt x="1" y="37"/>
                    <a:pt x="6" y="39"/>
                  </a:cubicBezTo>
                  <a:close/>
                  <a:moveTo>
                    <a:pt x="6" y="39"/>
                  </a:moveTo>
                  <a:cubicBezTo>
                    <a:pt x="6" y="39"/>
                    <a:pt x="6" y="39"/>
                    <a:pt x="6" y="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0" name="Freeform 26">
              <a:extLst>
                <a:ext uri="{FF2B5EF4-FFF2-40B4-BE49-F238E27FC236}">
                  <a16:creationId xmlns:a16="http://schemas.microsoft.com/office/drawing/2014/main" id="{E368A094-68E6-4975-8A22-A2E9E9E47DBB}"/>
                </a:ext>
              </a:extLst>
            </p:cNvPr>
            <p:cNvSpPr>
              <a:spLocks noEditPoints="1"/>
            </p:cNvSpPr>
            <p:nvPr/>
          </p:nvSpPr>
          <p:spPr bwMode="auto">
            <a:xfrm>
              <a:off x="4598988" y="2233613"/>
              <a:ext cx="137117" cy="496578"/>
            </a:xfrm>
            <a:custGeom>
              <a:avLst/>
              <a:gdLst>
                <a:gd name="T0" fmla="*/ 9 w 41"/>
                <a:gd name="T1" fmla="*/ 125 h 135"/>
                <a:gd name="T2" fmla="*/ 20 w 41"/>
                <a:gd name="T3" fmla="*/ 135 h 135"/>
                <a:gd name="T4" fmla="*/ 32 w 41"/>
                <a:gd name="T5" fmla="*/ 125 h 135"/>
                <a:gd name="T6" fmla="*/ 40 w 41"/>
                <a:gd name="T7" fmla="*/ 64 h 135"/>
                <a:gd name="T8" fmla="*/ 41 w 41"/>
                <a:gd name="T9" fmla="*/ 51 h 135"/>
                <a:gd name="T10" fmla="*/ 41 w 41"/>
                <a:gd name="T11" fmla="*/ 21 h 135"/>
                <a:gd name="T12" fmla="*/ 20 w 41"/>
                <a:gd name="T13" fmla="*/ 0 h 135"/>
                <a:gd name="T14" fmla="*/ 0 w 41"/>
                <a:gd name="T15" fmla="*/ 21 h 135"/>
                <a:gd name="T16" fmla="*/ 0 w 41"/>
                <a:gd name="T17" fmla="*/ 51 h 135"/>
                <a:gd name="T18" fmla="*/ 1 w 41"/>
                <a:gd name="T19" fmla="*/ 64 h 135"/>
                <a:gd name="T20" fmla="*/ 9 w 41"/>
                <a:gd name="T21" fmla="*/ 125 h 135"/>
                <a:gd name="T22" fmla="*/ 9 w 41"/>
                <a:gd name="T23" fmla="*/ 125 h 135"/>
                <a:gd name="T24" fmla="*/ 9 w 41"/>
                <a:gd name="T25" fmla="*/ 12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135">
                  <a:moveTo>
                    <a:pt x="9" y="125"/>
                  </a:moveTo>
                  <a:cubicBezTo>
                    <a:pt x="10" y="133"/>
                    <a:pt x="14" y="135"/>
                    <a:pt x="20" y="135"/>
                  </a:cubicBezTo>
                  <a:cubicBezTo>
                    <a:pt x="27" y="135"/>
                    <a:pt x="31" y="133"/>
                    <a:pt x="32" y="125"/>
                  </a:cubicBezTo>
                  <a:cubicBezTo>
                    <a:pt x="40" y="64"/>
                    <a:pt x="40" y="64"/>
                    <a:pt x="40" y="64"/>
                  </a:cubicBezTo>
                  <a:cubicBezTo>
                    <a:pt x="41" y="60"/>
                    <a:pt x="41" y="55"/>
                    <a:pt x="41" y="51"/>
                  </a:cubicBezTo>
                  <a:cubicBezTo>
                    <a:pt x="41" y="21"/>
                    <a:pt x="41" y="21"/>
                    <a:pt x="41" y="21"/>
                  </a:cubicBezTo>
                  <a:cubicBezTo>
                    <a:pt x="41" y="7"/>
                    <a:pt x="34" y="0"/>
                    <a:pt x="20" y="0"/>
                  </a:cubicBezTo>
                  <a:cubicBezTo>
                    <a:pt x="7" y="0"/>
                    <a:pt x="0" y="7"/>
                    <a:pt x="0" y="21"/>
                  </a:cubicBezTo>
                  <a:cubicBezTo>
                    <a:pt x="0" y="51"/>
                    <a:pt x="0" y="51"/>
                    <a:pt x="0" y="51"/>
                  </a:cubicBezTo>
                  <a:cubicBezTo>
                    <a:pt x="0" y="55"/>
                    <a:pt x="0" y="60"/>
                    <a:pt x="1" y="64"/>
                  </a:cubicBezTo>
                  <a:lnTo>
                    <a:pt x="9" y="125"/>
                  </a:lnTo>
                  <a:close/>
                  <a:moveTo>
                    <a:pt x="9" y="125"/>
                  </a:moveTo>
                  <a:cubicBezTo>
                    <a:pt x="9" y="125"/>
                    <a:pt x="9" y="125"/>
                    <a:pt x="9" y="1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1" name="Freeform 27">
              <a:extLst>
                <a:ext uri="{FF2B5EF4-FFF2-40B4-BE49-F238E27FC236}">
                  <a16:creationId xmlns:a16="http://schemas.microsoft.com/office/drawing/2014/main" id="{07CE8D82-5EF8-48A6-86EB-650725339373}"/>
                </a:ext>
              </a:extLst>
            </p:cNvPr>
            <p:cNvSpPr>
              <a:spLocks noEditPoints="1"/>
            </p:cNvSpPr>
            <p:nvPr/>
          </p:nvSpPr>
          <p:spPr bwMode="auto">
            <a:xfrm>
              <a:off x="4595813" y="2546350"/>
              <a:ext cx="88900" cy="90488"/>
            </a:xfrm>
            <a:custGeom>
              <a:avLst/>
              <a:gdLst>
                <a:gd name="T0" fmla="*/ 21 w 43"/>
                <a:gd name="T1" fmla="*/ 0 h 44"/>
                <a:gd name="T2" fmla="*/ 0 w 43"/>
                <a:gd name="T3" fmla="*/ 22 h 44"/>
                <a:gd name="T4" fmla="*/ 21 w 43"/>
                <a:gd name="T5" fmla="*/ 44 h 44"/>
                <a:gd name="T6" fmla="*/ 43 w 43"/>
                <a:gd name="T7" fmla="*/ 22 h 44"/>
                <a:gd name="T8" fmla="*/ 21 w 43"/>
                <a:gd name="T9" fmla="*/ 0 h 44"/>
                <a:gd name="T10" fmla="*/ 21 w 43"/>
                <a:gd name="T11" fmla="*/ 0 h 44"/>
                <a:gd name="T12" fmla="*/ 21 w 43"/>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3" h="44">
                  <a:moveTo>
                    <a:pt x="21" y="0"/>
                  </a:moveTo>
                  <a:cubicBezTo>
                    <a:pt x="10" y="0"/>
                    <a:pt x="0" y="10"/>
                    <a:pt x="0" y="22"/>
                  </a:cubicBezTo>
                  <a:cubicBezTo>
                    <a:pt x="0" y="34"/>
                    <a:pt x="10" y="44"/>
                    <a:pt x="21" y="44"/>
                  </a:cubicBezTo>
                  <a:cubicBezTo>
                    <a:pt x="33" y="44"/>
                    <a:pt x="43" y="34"/>
                    <a:pt x="43" y="22"/>
                  </a:cubicBezTo>
                  <a:cubicBezTo>
                    <a:pt x="43" y="10"/>
                    <a:pt x="33" y="0"/>
                    <a:pt x="21" y="0"/>
                  </a:cubicBezTo>
                  <a:close/>
                  <a:moveTo>
                    <a:pt x="21" y="0"/>
                  </a:moveTo>
                  <a:cubicBezTo>
                    <a:pt x="21" y="0"/>
                    <a:pt x="21" y="0"/>
                    <a:pt x="2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4061713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9AD5E0-F9C5-442E-B885-089C265D52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0515" y="866955"/>
            <a:ext cx="4222630" cy="4222630"/>
          </a:xfrm>
          <a:prstGeom prst="rect">
            <a:avLst/>
          </a:prstGeom>
        </p:spPr>
      </p:pic>
      <p:pic>
        <p:nvPicPr>
          <p:cNvPr id="6" name="Picture 5">
            <a:extLst>
              <a:ext uri="{FF2B5EF4-FFF2-40B4-BE49-F238E27FC236}">
                <a16:creationId xmlns:a16="http://schemas.microsoft.com/office/drawing/2014/main" id="{2078B90C-BDAE-4B4E-BA47-14774D480AAE}"/>
              </a:ext>
            </a:extLst>
          </p:cNvPr>
          <p:cNvPicPr>
            <a:picLocks noChangeAspect="1"/>
          </p:cNvPicPr>
          <p:nvPr/>
        </p:nvPicPr>
        <p:blipFill rotWithShape="1">
          <a:blip r:embed="rId3">
            <a:extLst>
              <a:ext uri="{28A0092B-C50C-407E-A947-70E740481C1C}">
                <a14:useLocalDpi xmlns:a14="http://schemas.microsoft.com/office/drawing/2010/main" val="0"/>
              </a:ext>
            </a:extLst>
          </a:blip>
          <a:srcRect b="9976"/>
          <a:stretch/>
        </p:blipFill>
        <p:spPr>
          <a:xfrm>
            <a:off x="1207697" y="866955"/>
            <a:ext cx="4019819" cy="3618781"/>
          </a:xfrm>
          <a:prstGeom prst="rect">
            <a:avLst/>
          </a:prstGeom>
        </p:spPr>
      </p:pic>
      <p:sp>
        <p:nvSpPr>
          <p:cNvPr id="14" name="Rectangle 13">
            <a:extLst>
              <a:ext uri="{FF2B5EF4-FFF2-40B4-BE49-F238E27FC236}">
                <a16:creationId xmlns:a16="http://schemas.microsoft.com/office/drawing/2014/main" id="{54D12C75-86E3-4886-BE0F-D1861038F392}"/>
              </a:ext>
            </a:extLst>
          </p:cNvPr>
          <p:cNvSpPr/>
          <p:nvPr/>
        </p:nvSpPr>
        <p:spPr>
          <a:xfrm>
            <a:off x="164784" y="5331948"/>
            <a:ext cx="10549223" cy="1200329"/>
          </a:xfrm>
          <a:prstGeom prst="rect">
            <a:avLst/>
          </a:prstGeom>
        </p:spPr>
        <p:txBody>
          <a:bodyPr wrap="square">
            <a:spAutoFit/>
          </a:bodyPr>
          <a:lstStyle/>
          <a:p>
            <a:pPr marL="285750" indent="-285750">
              <a:buFont typeface="Arial" panose="020B0604020202020204" pitchFamily="34" charset="0"/>
              <a:buChar char="•"/>
            </a:pPr>
            <a:r>
              <a:rPr lang="en-US" dirty="0">
                <a:latin typeface="Inter"/>
              </a:rPr>
              <a:t>The distribution is nearly even, with </a:t>
            </a:r>
            <a:r>
              <a:rPr lang="en-US" b="1" dirty="0">
                <a:latin typeface="Inter"/>
              </a:rPr>
              <a:t>48% (3,393)</a:t>
            </a:r>
            <a:r>
              <a:rPr lang="en-US" dirty="0">
                <a:latin typeface="Inter"/>
              </a:rPr>
              <a:t> having a partner and </a:t>
            </a:r>
            <a:r>
              <a:rPr lang="en-US" b="1" dirty="0">
                <a:latin typeface="Inter"/>
              </a:rPr>
              <a:t>52% (3,639)</a:t>
            </a:r>
            <a:r>
              <a:rPr lang="en-US" dirty="0">
                <a:latin typeface="Inter"/>
              </a:rPr>
              <a:t> not having a partner. This indicates a relatively balanced representation of customers with and without partners in the dataset.</a:t>
            </a:r>
          </a:p>
          <a:p>
            <a:pPr marL="285750" indent="-285750">
              <a:buFont typeface="Arial" panose="020B0604020202020204" pitchFamily="34" charset="0"/>
              <a:buChar char="•"/>
            </a:pPr>
            <a:r>
              <a:rPr lang="en-US" dirty="0"/>
              <a:t>customers without a partner have a significantly higher churn rate </a:t>
            </a:r>
            <a:r>
              <a:rPr lang="en-US" b="1" dirty="0"/>
              <a:t>(33%) </a:t>
            </a:r>
            <a:r>
              <a:rPr lang="en-US" dirty="0"/>
              <a:t>compared to those with a partner </a:t>
            </a:r>
            <a:r>
              <a:rPr lang="en-US" b="1" dirty="0"/>
              <a:t>(20%).</a:t>
            </a:r>
            <a:endParaRPr lang="en-US" b="1" i="0" dirty="0">
              <a:effectLst/>
              <a:latin typeface="Inter"/>
            </a:endParaRPr>
          </a:p>
        </p:txBody>
      </p:sp>
      <p:cxnSp>
        <p:nvCxnSpPr>
          <p:cNvPr id="15" name="Straight Connector 14">
            <a:extLst>
              <a:ext uri="{FF2B5EF4-FFF2-40B4-BE49-F238E27FC236}">
                <a16:creationId xmlns:a16="http://schemas.microsoft.com/office/drawing/2014/main" id="{79A9037D-E0E6-4DD6-B38A-501321693101}"/>
              </a:ext>
            </a:extLst>
          </p:cNvPr>
          <p:cNvCxnSpPr>
            <a:cxnSpLocks/>
          </p:cNvCxnSpPr>
          <p:nvPr/>
        </p:nvCxnSpPr>
        <p:spPr>
          <a:xfrm>
            <a:off x="6096000" y="866955"/>
            <a:ext cx="0" cy="3840480"/>
          </a:xfrm>
          <a:prstGeom prst="line">
            <a:avLst/>
          </a:prstGeom>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D14DCC85-3913-4901-8323-77ED8794D2B5}"/>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Partner Analysis</a:t>
            </a:r>
          </a:p>
        </p:txBody>
      </p:sp>
      <p:sp>
        <p:nvSpPr>
          <p:cNvPr id="8" name="TextBox 7">
            <a:extLst>
              <a:ext uri="{FF2B5EF4-FFF2-40B4-BE49-F238E27FC236}">
                <a16:creationId xmlns:a16="http://schemas.microsoft.com/office/drawing/2014/main" id="{D0686B75-E870-44AF-B6AB-598AFC993835}"/>
              </a:ext>
            </a:extLst>
          </p:cNvPr>
          <p:cNvSpPr txBox="1"/>
          <p:nvPr/>
        </p:nvSpPr>
        <p:spPr>
          <a:xfrm>
            <a:off x="458082" y="4965352"/>
            <a:ext cx="1404808" cy="369332"/>
          </a:xfrm>
          <a:prstGeom prst="rect">
            <a:avLst/>
          </a:prstGeom>
          <a:noFill/>
        </p:spPr>
        <p:txBody>
          <a:bodyPr wrap="none" rtlCol="0">
            <a:spAutoFit/>
          </a:bodyPr>
          <a:lstStyle/>
          <a:p>
            <a:r>
              <a:rPr lang="en-US" b="1" u="sng" dirty="0"/>
              <a:t>Key Insights: </a:t>
            </a:r>
          </a:p>
        </p:txBody>
      </p:sp>
      <p:grpSp>
        <p:nvGrpSpPr>
          <p:cNvPr id="9" name="Group 8">
            <a:extLst>
              <a:ext uri="{FF2B5EF4-FFF2-40B4-BE49-F238E27FC236}">
                <a16:creationId xmlns:a16="http://schemas.microsoft.com/office/drawing/2014/main" id="{7117A7AE-3B8A-4F72-819B-F120E5ABC6B5}"/>
              </a:ext>
            </a:extLst>
          </p:cNvPr>
          <p:cNvGrpSpPr/>
          <p:nvPr/>
        </p:nvGrpSpPr>
        <p:grpSpPr>
          <a:xfrm>
            <a:off x="113025" y="4917165"/>
            <a:ext cx="365760" cy="365760"/>
            <a:chOff x="4221163" y="1965325"/>
            <a:chExt cx="838200" cy="927101"/>
          </a:xfrm>
          <a:solidFill>
            <a:schemeClr val="accent1"/>
          </a:solidFill>
          <a:effectLst>
            <a:glow rad="127000">
              <a:schemeClr val="bg1">
                <a:alpha val="99000"/>
              </a:schemeClr>
            </a:glow>
          </a:effectLst>
        </p:grpSpPr>
        <p:sp>
          <p:nvSpPr>
            <p:cNvPr id="10" name="Freeform 16">
              <a:extLst>
                <a:ext uri="{FF2B5EF4-FFF2-40B4-BE49-F238E27FC236}">
                  <a16:creationId xmlns:a16="http://schemas.microsoft.com/office/drawing/2014/main" id="{62921DE7-6A47-450B-B10A-FDC7A0D9DF48}"/>
                </a:ext>
              </a:extLst>
            </p:cNvPr>
            <p:cNvSpPr>
              <a:spLocks noEditPoints="1"/>
            </p:cNvSpPr>
            <p:nvPr/>
          </p:nvSpPr>
          <p:spPr bwMode="auto">
            <a:xfrm>
              <a:off x="4359275" y="2106613"/>
              <a:ext cx="561975" cy="785813"/>
            </a:xfrm>
            <a:custGeom>
              <a:avLst/>
              <a:gdLst>
                <a:gd name="T0" fmla="*/ 136 w 273"/>
                <a:gd name="T1" fmla="*/ 0 h 381"/>
                <a:gd name="T2" fmla="*/ 0 w 273"/>
                <a:gd name="T3" fmla="*/ 132 h 381"/>
                <a:gd name="T4" fmla="*/ 33 w 273"/>
                <a:gd name="T5" fmla="*/ 229 h 381"/>
                <a:gd name="T6" fmla="*/ 47 w 273"/>
                <a:gd name="T7" fmla="*/ 257 h 381"/>
                <a:gd name="T8" fmla="*/ 72 w 273"/>
                <a:gd name="T9" fmla="*/ 302 h 381"/>
                <a:gd name="T10" fmla="*/ 74 w 273"/>
                <a:gd name="T11" fmla="*/ 337 h 381"/>
                <a:gd name="T12" fmla="*/ 74 w 273"/>
                <a:gd name="T13" fmla="*/ 337 h 381"/>
                <a:gd name="T14" fmla="*/ 102 w 273"/>
                <a:gd name="T15" fmla="*/ 367 h 381"/>
                <a:gd name="T16" fmla="*/ 114 w 273"/>
                <a:gd name="T17" fmla="*/ 378 h 381"/>
                <a:gd name="T18" fmla="*/ 123 w 273"/>
                <a:gd name="T19" fmla="*/ 381 h 381"/>
                <a:gd name="T20" fmla="*/ 150 w 273"/>
                <a:gd name="T21" fmla="*/ 381 h 381"/>
                <a:gd name="T22" fmla="*/ 159 w 273"/>
                <a:gd name="T23" fmla="*/ 378 h 381"/>
                <a:gd name="T24" fmla="*/ 171 w 273"/>
                <a:gd name="T25" fmla="*/ 367 h 381"/>
                <a:gd name="T26" fmla="*/ 199 w 273"/>
                <a:gd name="T27" fmla="*/ 337 h 381"/>
                <a:gd name="T28" fmla="*/ 201 w 273"/>
                <a:gd name="T29" fmla="*/ 302 h 381"/>
                <a:gd name="T30" fmla="*/ 226 w 273"/>
                <a:gd name="T31" fmla="*/ 257 h 381"/>
                <a:gd name="T32" fmla="*/ 240 w 273"/>
                <a:gd name="T33" fmla="*/ 228 h 381"/>
                <a:gd name="T34" fmla="*/ 273 w 273"/>
                <a:gd name="T35" fmla="*/ 132 h 381"/>
                <a:gd name="T36" fmla="*/ 136 w 273"/>
                <a:gd name="T37" fmla="*/ 0 h 381"/>
                <a:gd name="T38" fmla="*/ 211 w 273"/>
                <a:gd name="T39" fmla="*/ 209 h 381"/>
                <a:gd name="T40" fmla="*/ 192 w 273"/>
                <a:gd name="T41" fmla="*/ 257 h 381"/>
                <a:gd name="T42" fmla="*/ 179 w 273"/>
                <a:gd name="T43" fmla="*/ 275 h 381"/>
                <a:gd name="T44" fmla="*/ 94 w 273"/>
                <a:gd name="T45" fmla="*/ 275 h 381"/>
                <a:gd name="T46" fmla="*/ 81 w 273"/>
                <a:gd name="T47" fmla="*/ 257 h 381"/>
                <a:gd name="T48" fmla="*/ 61 w 273"/>
                <a:gd name="T49" fmla="*/ 209 h 381"/>
                <a:gd name="T50" fmla="*/ 34 w 273"/>
                <a:gd name="T51" fmla="*/ 132 h 381"/>
                <a:gd name="T52" fmla="*/ 136 w 273"/>
                <a:gd name="T53" fmla="*/ 35 h 381"/>
                <a:gd name="T54" fmla="*/ 239 w 273"/>
                <a:gd name="T55" fmla="*/ 132 h 381"/>
                <a:gd name="T56" fmla="*/ 211 w 273"/>
                <a:gd name="T57" fmla="*/ 209 h 381"/>
                <a:gd name="T58" fmla="*/ 211 w 273"/>
                <a:gd name="T59" fmla="*/ 209 h 381"/>
                <a:gd name="T60" fmla="*/ 211 w 273"/>
                <a:gd name="T61" fmla="*/ 20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3" h="381">
                  <a:moveTo>
                    <a:pt x="136" y="0"/>
                  </a:moveTo>
                  <a:cubicBezTo>
                    <a:pt x="61" y="0"/>
                    <a:pt x="0" y="59"/>
                    <a:pt x="0" y="132"/>
                  </a:cubicBezTo>
                  <a:cubicBezTo>
                    <a:pt x="0" y="180"/>
                    <a:pt x="19" y="208"/>
                    <a:pt x="33" y="229"/>
                  </a:cubicBezTo>
                  <a:cubicBezTo>
                    <a:pt x="42" y="241"/>
                    <a:pt x="47" y="249"/>
                    <a:pt x="47" y="257"/>
                  </a:cubicBezTo>
                  <a:cubicBezTo>
                    <a:pt x="47" y="274"/>
                    <a:pt x="56" y="290"/>
                    <a:pt x="72" y="302"/>
                  </a:cubicBezTo>
                  <a:cubicBezTo>
                    <a:pt x="73" y="312"/>
                    <a:pt x="74" y="337"/>
                    <a:pt x="74" y="337"/>
                  </a:cubicBezTo>
                  <a:cubicBezTo>
                    <a:pt x="74" y="337"/>
                    <a:pt x="74" y="337"/>
                    <a:pt x="74" y="337"/>
                  </a:cubicBezTo>
                  <a:cubicBezTo>
                    <a:pt x="74" y="344"/>
                    <a:pt x="78" y="359"/>
                    <a:pt x="102" y="367"/>
                  </a:cubicBezTo>
                  <a:cubicBezTo>
                    <a:pt x="105" y="371"/>
                    <a:pt x="109" y="375"/>
                    <a:pt x="114" y="378"/>
                  </a:cubicBezTo>
                  <a:cubicBezTo>
                    <a:pt x="116" y="380"/>
                    <a:pt x="120" y="381"/>
                    <a:pt x="123" y="381"/>
                  </a:cubicBezTo>
                  <a:cubicBezTo>
                    <a:pt x="150" y="381"/>
                    <a:pt x="150" y="381"/>
                    <a:pt x="150" y="381"/>
                  </a:cubicBezTo>
                  <a:cubicBezTo>
                    <a:pt x="153" y="381"/>
                    <a:pt x="157" y="380"/>
                    <a:pt x="159" y="378"/>
                  </a:cubicBezTo>
                  <a:cubicBezTo>
                    <a:pt x="164" y="375"/>
                    <a:pt x="168" y="371"/>
                    <a:pt x="171" y="367"/>
                  </a:cubicBezTo>
                  <a:cubicBezTo>
                    <a:pt x="195" y="359"/>
                    <a:pt x="199" y="344"/>
                    <a:pt x="199" y="337"/>
                  </a:cubicBezTo>
                  <a:cubicBezTo>
                    <a:pt x="199" y="337"/>
                    <a:pt x="200" y="312"/>
                    <a:pt x="201" y="302"/>
                  </a:cubicBezTo>
                  <a:cubicBezTo>
                    <a:pt x="217" y="290"/>
                    <a:pt x="226" y="274"/>
                    <a:pt x="226" y="257"/>
                  </a:cubicBezTo>
                  <a:cubicBezTo>
                    <a:pt x="226" y="249"/>
                    <a:pt x="231" y="241"/>
                    <a:pt x="240" y="228"/>
                  </a:cubicBezTo>
                  <a:cubicBezTo>
                    <a:pt x="254" y="208"/>
                    <a:pt x="273" y="180"/>
                    <a:pt x="273" y="132"/>
                  </a:cubicBezTo>
                  <a:cubicBezTo>
                    <a:pt x="273" y="59"/>
                    <a:pt x="212" y="0"/>
                    <a:pt x="136" y="0"/>
                  </a:cubicBezTo>
                  <a:close/>
                  <a:moveTo>
                    <a:pt x="211" y="209"/>
                  </a:moveTo>
                  <a:cubicBezTo>
                    <a:pt x="201" y="224"/>
                    <a:pt x="192" y="238"/>
                    <a:pt x="192" y="257"/>
                  </a:cubicBezTo>
                  <a:cubicBezTo>
                    <a:pt x="192" y="265"/>
                    <a:pt x="184" y="271"/>
                    <a:pt x="179" y="275"/>
                  </a:cubicBezTo>
                  <a:cubicBezTo>
                    <a:pt x="94" y="275"/>
                    <a:pt x="94" y="275"/>
                    <a:pt x="94" y="275"/>
                  </a:cubicBezTo>
                  <a:cubicBezTo>
                    <a:pt x="89" y="271"/>
                    <a:pt x="81" y="265"/>
                    <a:pt x="81" y="257"/>
                  </a:cubicBezTo>
                  <a:cubicBezTo>
                    <a:pt x="81" y="238"/>
                    <a:pt x="72" y="224"/>
                    <a:pt x="61" y="209"/>
                  </a:cubicBezTo>
                  <a:cubicBezTo>
                    <a:pt x="49" y="190"/>
                    <a:pt x="34" y="169"/>
                    <a:pt x="34" y="132"/>
                  </a:cubicBezTo>
                  <a:cubicBezTo>
                    <a:pt x="34" y="78"/>
                    <a:pt x="80" y="35"/>
                    <a:pt x="136" y="35"/>
                  </a:cubicBezTo>
                  <a:cubicBezTo>
                    <a:pt x="193" y="35"/>
                    <a:pt x="239" y="78"/>
                    <a:pt x="239" y="132"/>
                  </a:cubicBezTo>
                  <a:cubicBezTo>
                    <a:pt x="239" y="169"/>
                    <a:pt x="224" y="190"/>
                    <a:pt x="211" y="209"/>
                  </a:cubicBezTo>
                  <a:close/>
                  <a:moveTo>
                    <a:pt x="211" y="209"/>
                  </a:moveTo>
                  <a:cubicBezTo>
                    <a:pt x="211" y="209"/>
                    <a:pt x="211" y="209"/>
                    <a:pt x="211" y="20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 name="Freeform 17">
              <a:extLst>
                <a:ext uri="{FF2B5EF4-FFF2-40B4-BE49-F238E27FC236}">
                  <a16:creationId xmlns:a16="http://schemas.microsoft.com/office/drawing/2014/main" id="{B2B3C4E8-BAE2-4E22-A723-F5A75AE92AFF}"/>
                </a:ext>
              </a:extLst>
            </p:cNvPr>
            <p:cNvSpPr>
              <a:spLocks noEditPoints="1"/>
            </p:cNvSpPr>
            <p:nvPr/>
          </p:nvSpPr>
          <p:spPr bwMode="auto">
            <a:xfrm>
              <a:off x="4622800" y="1965325"/>
              <a:ext cx="34925" cy="88900"/>
            </a:xfrm>
            <a:custGeom>
              <a:avLst/>
              <a:gdLst>
                <a:gd name="T0" fmla="*/ 8 w 17"/>
                <a:gd name="T1" fmla="*/ 43 h 43"/>
                <a:gd name="T2" fmla="*/ 17 w 17"/>
                <a:gd name="T3" fmla="*/ 34 h 43"/>
                <a:gd name="T4" fmla="*/ 17 w 17"/>
                <a:gd name="T5" fmla="*/ 8 h 43"/>
                <a:gd name="T6" fmla="*/ 8 w 17"/>
                <a:gd name="T7" fmla="*/ 0 h 43"/>
                <a:gd name="T8" fmla="*/ 0 w 17"/>
                <a:gd name="T9" fmla="*/ 8 h 43"/>
                <a:gd name="T10" fmla="*/ 0 w 17"/>
                <a:gd name="T11" fmla="*/ 34 h 43"/>
                <a:gd name="T12" fmla="*/ 8 w 17"/>
                <a:gd name="T13" fmla="*/ 43 h 43"/>
                <a:gd name="T14" fmla="*/ 8 w 17"/>
                <a:gd name="T15" fmla="*/ 43 h 43"/>
                <a:gd name="T16" fmla="*/ 8 w 17"/>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43">
                  <a:moveTo>
                    <a:pt x="8" y="43"/>
                  </a:moveTo>
                  <a:cubicBezTo>
                    <a:pt x="13" y="43"/>
                    <a:pt x="17" y="39"/>
                    <a:pt x="17" y="34"/>
                  </a:cubicBezTo>
                  <a:cubicBezTo>
                    <a:pt x="17" y="8"/>
                    <a:pt x="17" y="8"/>
                    <a:pt x="17" y="8"/>
                  </a:cubicBezTo>
                  <a:cubicBezTo>
                    <a:pt x="17" y="4"/>
                    <a:pt x="13" y="0"/>
                    <a:pt x="8" y="0"/>
                  </a:cubicBezTo>
                  <a:cubicBezTo>
                    <a:pt x="4" y="0"/>
                    <a:pt x="0" y="4"/>
                    <a:pt x="0" y="8"/>
                  </a:cubicBezTo>
                  <a:cubicBezTo>
                    <a:pt x="0" y="34"/>
                    <a:pt x="0" y="34"/>
                    <a:pt x="0" y="34"/>
                  </a:cubicBezTo>
                  <a:cubicBezTo>
                    <a:pt x="0" y="39"/>
                    <a:pt x="4" y="43"/>
                    <a:pt x="8" y="43"/>
                  </a:cubicBezTo>
                  <a:close/>
                  <a:moveTo>
                    <a:pt x="8" y="43"/>
                  </a:moveTo>
                  <a:cubicBezTo>
                    <a:pt x="8" y="43"/>
                    <a:pt x="8" y="43"/>
                    <a:pt x="8" y="4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3" name="Freeform 18">
              <a:extLst>
                <a:ext uri="{FF2B5EF4-FFF2-40B4-BE49-F238E27FC236}">
                  <a16:creationId xmlns:a16="http://schemas.microsoft.com/office/drawing/2014/main" id="{F31BC007-3823-4EC3-A340-F91FAFC63273}"/>
                </a:ext>
              </a:extLst>
            </p:cNvPr>
            <p:cNvSpPr>
              <a:spLocks noEditPoints="1"/>
            </p:cNvSpPr>
            <p:nvPr/>
          </p:nvSpPr>
          <p:spPr bwMode="auto">
            <a:xfrm>
              <a:off x="4419600" y="2016125"/>
              <a:ext cx="66675" cy="84138"/>
            </a:xfrm>
            <a:custGeom>
              <a:avLst/>
              <a:gdLst>
                <a:gd name="T0" fmla="*/ 16 w 33"/>
                <a:gd name="T1" fmla="*/ 36 h 41"/>
                <a:gd name="T2" fmla="*/ 23 w 33"/>
                <a:gd name="T3" fmla="*/ 41 h 41"/>
                <a:gd name="T4" fmla="*/ 27 w 33"/>
                <a:gd name="T5" fmla="*/ 39 h 41"/>
                <a:gd name="T6" fmla="*/ 31 w 33"/>
                <a:gd name="T7" fmla="*/ 28 h 41"/>
                <a:gd name="T8" fmla="*/ 18 w 33"/>
                <a:gd name="T9" fmla="*/ 5 h 41"/>
                <a:gd name="T10" fmla="*/ 6 w 33"/>
                <a:gd name="T11" fmla="*/ 2 h 41"/>
                <a:gd name="T12" fmla="*/ 3 w 33"/>
                <a:gd name="T13" fmla="*/ 14 h 41"/>
                <a:gd name="T14" fmla="*/ 16 w 33"/>
                <a:gd name="T15" fmla="*/ 36 h 41"/>
                <a:gd name="T16" fmla="*/ 16 w 33"/>
                <a:gd name="T17" fmla="*/ 36 h 41"/>
                <a:gd name="T18" fmla="*/ 16 w 33"/>
                <a:gd name="T19" fmla="*/ 3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16" y="36"/>
                  </a:moveTo>
                  <a:cubicBezTo>
                    <a:pt x="17" y="39"/>
                    <a:pt x="20" y="41"/>
                    <a:pt x="23" y="41"/>
                  </a:cubicBezTo>
                  <a:cubicBezTo>
                    <a:pt x="24" y="41"/>
                    <a:pt x="26" y="40"/>
                    <a:pt x="27" y="39"/>
                  </a:cubicBezTo>
                  <a:cubicBezTo>
                    <a:pt x="31" y="37"/>
                    <a:pt x="33" y="32"/>
                    <a:pt x="31" y="28"/>
                  </a:cubicBezTo>
                  <a:cubicBezTo>
                    <a:pt x="18" y="5"/>
                    <a:pt x="18" y="5"/>
                    <a:pt x="18" y="5"/>
                  </a:cubicBezTo>
                  <a:cubicBezTo>
                    <a:pt x="15" y="1"/>
                    <a:pt x="10" y="0"/>
                    <a:pt x="6" y="2"/>
                  </a:cubicBezTo>
                  <a:cubicBezTo>
                    <a:pt x="2" y="4"/>
                    <a:pt x="0" y="10"/>
                    <a:pt x="3" y="14"/>
                  </a:cubicBezTo>
                  <a:lnTo>
                    <a:pt x="16" y="36"/>
                  </a:lnTo>
                  <a:close/>
                  <a:moveTo>
                    <a:pt x="16" y="36"/>
                  </a:moveTo>
                  <a:cubicBezTo>
                    <a:pt x="16" y="36"/>
                    <a:pt x="16" y="36"/>
                    <a:pt x="16"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 name="Freeform 19">
              <a:extLst>
                <a:ext uri="{FF2B5EF4-FFF2-40B4-BE49-F238E27FC236}">
                  <a16:creationId xmlns:a16="http://schemas.microsoft.com/office/drawing/2014/main" id="{474BE8B0-A537-4E3C-8038-2E474BFC5430}"/>
                </a:ext>
              </a:extLst>
            </p:cNvPr>
            <p:cNvSpPr>
              <a:spLocks noEditPoints="1"/>
            </p:cNvSpPr>
            <p:nvPr/>
          </p:nvSpPr>
          <p:spPr bwMode="auto">
            <a:xfrm>
              <a:off x="4273550" y="2162175"/>
              <a:ext cx="85725" cy="65088"/>
            </a:xfrm>
            <a:custGeom>
              <a:avLst/>
              <a:gdLst>
                <a:gd name="T0" fmla="*/ 37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7 w 42"/>
                <a:gd name="T15" fmla="*/ 15 h 31"/>
                <a:gd name="T16" fmla="*/ 37 w 42"/>
                <a:gd name="T17" fmla="*/ 15 h 31"/>
                <a:gd name="T18" fmla="*/ 37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7" y="15"/>
                  </a:moveTo>
                  <a:cubicBezTo>
                    <a:pt x="14" y="2"/>
                    <a:pt x="14" y="2"/>
                    <a:pt x="14" y="2"/>
                  </a:cubicBezTo>
                  <a:cubicBezTo>
                    <a:pt x="10" y="0"/>
                    <a:pt x="5" y="1"/>
                    <a:pt x="2" y="5"/>
                  </a:cubicBezTo>
                  <a:cubicBezTo>
                    <a:pt x="0" y="10"/>
                    <a:pt x="1" y="15"/>
                    <a:pt x="5" y="17"/>
                  </a:cubicBezTo>
                  <a:cubicBezTo>
                    <a:pt x="28" y="30"/>
                    <a:pt x="28" y="30"/>
                    <a:pt x="28" y="30"/>
                  </a:cubicBezTo>
                  <a:cubicBezTo>
                    <a:pt x="29" y="31"/>
                    <a:pt x="31" y="31"/>
                    <a:pt x="32" y="31"/>
                  </a:cubicBezTo>
                  <a:cubicBezTo>
                    <a:pt x="35" y="31"/>
                    <a:pt x="38" y="30"/>
                    <a:pt x="40" y="27"/>
                  </a:cubicBezTo>
                  <a:cubicBezTo>
                    <a:pt x="42" y="23"/>
                    <a:pt x="41" y="18"/>
                    <a:pt x="37" y="15"/>
                  </a:cubicBezTo>
                  <a:close/>
                  <a:moveTo>
                    <a:pt x="37" y="15"/>
                  </a:moveTo>
                  <a:cubicBezTo>
                    <a:pt x="37" y="15"/>
                    <a:pt x="37" y="15"/>
                    <a:pt x="37"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Freeform 20">
              <a:extLst>
                <a:ext uri="{FF2B5EF4-FFF2-40B4-BE49-F238E27FC236}">
                  <a16:creationId xmlns:a16="http://schemas.microsoft.com/office/drawing/2014/main" id="{33497B41-3C0F-459C-8200-E400EB0EBA3C}"/>
                </a:ext>
              </a:extLst>
            </p:cNvPr>
            <p:cNvSpPr>
              <a:spLocks noEditPoints="1"/>
            </p:cNvSpPr>
            <p:nvPr/>
          </p:nvSpPr>
          <p:spPr bwMode="auto">
            <a:xfrm>
              <a:off x="4221163" y="2366963"/>
              <a:ext cx="88900" cy="34925"/>
            </a:xfrm>
            <a:custGeom>
              <a:avLst/>
              <a:gdLst>
                <a:gd name="T0" fmla="*/ 43 w 43"/>
                <a:gd name="T1" fmla="*/ 8 h 17"/>
                <a:gd name="T2" fmla="*/ 35 w 43"/>
                <a:gd name="T3" fmla="*/ 0 h 17"/>
                <a:gd name="T4" fmla="*/ 9 w 43"/>
                <a:gd name="T5" fmla="*/ 0 h 17"/>
                <a:gd name="T6" fmla="*/ 0 w 43"/>
                <a:gd name="T7" fmla="*/ 8 h 17"/>
                <a:gd name="T8" fmla="*/ 9 w 43"/>
                <a:gd name="T9" fmla="*/ 17 h 17"/>
                <a:gd name="T10" fmla="*/ 35 w 43"/>
                <a:gd name="T11" fmla="*/ 17 h 17"/>
                <a:gd name="T12" fmla="*/ 43 w 43"/>
                <a:gd name="T13" fmla="*/ 8 h 17"/>
                <a:gd name="T14" fmla="*/ 43 w 43"/>
                <a:gd name="T15" fmla="*/ 8 h 17"/>
                <a:gd name="T16" fmla="*/ 43 w 43"/>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43" y="8"/>
                  </a:moveTo>
                  <a:cubicBezTo>
                    <a:pt x="43" y="3"/>
                    <a:pt x="39" y="0"/>
                    <a:pt x="35" y="0"/>
                  </a:cubicBezTo>
                  <a:cubicBezTo>
                    <a:pt x="9" y="0"/>
                    <a:pt x="9" y="0"/>
                    <a:pt x="9" y="0"/>
                  </a:cubicBezTo>
                  <a:cubicBezTo>
                    <a:pt x="4" y="0"/>
                    <a:pt x="0" y="3"/>
                    <a:pt x="0" y="8"/>
                  </a:cubicBezTo>
                  <a:cubicBezTo>
                    <a:pt x="0" y="13"/>
                    <a:pt x="4" y="17"/>
                    <a:pt x="9" y="17"/>
                  </a:cubicBezTo>
                  <a:cubicBezTo>
                    <a:pt x="35" y="17"/>
                    <a:pt x="35" y="17"/>
                    <a:pt x="35" y="17"/>
                  </a:cubicBezTo>
                  <a:cubicBezTo>
                    <a:pt x="39" y="17"/>
                    <a:pt x="43" y="13"/>
                    <a:pt x="43" y="8"/>
                  </a:cubicBezTo>
                  <a:close/>
                  <a:moveTo>
                    <a:pt x="43" y="8"/>
                  </a:moveTo>
                  <a:cubicBezTo>
                    <a:pt x="43" y="8"/>
                    <a:pt x="43" y="8"/>
                    <a:pt x="43"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Freeform 21">
              <a:extLst>
                <a:ext uri="{FF2B5EF4-FFF2-40B4-BE49-F238E27FC236}">
                  <a16:creationId xmlns:a16="http://schemas.microsoft.com/office/drawing/2014/main" id="{3F842C89-311E-4E09-A495-7B608BC0727F}"/>
                </a:ext>
              </a:extLst>
            </p:cNvPr>
            <p:cNvSpPr>
              <a:spLocks noEditPoints="1"/>
            </p:cNvSpPr>
            <p:nvPr/>
          </p:nvSpPr>
          <p:spPr bwMode="auto">
            <a:xfrm>
              <a:off x="4273550" y="2538413"/>
              <a:ext cx="85725" cy="63500"/>
            </a:xfrm>
            <a:custGeom>
              <a:avLst/>
              <a:gdLst>
                <a:gd name="T0" fmla="*/ 28 w 42"/>
                <a:gd name="T1" fmla="*/ 2 h 31"/>
                <a:gd name="T2" fmla="*/ 5 w 42"/>
                <a:gd name="T3" fmla="*/ 15 h 31"/>
                <a:gd name="T4" fmla="*/ 2 w 42"/>
                <a:gd name="T5" fmla="*/ 27 h 31"/>
                <a:gd name="T6" fmla="*/ 10 w 42"/>
                <a:gd name="T7" fmla="*/ 31 h 31"/>
                <a:gd name="T8" fmla="*/ 14 w 42"/>
                <a:gd name="T9" fmla="*/ 30 h 31"/>
                <a:gd name="T10" fmla="*/ 37 w 42"/>
                <a:gd name="T11" fmla="*/ 17 h 31"/>
                <a:gd name="T12" fmla="*/ 40 w 42"/>
                <a:gd name="T13" fmla="*/ 5 h 31"/>
                <a:gd name="T14" fmla="*/ 28 w 42"/>
                <a:gd name="T15" fmla="*/ 2 h 31"/>
                <a:gd name="T16" fmla="*/ 28 w 42"/>
                <a:gd name="T17" fmla="*/ 2 h 31"/>
                <a:gd name="T18" fmla="*/ 28 w 42"/>
                <a:gd name="T19"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28" y="2"/>
                  </a:moveTo>
                  <a:cubicBezTo>
                    <a:pt x="5" y="15"/>
                    <a:pt x="5" y="15"/>
                    <a:pt x="5" y="15"/>
                  </a:cubicBezTo>
                  <a:cubicBezTo>
                    <a:pt x="1" y="18"/>
                    <a:pt x="0" y="23"/>
                    <a:pt x="2" y="27"/>
                  </a:cubicBezTo>
                  <a:cubicBezTo>
                    <a:pt x="4" y="30"/>
                    <a:pt x="7" y="31"/>
                    <a:pt x="10" y="31"/>
                  </a:cubicBezTo>
                  <a:cubicBezTo>
                    <a:pt x="11" y="31"/>
                    <a:pt x="13" y="31"/>
                    <a:pt x="14" y="30"/>
                  </a:cubicBezTo>
                  <a:cubicBezTo>
                    <a:pt x="37" y="17"/>
                    <a:pt x="37" y="17"/>
                    <a:pt x="37" y="17"/>
                  </a:cubicBezTo>
                  <a:cubicBezTo>
                    <a:pt x="41" y="15"/>
                    <a:pt x="42" y="9"/>
                    <a:pt x="40" y="5"/>
                  </a:cubicBezTo>
                  <a:cubicBezTo>
                    <a:pt x="37" y="1"/>
                    <a:pt x="32" y="0"/>
                    <a:pt x="28" y="2"/>
                  </a:cubicBezTo>
                  <a:close/>
                  <a:moveTo>
                    <a:pt x="28" y="2"/>
                  </a:moveTo>
                  <a:cubicBezTo>
                    <a:pt x="28" y="2"/>
                    <a:pt x="28" y="2"/>
                    <a:pt x="28"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Freeform 22">
              <a:extLst>
                <a:ext uri="{FF2B5EF4-FFF2-40B4-BE49-F238E27FC236}">
                  <a16:creationId xmlns:a16="http://schemas.microsoft.com/office/drawing/2014/main" id="{3C7D476A-6D33-49A7-B51E-B4982131E7E1}"/>
                </a:ext>
              </a:extLst>
            </p:cNvPr>
            <p:cNvSpPr>
              <a:spLocks noEditPoints="1"/>
            </p:cNvSpPr>
            <p:nvPr/>
          </p:nvSpPr>
          <p:spPr bwMode="auto">
            <a:xfrm>
              <a:off x="4921250" y="2538413"/>
              <a:ext cx="87313" cy="63500"/>
            </a:xfrm>
            <a:custGeom>
              <a:avLst/>
              <a:gdLst>
                <a:gd name="T0" fmla="*/ 36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6 w 42"/>
                <a:gd name="T15" fmla="*/ 15 h 31"/>
                <a:gd name="T16" fmla="*/ 36 w 42"/>
                <a:gd name="T17" fmla="*/ 15 h 31"/>
                <a:gd name="T18" fmla="*/ 36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6" y="15"/>
                  </a:moveTo>
                  <a:cubicBezTo>
                    <a:pt x="14" y="2"/>
                    <a:pt x="14" y="2"/>
                    <a:pt x="14" y="2"/>
                  </a:cubicBezTo>
                  <a:cubicBezTo>
                    <a:pt x="10" y="0"/>
                    <a:pt x="5" y="1"/>
                    <a:pt x="2" y="5"/>
                  </a:cubicBezTo>
                  <a:cubicBezTo>
                    <a:pt x="0" y="9"/>
                    <a:pt x="1" y="15"/>
                    <a:pt x="5" y="17"/>
                  </a:cubicBezTo>
                  <a:cubicBezTo>
                    <a:pt x="28" y="30"/>
                    <a:pt x="28" y="30"/>
                    <a:pt x="28" y="30"/>
                  </a:cubicBezTo>
                  <a:cubicBezTo>
                    <a:pt x="29" y="31"/>
                    <a:pt x="31" y="31"/>
                    <a:pt x="32" y="31"/>
                  </a:cubicBezTo>
                  <a:cubicBezTo>
                    <a:pt x="35" y="31"/>
                    <a:pt x="38" y="30"/>
                    <a:pt x="40" y="27"/>
                  </a:cubicBezTo>
                  <a:cubicBezTo>
                    <a:pt x="42" y="23"/>
                    <a:pt x="41" y="18"/>
                    <a:pt x="36" y="15"/>
                  </a:cubicBezTo>
                  <a:close/>
                  <a:moveTo>
                    <a:pt x="36" y="15"/>
                  </a:moveTo>
                  <a:cubicBezTo>
                    <a:pt x="36" y="15"/>
                    <a:pt x="36" y="15"/>
                    <a:pt x="36"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0" name="Freeform 23">
              <a:extLst>
                <a:ext uri="{FF2B5EF4-FFF2-40B4-BE49-F238E27FC236}">
                  <a16:creationId xmlns:a16="http://schemas.microsoft.com/office/drawing/2014/main" id="{DCBF55B8-E8F2-4AD2-974B-AB238B618622}"/>
                </a:ext>
              </a:extLst>
            </p:cNvPr>
            <p:cNvSpPr>
              <a:spLocks noEditPoints="1"/>
            </p:cNvSpPr>
            <p:nvPr/>
          </p:nvSpPr>
          <p:spPr bwMode="auto">
            <a:xfrm>
              <a:off x="4970463" y="2366963"/>
              <a:ext cx="88900" cy="34925"/>
            </a:xfrm>
            <a:custGeom>
              <a:avLst/>
              <a:gdLst>
                <a:gd name="T0" fmla="*/ 34 w 43"/>
                <a:gd name="T1" fmla="*/ 0 h 17"/>
                <a:gd name="T2" fmla="*/ 8 w 43"/>
                <a:gd name="T3" fmla="*/ 0 h 17"/>
                <a:gd name="T4" fmla="*/ 0 w 43"/>
                <a:gd name="T5" fmla="*/ 8 h 17"/>
                <a:gd name="T6" fmla="*/ 8 w 43"/>
                <a:gd name="T7" fmla="*/ 17 h 17"/>
                <a:gd name="T8" fmla="*/ 34 w 43"/>
                <a:gd name="T9" fmla="*/ 17 h 17"/>
                <a:gd name="T10" fmla="*/ 43 w 43"/>
                <a:gd name="T11" fmla="*/ 8 h 17"/>
                <a:gd name="T12" fmla="*/ 34 w 43"/>
                <a:gd name="T13" fmla="*/ 0 h 17"/>
                <a:gd name="T14" fmla="*/ 34 w 43"/>
                <a:gd name="T15" fmla="*/ 0 h 17"/>
                <a:gd name="T16" fmla="*/ 34 w 43"/>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34" y="0"/>
                  </a:moveTo>
                  <a:cubicBezTo>
                    <a:pt x="8" y="0"/>
                    <a:pt x="8" y="0"/>
                    <a:pt x="8" y="0"/>
                  </a:cubicBezTo>
                  <a:cubicBezTo>
                    <a:pt x="4" y="0"/>
                    <a:pt x="0" y="3"/>
                    <a:pt x="0" y="8"/>
                  </a:cubicBezTo>
                  <a:cubicBezTo>
                    <a:pt x="0" y="13"/>
                    <a:pt x="4" y="17"/>
                    <a:pt x="8" y="17"/>
                  </a:cubicBezTo>
                  <a:cubicBezTo>
                    <a:pt x="34" y="17"/>
                    <a:pt x="34" y="17"/>
                    <a:pt x="34" y="17"/>
                  </a:cubicBezTo>
                  <a:cubicBezTo>
                    <a:pt x="39" y="17"/>
                    <a:pt x="43" y="13"/>
                    <a:pt x="43" y="8"/>
                  </a:cubicBezTo>
                  <a:cubicBezTo>
                    <a:pt x="43" y="3"/>
                    <a:pt x="39" y="0"/>
                    <a:pt x="34" y="0"/>
                  </a:cubicBezTo>
                  <a:close/>
                  <a:moveTo>
                    <a:pt x="34" y="0"/>
                  </a:moveTo>
                  <a:cubicBezTo>
                    <a:pt x="34" y="0"/>
                    <a:pt x="34" y="0"/>
                    <a:pt x="3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1" name="Freeform 24">
              <a:extLst>
                <a:ext uri="{FF2B5EF4-FFF2-40B4-BE49-F238E27FC236}">
                  <a16:creationId xmlns:a16="http://schemas.microsoft.com/office/drawing/2014/main" id="{411A275F-DE61-4EBD-93C7-FD44AB52395F}"/>
                </a:ext>
              </a:extLst>
            </p:cNvPr>
            <p:cNvSpPr>
              <a:spLocks noEditPoints="1"/>
            </p:cNvSpPr>
            <p:nvPr/>
          </p:nvSpPr>
          <p:spPr bwMode="auto">
            <a:xfrm>
              <a:off x="4921250" y="2162175"/>
              <a:ext cx="87313" cy="65088"/>
            </a:xfrm>
            <a:custGeom>
              <a:avLst/>
              <a:gdLst>
                <a:gd name="T0" fmla="*/ 10 w 42"/>
                <a:gd name="T1" fmla="*/ 31 h 31"/>
                <a:gd name="T2" fmla="*/ 14 w 42"/>
                <a:gd name="T3" fmla="*/ 30 h 31"/>
                <a:gd name="T4" fmla="*/ 36 w 42"/>
                <a:gd name="T5" fmla="*/ 17 h 31"/>
                <a:gd name="T6" fmla="*/ 40 w 42"/>
                <a:gd name="T7" fmla="*/ 5 h 31"/>
                <a:gd name="T8" fmla="*/ 28 w 42"/>
                <a:gd name="T9" fmla="*/ 2 h 31"/>
                <a:gd name="T10" fmla="*/ 5 w 42"/>
                <a:gd name="T11" fmla="*/ 15 h 31"/>
                <a:gd name="T12" fmla="*/ 2 w 42"/>
                <a:gd name="T13" fmla="*/ 27 h 31"/>
                <a:gd name="T14" fmla="*/ 10 w 42"/>
                <a:gd name="T15" fmla="*/ 31 h 31"/>
                <a:gd name="T16" fmla="*/ 10 w 42"/>
                <a:gd name="T17" fmla="*/ 31 h 31"/>
                <a:gd name="T18" fmla="*/ 10 w 42"/>
                <a:gd name="T19"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10" y="31"/>
                  </a:moveTo>
                  <a:cubicBezTo>
                    <a:pt x="11" y="31"/>
                    <a:pt x="13" y="31"/>
                    <a:pt x="14" y="30"/>
                  </a:cubicBezTo>
                  <a:cubicBezTo>
                    <a:pt x="36" y="17"/>
                    <a:pt x="36" y="17"/>
                    <a:pt x="36" y="17"/>
                  </a:cubicBezTo>
                  <a:cubicBezTo>
                    <a:pt x="41" y="15"/>
                    <a:pt x="42" y="10"/>
                    <a:pt x="40" y="5"/>
                  </a:cubicBezTo>
                  <a:cubicBezTo>
                    <a:pt x="37" y="1"/>
                    <a:pt x="32" y="0"/>
                    <a:pt x="28" y="2"/>
                  </a:cubicBezTo>
                  <a:cubicBezTo>
                    <a:pt x="5" y="15"/>
                    <a:pt x="5" y="15"/>
                    <a:pt x="5" y="15"/>
                  </a:cubicBezTo>
                  <a:cubicBezTo>
                    <a:pt x="1" y="18"/>
                    <a:pt x="0" y="23"/>
                    <a:pt x="2" y="27"/>
                  </a:cubicBezTo>
                  <a:cubicBezTo>
                    <a:pt x="4" y="30"/>
                    <a:pt x="7" y="31"/>
                    <a:pt x="10" y="31"/>
                  </a:cubicBezTo>
                  <a:close/>
                  <a:moveTo>
                    <a:pt x="10" y="31"/>
                  </a:moveTo>
                  <a:cubicBezTo>
                    <a:pt x="10" y="31"/>
                    <a:pt x="10" y="31"/>
                    <a:pt x="10"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Freeform 25">
              <a:extLst>
                <a:ext uri="{FF2B5EF4-FFF2-40B4-BE49-F238E27FC236}">
                  <a16:creationId xmlns:a16="http://schemas.microsoft.com/office/drawing/2014/main" id="{E7EAFAE8-DB70-471A-8D85-D401C3783534}"/>
                </a:ext>
              </a:extLst>
            </p:cNvPr>
            <p:cNvSpPr>
              <a:spLocks noEditPoints="1"/>
            </p:cNvSpPr>
            <p:nvPr/>
          </p:nvSpPr>
          <p:spPr bwMode="auto">
            <a:xfrm>
              <a:off x="4794250" y="2016125"/>
              <a:ext cx="68263" cy="84138"/>
            </a:xfrm>
            <a:custGeom>
              <a:avLst/>
              <a:gdLst>
                <a:gd name="T0" fmla="*/ 6 w 33"/>
                <a:gd name="T1" fmla="*/ 39 h 41"/>
                <a:gd name="T2" fmla="*/ 10 w 33"/>
                <a:gd name="T3" fmla="*/ 41 h 41"/>
                <a:gd name="T4" fmla="*/ 17 w 33"/>
                <a:gd name="T5" fmla="*/ 36 h 41"/>
                <a:gd name="T6" fmla="*/ 30 w 33"/>
                <a:gd name="T7" fmla="*/ 14 h 41"/>
                <a:gd name="T8" fmla="*/ 27 w 33"/>
                <a:gd name="T9" fmla="*/ 2 h 41"/>
                <a:gd name="T10" fmla="*/ 15 w 33"/>
                <a:gd name="T11" fmla="*/ 5 h 41"/>
                <a:gd name="T12" fmla="*/ 2 w 33"/>
                <a:gd name="T13" fmla="*/ 28 h 41"/>
                <a:gd name="T14" fmla="*/ 6 w 33"/>
                <a:gd name="T15" fmla="*/ 39 h 41"/>
                <a:gd name="T16" fmla="*/ 6 w 33"/>
                <a:gd name="T17" fmla="*/ 39 h 41"/>
                <a:gd name="T18" fmla="*/ 6 w 33"/>
                <a:gd name="T1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6" y="39"/>
                  </a:moveTo>
                  <a:cubicBezTo>
                    <a:pt x="7" y="40"/>
                    <a:pt x="8" y="41"/>
                    <a:pt x="10" y="41"/>
                  </a:cubicBezTo>
                  <a:cubicBezTo>
                    <a:pt x="13" y="41"/>
                    <a:pt x="16" y="39"/>
                    <a:pt x="17" y="36"/>
                  </a:cubicBezTo>
                  <a:cubicBezTo>
                    <a:pt x="30" y="14"/>
                    <a:pt x="30" y="14"/>
                    <a:pt x="30" y="14"/>
                  </a:cubicBezTo>
                  <a:cubicBezTo>
                    <a:pt x="33" y="10"/>
                    <a:pt x="31" y="4"/>
                    <a:pt x="27" y="2"/>
                  </a:cubicBezTo>
                  <a:cubicBezTo>
                    <a:pt x="23" y="0"/>
                    <a:pt x="18" y="1"/>
                    <a:pt x="15" y="5"/>
                  </a:cubicBezTo>
                  <a:cubicBezTo>
                    <a:pt x="2" y="28"/>
                    <a:pt x="2" y="28"/>
                    <a:pt x="2" y="28"/>
                  </a:cubicBezTo>
                  <a:cubicBezTo>
                    <a:pt x="0" y="32"/>
                    <a:pt x="1" y="37"/>
                    <a:pt x="6" y="39"/>
                  </a:cubicBezTo>
                  <a:close/>
                  <a:moveTo>
                    <a:pt x="6" y="39"/>
                  </a:moveTo>
                  <a:cubicBezTo>
                    <a:pt x="6" y="39"/>
                    <a:pt x="6" y="39"/>
                    <a:pt x="6" y="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Freeform 26">
              <a:extLst>
                <a:ext uri="{FF2B5EF4-FFF2-40B4-BE49-F238E27FC236}">
                  <a16:creationId xmlns:a16="http://schemas.microsoft.com/office/drawing/2014/main" id="{D484FE3A-A125-4610-A467-E93576C3563F}"/>
                </a:ext>
              </a:extLst>
            </p:cNvPr>
            <p:cNvSpPr>
              <a:spLocks noEditPoints="1"/>
            </p:cNvSpPr>
            <p:nvPr/>
          </p:nvSpPr>
          <p:spPr bwMode="auto">
            <a:xfrm>
              <a:off x="4598988" y="2233613"/>
              <a:ext cx="137117" cy="496578"/>
            </a:xfrm>
            <a:custGeom>
              <a:avLst/>
              <a:gdLst>
                <a:gd name="T0" fmla="*/ 9 w 41"/>
                <a:gd name="T1" fmla="*/ 125 h 135"/>
                <a:gd name="T2" fmla="*/ 20 w 41"/>
                <a:gd name="T3" fmla="*/ 135 h 135"/>
                <a:gd name="T4" fmla="*/ 32 w 41"/>
                <a:gd name="T5" fmla="*/ 125 h 135"/>
                <a:gd name="T6" fmla="*/ 40 w 41"/>
                <a:gd name="T7" fmla="*/ 64 h 135"/>
                <a:gd name="T8" fmla="*/ 41 w 41"/>
                <a:gd name="T9" fmla="*/ 51 h 135"/>
                <a:gd name="T10" fmla="*/ 41 w 41"/>
                <a:gd name="T11" fmla="*/ 21 h 135"/>
                <a:gd name="T12" fmla="*/ 20 w 41"/>
                <a:gd name="T13" fmla="*/ 0 h 135"/>
                <a:gd name="T14" fmla="*/ 0 w 41"/>
                <a:gd name="T15" fmla="*/ 21 h 135"/>
                <a:gd name="T16" fmla="*/ 0 w 41"/>
                <a:gd name="T17" fmla="*/ 51 h 135"/>
                <a:gd name="T18" fmla="*/ 1 w 41"/>
                <a:gd name="T19" fmla="*/ 64 h 135"/>
                <a:gd name="T20" fmla="*/ 9 w 41"/>
                <a:gd name="T21" fmla="*/ 125 h 135"/>
                <a:gd name="T22" fmla="*/ 9 w 41"/>
                <a:gd name="T23" fmla="*/ 125 h 135"/>
                <a:gd name="T24" fmla="*/ 9 w 41"/>
                <a:gd name="T25" fmla="*/ 12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135">
                  <a:moveTo>
                    <a:pt x="9" y="125"/>
                  </a:moveTo>
                  <a:cubicBezTo>
                    <a:pt x="10" y="133"/>
                    <a:pt x="14" y="135"/>
                    <a:pt x="20" y="135"/>
                  </a:cubicBezTo>
                  <a:cubicBezTo>
                    <a:pt x="27" y="135"/>
                    <a:pt x="31" y="133"/>
                    <a:pt x="32" y="125"/>
                  </a:cubicBezTo>
                  <a:cubicBezTo>
                    <a:pt x="40" y="64"/>
                    <a:pt x="40" y="64"/>
                    <a:pt x="40" y="64"/>
                  </a:cubicBezTo>
                  <a:cubicBezTo>
                    <a:pt x="41" y="60"/>
                    <a:pt x="41" y="55"/>
                    <a:pt x="41" y="51"/>
                  </a:cubicBezTo>
                  <a:cubicBezTo>
                    <a:pt x="41" y="21"/>
                    <a:pt x="41" y="21"/>
                    <a:pt x="41" y="21"/>
                  </a:cubicBezTo>
                  <a:cubicBezTo>
                    <a:pt x="41" y="7"/>
                    <a:pt x="34" y="0"/>
                    <a:pt x="20" y="0"/>
                  </a:cubicBezTo>
                  <a:cubicBezTo>
                    <a:pt x="7" y="0"/>
                    <a:pt x="0" y="7"/>
                    <a:pt x="0" y="21"/>
                  </a:cubicBezTo>
                  <a:cubicBezTo>
                    <a:pt x="0" y="51"/>
                    <a:pt x="0" y="51"/>
                    <a:pt x="0" y="51"/>
                  </a:cubicBezTo>
                  <a:cubicBezTo>
                    <a:pt x="0" y="55"/>
                    <a:pt x="0" y="60"/>
                    <a:pt x="1" y="64"/>
                  </a:cubicBezTo>
                  <a:lnTo>
                    <a:pt x="9" y="125"/>
                  </a:lnTo>
                  <a:close/>
                  <a:moveTo>
                    <a:pt x="9" y="125"/>
                  </a:moveTo>
                  <a:cubicBezTo>
                    <a:pt x="9" y="125"/>
                    <a:pt x="9" y="125"/>
                    <a:pt x="9" y="1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Freeform 27">
              <a:extLst>
                <a:ext uri="{FF2B5EF4-FFF2-40B4-BE49-F238E27FC236}">
                  <a16:creationId xmlns:a16="http://schemas.microsoft.com/office/drawing/2014/main" id="{82D4D58A-4B65-4D7E-B6F3-33AA8FB847E3}"/>
                </a:ext>
              </a:extLst>
            </p:cNvPr>
            <p:cNvSpPr>
              <a:spLocks noEditPoints="1"/>
            </p:cNvSpPr>
            <p:nvPr/>
          </p:nvSpPr>
          <p:spPr bwMode="auto">
            <a:xfrm>
              <a:off x="4595813" y="2546350"/>
              <a:ext cx="88900" cy="90488"/>
            </a:xfrm>
            <a:custGeom>
              <a:avLst/>
              <a:gdLst>
                <a:gd name="T0" fmla="*/ 21 w 43"/>
                <a:gd name="T1" fmla="*/ 0 h 44"/>
                <a:gd name="T2" fmla="*/ 0 w 43"/>
                <a:gd name="T3" fmla="*/ 22 h 44"/>
                <a:gd name="T4" fmla="*/ 21 w 43"/>
                <a:gd name="T5" fmla="*/ 44 h 44"/>
                <a:gd name="T6" fmla="*/ 43 w 43"/>
                <a:gd name="T7" fmla="*/ 22 h 44"/>
                <a:gd name="T8" fmla="*/ 21 w 43"/>
                <a:gd name="T9" fmla="*/ 0 h 44"/>
                <a:gd name="T10" fmla="*/ 21 w 43"/>
                <a:gd name="T11" fmla="*/ 0 h 44"/>
                <a:gd name="T12" fmla="*/ 21 w 43"/>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3" h="44">
                  <a:moveTo>
                    <a:pt x="21" y="0"/>
                  </a:moveTo>
                  <a:cubicBezTo>
                    <a:pt x="10" y="0"/>
                    <a:pt x="0" y="10"/>
                    <a:pt x="0" y="22"/>
                  </a:cubicBezTo>
                  <a:cubicBezTo>
                    <a:pt x="0" y="34"/>
                    <a:pt x="10" y="44"/>
                    <a:pt x="21" y="44"/>
                  </a:cubicBezTo>
                  <a:cubicBezTo>
                    <a:pt x="33" y="44"/>
                    <a:pt x="43" y="34"/>
                    <a:pt x="43" y="22"/>
                  </a:cubicBezTo>
                  <a:cubicBezTo>
                    <a:pt x="43" y="10"/>
                    <a:pt x="33" y="0"/>
                    <a:pt x="21" y="0"/>
                  </a:cubicBezTo>
                  <a:close/>
                  <a:moveTo>
                    <a:pt x="21" y="0"/>
                  </a:moveTo>
                  <a:cubicBezTo>
                    <a:pt x="21" y="0"/>
                    <a:pt x="21" y="0"/>
                    <a:pt x="2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2934777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F12448-01E5-4DB7-B325-0B33BEBCEB1C}"/>
              </a:ext>
            </a:extLst>
          </p:cNvPr>
          <p:cNvPicPr>
            <a:picLocks noChangeAspect="1"/>
          </p:cNvPicPr>
          <p:nvPr/>
        </p:nvPicPr>
        <p:blipFill rotWithShape="1">
          <a:blip r:embed="rId2">
            <a:extLst>
              <a:ext uri="{28A0092B-C50C-407E-A947-70E740481C1C}">
                <a14:useLocalDpi xmlns:a14="http://schemas.microsoft.com/office/drawing/2010/main" val="0"/>
              </a:ext>
            </a:extLst>
          </a:blip>
          <a:srcRect b="12470"/>
          <a:stretch/>
        </p:blipFill>
        <p:spPr>
          <a:xfrm>
            <a:off x="1115686" y="866955"/>
            <a:ext cx="4095177" cy="3584527"/>
          </a:xfrm>
          <a:prstGeom prst="rect">
            <a:avLst/>
          </a:prstGeom>
        </p:spPr>
      </p:pic>
      <p:pic>
        <p:nvPicPr>
          <p:cNvPr id="8" name="Picture 7">
            <a:extLst>
              <a:ext uri="{FF2B5EF4-FFF2-40B4-BE49-F238E27FC236}">
                <a16:creationId xmlns:a16="http://schemas.microsoft.com/office/drawing/2014/main" id="{89F38867-DE16-4D33-B41A-6BC48B0CB3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6231" y="866955"/>
            <a:ext cx="3890083" cy="4043902"/>
          </a:xfrm>
          <a:prstGeom prst="rect">
            <a:avLst/>
          </a:prstGeom>
        </p:spPr>
      </p:pic>
      <p:cxnSp>
        <p:nvCxnSpPr>
          <p:cNvPr id="12" name="Straight Connector 11">
            <a:extLst>
              <a:ext uri="{FF2B5EF4-FFF2-40B4-BE49-F238E27FC236}">
                <a16:creationId xmlns:a16="http://schemas.microsoft.com/office/drawing/2014/main" id="{8CAEF6C5-EBBA-4081-A7F1-ECC500CA9525}"/>
              </a:ext>
            </a:extLst>
          </p:cNvPr>
          <p:cNvCxnSpPr>
            <a:cxnSpLocks/>
          </p:cNvCxnSpPr>
          <p:nvPr/>
        </p:nvCxnSpPr>
        <p:spPr>
          <a:xfrm>
            <a:off x="6096000" y="866955"/>
            <a:ext cx="0" cy="3840480"/>
          </a:xfrm>
          <a:prstGeom prst="line">
            <a:avLst/>
          </a:prstGeom>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510D0829-B15D-4886-9790-D3BE30E62EBF}"/>
              </a:ext>
            </a:extLst>
          </p:cNvPr>
          <p:cNvSpPr/>
          <p:nvPr/>
        </p:nvSpPr>
        <p:spPr>
          <a:xfrm>
            <a:off x="164784" y="5380672"/>
            <a:ext cx="10549223" cy="1200329"/>
          </a:xfrm>
          <a:prstGeom prst="rect">
            <a:avLst/>
          </a:prstGeom>
        </p:spPr>
        <p:txBody>
          <a:bodyPr wrap="square">
            <a:spAutoFit/>
          </a:bodyPr>
          <a:lstStyle/>
          <a:p>
            <a:pPr marL="285750" indent="-285750">
              <a:buFont typeface="Arial" panose="020B0604020202020204" pitchFamily="34" charset="0"/>
              <a:buChar char="•"/>
            </a:pPr>
            <a:r>
              <a:rPr lang="en-US" dirty="0">
                <a:latin typeface="Inter"/>
              </a:rPr>
              <a:t>The </a:t>
            </a:r>
            <a:r>
              <a:rPr lang="en-US" dirty="0"/>
              <a:t>distribution</a:t>
            </a:r>
            <a:r>
              <a:rPr lang="en-US" dirty="0">
                <a:latin typeface="Inter"/>
              </a:rPr>
              <a:t> is heavily skewed towards non-senior citizens, indicating that senior citizens are a minority in this population.</a:t>
            </a:r>
          </a:p>
          <a:p>
            <a:pPr marL="285750" indent="-285750">
              <a:buFont typeface="Arial" panose="020B0604020202020204" pitchFamily="34" charset="0"/>
              <a:buChar char="•"/>
            </a:pPr>
            <a:r>
              <a:rPr lang="en-US" dirty="0"/>
              <a:t>customers who are senior citizens have a significantly higher churn rate </a:t>
            </a:r>
            <a:r>
              <a:rPr lang="en-US" b="1" dirty="0"/>
              <a:t>(42%) </a:t>
            </a:r>
            <a:r>
              <a:rPr lang="en-US" dirty="0"/>
              <a:t>compared to those who are non-senior </a:t>
            </a:r>
            <a:r>
              <a:rPr lang="en-US" b="1" dirty="0"/>
              <a:t>(24%).</a:t>
            </a:r>
            <a:endParaRPr lang="en-US" b="1" dirty="0">
              <a:latin typeface="Inter"/>
            </a:endParaRPr>
          </a:p>
        </p:txBody>
      </p:sp>
      <p:sp>
        <p:nvSpPr>
          <p:cNvPr id="10" name="TextBox 9">
            <a:extLst>
              <a:ext uri="{FF2B5EF4-FFF2-40B4-BE49-F238E27FC236}">
                <a16:creationId xmlns:a16="http://schemas.microsoft.com/office/drawing/2014/main" id="{69782158-5B6D-47C2-9563-D000C35568DB}"/>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Senior Citizen Analysis</a:t>
            </a:r>
          </a:p>
        </p:txBody>
      </p:sp>
      <p:sp>
        <p:nvSpPr>
          <p:cNvPr id="9" name="TextBox 8">
            <a:extLst>
              <a:ext uri="{FF2B5EF4-FFF2-40B4-BE49-F238E27FC236}">
                <a16:creationId xmlns:a16="http://schemas.microsoft.com/office/drawing/2014/main" id="{D86165BD-4ECA-4C7F-BD09-91694F90A2C7}"/>
              </a:ext>
            </a:extLst>
          </p:cNvPr>
          <p:cNvSpPr txBox="1"/>
          <p:nvPr/>
        </p:nvSpPr>
        <p:spPr>
          <a:xfrm>
            <a:off x="458082" y="4965352"/>
            <a:ext cx="1404808" cy="369332"/>
          </a:xfrm>
          <a:prstGeom prst="rect">
            <a:avLst/>
          </a:prstGeom>
          <a:noFill/>
        </p:spPr>
        <p:txBody>
          <a:bodyPr wrap="none" rtlCol="0">
            <a:spAutoFit/>
          </a:bodyPr>
          <a:lstStyle/>
          <a:p>
            <a:r>
              <a:rPr lang="en-US" b="1" u="sng" dirty="0"/>
              <a:t>Key Insights: </a:t>
            </a:r>
          </a:p>
        </p:txBody>
      </p:sp>
      <p:grpSp>
        <p:nvGrpSpPr>
          <p:cNvPr id="11" name="Group 10">
            <a:extLst>
              <a:ext uri="{FF2B5EF4-FFF2-40B4-BE49-F238E27FC236}">
                <a16:creationId xmlns:a16="http://schemas.microsoft.com/office/drawing/2014/main" id="{4E8220A1-5FC3-4522-956D-9D78EE57160E}"/>
              </a:ext>
            </a:extLst>
          </p:cNvPr>
          <p:cNvGrpSpPr/>
          <p:nvPr/>
        </p:nvGrpSpPr>
        <p:grpSpPr>
          <a:xfrm>
            <a:off x="113025" y="4917165"/>
            <a:ext cx="365760" cy="365760"/>
            <a:chOff x="4221163" y="1965325"/>
            <a:chExt cx="838200" cy="927101"/>
          </a:xfrm>
          <a:solidFill>
            <a:schemeClr val="accent1"/>
          </a:solidFill>
          <a:effectLst>
            <a:glow rad="127000">
              <a:schemeClr val="bg1">
                <a:alpha val="99000"/>
              </a:schemeClr>
            </a:glow>
          </a:effectLst>
        </p:grpSpPr>
        <p:sp>
          <p:nvSpPr>
            <p:cNvPr id="14" name="Freeform 16">
              <a:extLst>
                <a:ext uri="{FF2B5EF4-FFF2-40B4-BE49-F238E27FC236}">
                  <a16:creationId xmlns:a16="http://schemas.microsoft.com/office/drawing/2014/main" id="{030DD845-7599-4E77-9270-11D5254BBAF4}"/>
                </a:ext>
              </a:extLst>
            </p:cNvPr>
            <p:cNvSpPr>
              <a:spLocks noEditPoints="1"/>
            </p:cNvSpPr>
            <p:nvPr/>
          </p:nvSpPr>
          <p:spPr bwMode="auto">
            <a:xfrm>
              <a:off x="4359275" y="2106613"/>
              <a:ext cx="561975" cy="785813"/>
            </a:xfrm>
            <a:custGeom>
              <a:avLst/>
              <a:gdLst>
                <a:gd name="T0" fmla="*/ 136 w 273"/>
                <a:gd name="T1" fmla="*/ 0 h 381"/>
                <a:gd name="T2" fmla="*/ 0 w 273"/>
                <a:gd name="T3" fmla="*/ 132 h 381"/>
                <a:gd name="T4" fmla="*/ 33 w 273"/>
                <a:gd name="T5" fmla="*/ 229 h 381"/>
                <a:gd name="T6" fmla="*/ 47 w 273"/>
                <a:gd name="T7" fmla="*/ 257 h 381"/>
                <a:gd name="T8" fmla="*/ 72 w 273"/>
                <a:gd name="T9" fmla="*/ 302 h 381"/>
                <a:gd name="T10" fmla="*/ 74 w 273"/>
                <a:gd name="T11" fmla="*/ 337 h 381"/>
                <a:gd name="T12" fmla="*/ 74 w 273"/>
                <a:gd name="T13" fmla="*/ 337 h 381"/>
                <a:gd name="T14" fmla="*/ 102 w 273"/>
                <a:gd name="T15" fmla="*/ 367 h 381"/>
                <a:gd name="T16" fmla="*/ 114 w 273"/>
                <a:gd name="T17" fmla="*/ 378 h 381"/>
                <a:gd name="T18" fmla="*/ 123 w 273"/>
                <a:gd name="T19" fmla="*/ 381 h 381"/>
                <a:gd name="T20" fmla="*/ 150 w 273"/>
                <a:gd name="T21" fmla="*/ 381 h 381"/>
                <a:gd name="T22" fmla="*/ 159 w 273"/>
                <a:gd name="T23" fmla="*/ 378 h 381"/>
                <a:gd name="T24" fmla="*/ 171 w 273"/>
                <a:gd name="T25" fmla="*/ 367 h 381"/>
                <a:gd name="T26" fmla="*/ 199 w 273"/>
                <a:gd name="T27" fmla="*/ 337 h 381"/>
                <a:gd name="T28" fmla="*/ 201 w 273"/>
                <a:gd name="T29" fmla="*/ 302 h 381"/>
                <a:gd name="T30" fmla="*/ 226 w 273"/>
                <a:gd name="T31" fmla="*/ 257 h 381"/>
                <a:gd name="T32" fmla="*/ 240 w 273"/>
                <a:gd name="T33" fmla="*/ 228 h 381"/>
                <a:gd name="T34" fmla="*/ 273 w 273"/>
                <a:gd name="T35" fmla="*/ 132 h 381"/>
                <a:gd name="T36" fmla="*/ 136 w 273"/>
                <a:gd name="T37" fmla="*/ 0 h 381"/>
                <a:gd name="T38" fmla="*/ 211 w 273"/>
                <a:gd name="T39" fmla="*/ 209 h 381"/>
                <a:gd name="T40" fmla="*/ 192 w 273"/>
                <a:gd name="T41" fmla="*/ 257 h 381"/>
                <a:gd name="T42" fmla="*/ 179 w 273"/>
                <a:gd name="T43" fmla="*/ 275 h 381"/>
                <a:gd name="T44" fmla="*/ 94 w 273"/>
                <a:gd name="T45" fmla="*/ 275 h 381"/>
                <a:gd name="T46" fmla="*/ 81 w 273"/>
                <a:gd name="T47" fmla="*/ 257 h 381"/>
                <a:gd name="T48" fmla="*/ 61 w 273"/>
                <a:gd name="T49" fmla="*/ 209 h 381"/>
                <a:gd name="T50" fmla="*/ 34 w 273"/>
                <a:gd name="T51" fmla="*/ 132 h 381"/>
                <a:gd name="T52" fmla="*/ 136 w 273"/>
                <a:gd name="T53" fmla="*/ 35 h 381"/>
                <a:gd name="T54" fmla="*/ 239 w 273"/>
                <a:gd name="T55" fmla="*/ 132 h 381"/>
                <a:gd name="T56" fmla="*/ 211 w 273"/>
                <a:gd name="T57" fmla="*/ 209 h 381"/>
                <a:gd name="T58" fmla="*/ 211 w 273"/>
                <a:gd name="T59" fmla="*/ 209 h 381"/>
                <a:gd name="T60" fmla="*/ 211 w 273"/>
                <a:gd name="T61" fmla="*/ 20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3" h="381">
                  <a:moveTo>
                    <a:pt x="136" y="0"/>
                  </a:moveTo>
                  <a:cubicBezTo>
                    <a:pt x="61" y="0"/>
                    <a:pt x="0" y="59"/>
                    <a:pt x="0" y="132"/>
                  </a:cubicBezTo>
                  <a:cubicBezTo>
                    <a:pt x="0" y="180"/>
                    <a:pt x="19" y="208"/>
                    <a:pt x="33" y="229"/>
                  </a:cubicBezTo>
                  <a:cubicBezTo>
                    <a:pt x="42" y="241"/>
                    <a:pt x="47" y="249"/>
                    <a:pt x="47" y="257"/>
                  </a:cubicBezTo>
                  <a:cubicBezTo>
                    <a:pt x="47" y="274"/>
                    <a:pt x="56" y="290"/>
                    <a:pt x="72" y="302"/>
                  </a:cubicBezTo>
                  <a:cubicBezTo>
                    <a:pt x="73" y="312"/>
                    <a:pt x="74" y="337"/>
                    <a:pt x="74" y="337"/>
                  </a:cubicBezTo>
                  <a:cubicBezTo>
                    <a:pt x="74" y="337"/>
                    <a:pt x="74" y="337"/>
                    <a:pt x="74" y="337"/>
                  </a:cubicBezTo>
                  <a:cubicBezTo>
                    <a:pt x="74" y="344"/>
                    <a:pt x="78" y="359"/>
                    <a:pt x="102" y="367"/>
                  </a:cubicBezTo>
                  <a:cubicBezTo>
                    <a:pt x="105" y="371"/>
                    <a:pt x="109" y="375"/>
                    <a:pt x="114" y="378"/>
                  </a:cubicBezTo>
                  <a:cubicBezTo>
                    <a:pt x="116" y="380"/>
                    <a:pt x="120" y="381"/>
                    <a:pt x="123" y="381"/>
                  </a:cubicBezTo>
                  <a:cubicBezTo>
                    <a:pt x="150" y="381"/>
                    <a:pt x="150" y="381"/>
                    <a:pt x="150" y="381"/>
                  </a:cubicBezTo>
                  <a:cubicBezTo>
                    <a:pt x="153" y="381"/>
                    <a:pt x="157" y="380"/>
                    <a:pt x="159" y="378"/>
                  </a:cubicBezTo>
                  <a:cubicBezTo>
                    <a:pt x="164" y="375"/>
                    <a:pt x="168" y="371"/>
                    <a:pt x="171" y="367"/>
                  </a:cubicBezTo>
                  <a:cubicBezTo>
                    <a:pt x="195" y="359"/>
                    <a:pt x="199" y="344"/>
                    <a:pt x="199" y="337"/>
                  </a:cubicBezTo>
                  <a:cubicBezTo>
                    <a:pt x="199" y="337"/>
                    <a:pt x="200" y="312"/>
                    <a:pt x="201" y="302"/>
                  </a:cubicBezTo>
                  <a:cubicBezTo>
                    <a:pt x="217" y="290"/>
                    <a:pt x="226" y="274"/>
                    <a:pt x="226" y="257"/>
                  </a:cubicBezTo>
                  <a:cubicBezTo>
                    <a:pt x="226" y="249"/>
                    <a:pt x="231" y="241"/>
                    <a:pt x="240" y="228"/>
                  </a:cubicBezTo>
                  <a:cubicBezTo>
                    <a:pt x="254" y="208"/>
                    <a:pt x="273" y="180"/>
                    <a:pt x="273" y="132"/>
                  </a:cubicBezTo>
                  <a:cubicBezTo>
                    <a:pt x="273" y="59"/>
                    <a:pt x="212" y="0"/>
                    <a:pt x="136" y="0"/>
                  </a:cubicBezTo>
                  <a:close/>
                  <a:moveTo>
                    <a:pt x="211" y="209"/>
                  </a:moveTo>
                  <a:cubicBezTo>
                    <a:pt x="201" y="224"/>
                    <a:pt x="192" y="238"/>
                    <a:pt x="192" y="257"/>
                  </a:cubicBezTo>
                  <a:cubicBezTo>
                    <a:pt x="192" y="265"/>
                    <a:pt x="184" y="271"/>
                    <a:pt x="179" y="275"/>
                  </a:cubicBezTo>
                  <a:cubicBezTo>
                    <a:pt x="94" y="275"/>
                    <a:pt x="94" y="275"/>
                    <a:pt x="94" y="275"/>
                  </a:cubicBezTo>
                  <a:cubicBezTo>
                    <a:pt x="89" y="271"/>
                    <a:pt x="81" y="265"/>
                    <a:pt x="81" y="257"/>
                  </a:cubicBezTo>
                  <a:cubicBezTo>
                    <a:pt x="81" y="238"/>
                    <a:pt x="72" y="224"/>
                    <a:pt x="61" y="209"/>
                  </a:cubicBezTo>
                  <a:cubicBezTo>
                    <a:pt x="49" y="190"/>
                    <a:pt x="34" y="169"/>
                    <a:pt x="34" y="132"/>
                  </a:cubicBezTo>
                  <a:cubicBezTo>
                    <a:pt x="34" y="78"/>
                    <a:pt x="80" y="35"/>
                    <a:pt x="136" y="35"/>
                  </a:cubicBezTo>
                  <a:cubicBezTo>
                    <a:pt x="193" y="35"/>
                    <a:pt x="239" y="78"/>
                    <a:pt x="239" y="132"/>
                  </a:cubicBezTo>
                  <a:cubicBezTo>
                    <a:pt x="239" y="169"/>
                    <a:pt x="224" y="190"/>
                    <a:pt x="211" y="209"/>
                  </a:cubicBezTo>
                  <a:close/>
                  <a:moveTo>
                    <a:pt x="211" y="209"/>
                  </a:moveTo>
                  <a:cubicBezTo>
                    <a:pt x="211" y="209"/>
                    <a:pt x="211" y="209"/>
                    <a:pt x="211" y="20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Freeform 17">
              <a:extLst>
                <a:ext uri="{FF2B5EF4-FFF2-40B4-BE49-F238E27FC236}">
                  <a16:creationId xmlns:a16="http://schemas.microsoft.com/office/drawing/2014/main" id="{ED1BDE18-D891-4407-8A55-FCF9ABB74B64}"/>
                </a:ext>
              </a:extLst>
            </p:cNvPr>
            <p:cNvSpPr>
              <a:spLocks noEditPoints="1"/>
            </p:cNvSpPr>
            <p:nvPr/>
          </p:nvSpPr>
          <p:spPr bwMode="auto">
            <a:xfrm>
              <a:off x="4622800" y="1965325"/>
              <a:ext cx="34925" cy="88900"/>
            </a:xfrm>
            <a:custGeom>
              <a:avLst/>
              <a:gdLst>
                <a:gd name="T0" fmla="*/ 8 w 17"/>
                <a:gd name="T1" fmla="*/ 43 h 43"/>
                <a:gd name="T2" fmla="*/ 17 w 17"/>
                <a:gd name="T3" fmla="*/ 34 h 43"/>
                <a:gd name="T4" fmla="*/ 17 w 17"/>
                <a:gd name="T5" fmla="*/ 8 h 43"/>
                <a:gd name="T6" fmla="*/ 8 w 17"/>
                <a:gd name="T7" fmla="*/ 0 h 43"/>
                <a:gd name="T8" fmla="*/ 0 w 17"/>
                <a:gd name="T9" fmla="*/ 8 h 43"/>
                <a:gd name="T10" fmla="*/ 0 w 17"/>
                <a:gd name="T11" fmla="*/ 34 h 43"/>
                <a:gd name="T12" fmla="*/ 8 w 17"/>
                <a:gd name="T13" fmla="*/ 43 h 43"/>
                <a:gd name="T14" fmla="*/ 8 w 17"/>
                <a:gd name="T15" fmla="*/ 43 h 43"/>
                <a:gd name="T16" fmla="*/ 8 w 17"/>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43">
                  <a:moveTo>
                    <a:pt x="8" y="43"/>
                  </a:moveTo>
                  <a:cubicBezTo>
                    <a:pt x="13" y="43"/>
                    <a:pt x="17" y="39"/>
                    <a:pt x="17" y="34"/>
                  </a:cubicBezTo>
                  <a:cubicBezTo>
                    <a:pt x="17" y="8"/>
                    <a:pt x="17" y="8"/>
                    <a:pt x="17" y="8"/>
                  </a:cubicBezTo>
                  <a:cubicBezTo>
                    <a:pt x="17" y="4"/>
                    <a:pt x="13" y="0"/>
                    <a:pt x="8" y="0"/>
                  </a:cubicBezTo>
                  <a:cubicBezTo>
                    <a:pt x="4" y="0"/>
                    <a:pt x="0" y="4"/>
                    <a:pt x="0" y="8"/>
                  </a:cubicBezTo>
                  <a:cubicBezTo>
                    <a:pt x="0" y="34"/>
                    <a:pt x="0" y="34"/>
                    <a:pt x="0" y="34"/>
                  </a:cubicBezTo>
                  <a:cubicBezTo>
                    <a:pt x="0" y="39"/>
                    <a:pt x="4" y="43"/>
                    <a:pt x="8" y="43"/>
                  </a:cubicBezTo>
                  <a:close/>
                  <a:moveTo>
                    <a:pt x="8" y="43"/>
                  </a:moveTo>
                  <a:cubicBezTo>
                    <a:pt x="8" y="43"/>
                    <a:pt x="8" y="43"/>
                    <a:pt x="8" y="4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Freeform 18">
              <a:extLst>
                <a:ext uri="{FF2B5EF4-FFF2-40B4-BE49-F238E27FC236}">
                  <a16:creationId xmlns:a16="http://schemas.microsoft.com/office/drawing/2014/main" id="{CA04C7E2-C9F2-46ED-96EE-52800DC71DE0}"/>
                </a:ext>
              </a:extLst>
            </p:cNvPr>
            <p:cNvSpPr>
              <a:spLocks noEditPoints="1"/>
            </p:cNvSpPr>
            <p:nvPr/>
          </p:nvSpPr>
          <p:spPr bwMode="auto">
            <a:xfrm>
              <a:off x="4419600" y="2016125"/>
              <a:ext cx="66675" cy="84138"/>
            </a:xfrm>
            <a:custGeom>
              <a:avLst/>
              <a:gdLst>
                <a:gd name="T0" fmla="*/ 16 w 33"/>
                <a:gd name="T1" fmla="*/ 36 h 41"/>
                <a:gd name="T2" fmla="*/ 23 w 33"/>
                <a:gd name="T3" fmla="*/ 41 h 41"/>
                <a:gd name="T4" fmla="*/ 27 w 33"/>
                <a:gd name="T5" fmla="*/ 39 h 41"/>
                <a:gd name="T6" fmla="*/ 31 w 33"/>
                <a:gd name="T7" fmla="*/ 28 h 41"/>
                <a:gd name="T8" fmla="*/ 18 w 33"/>
                <a:gd name="T9" fmla="*/ 5 h 41"/>
                <a:gd name="T10" fmla="*/ 6 w 33"/>
                <a:gd name="T11" fmla="*/ 2 h 41"/>
                <a:gd name="T12" fmla="*/ 3 w 33"/>
                <a:gd name="T13" fmla="*/ 14 h 41"/>
                <a:gd name="T14" fmla="*/ 16 w 33"/>
                <a:gd name="T15" fmla="*/ 36 h 41"/>
                <a:gd name="T16" fmla="*/ 16 w 33"/>
                <a:gd name="T17" fmla="*/ 36 h 41"/>
                <a:gd name="T18" fmla="*/ 16 w 33"/>
                <a:gd name="T19" fmla="*/ 3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16" y="36"/>
                  </a:moveTo>
                  <a:cubicBezTo>
                    <a:pt x="17" y="39"/>
                    <a:pt x="20" y="41"/>
                    <a:pt x="23" y="41"/>
                  </a:cubicBezTo>
                  <a:cubicBezTo>
                    <a:pt x="24" y="41"/>
                    <a:pt x="26" y="40"/>
                    <a:pt x="27" y="39"/>
                  </a:cubicBezTo>
                  <a:cubicBezTo>
                    <a:pt x="31" y="37"/>
                    <a:pt x="33" y="32"/>
                    <a:pt x="31" y="28"/>
                  </a:cubicBezTo>
                  <a:cubicBezTo>
                    <a:pt x="18" y="5"/>
                    <a:pt x="18" y="5"/>
                    <a:pt x="18" y="5"/>
                  </a:cubicBezTo>
                  <a:cubicBezTo>
                    <a:pt x="15" y="1"/>
                    <a:pt x="10" y="0"/>
                    <a:pt x="6" y="2"/>
                  </a:cubicBezTo>
                  <a:cubicBezTo>
                    <a:pt x="2" y="4"/>
                    <a:pt x="0" y="10"/>
                    <a:pt x="3" y="14"/>
                  </a:cubicBezTo>
                  <a:lnTo>
                    <a:pt x="16" y="36"/>
                  </a:lnTo>
                  <a:close/>
                  <a:moveTo>
                    <a:pt x="16" y="36"/>
                  </a:moveTo>
                  <a:cubicBezTo>
                    <a:pt x="16" y="36"/>
                    <a:pt x="16" y="36"/>
                    <a:pt x="16"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Freeform 19">
              <a:extLst>
                <a:ext uri="{FF2B5EF4-FFF2-40B4-BE49-F238E27FC236}">
                  <a16:creationId xmlns:a16="http://schemas.microsoft.com/office/drawing/2014/main" id="{0DA3B704-66DF-4960-B7FF-7EA304F28C67}"/>
                </a:ext>
              </a:extLst>
            </p:cNvPr>
            <p:cNvSpPr>
              <a:spLocks noEditPoints="1"/>
            </p:cNvSpPr>
            <p:nvPr/>
          </p:nvSpPr>
          <p:spPr bwMode="auto">
            <a:xfrm>
              <a:off x="4273550" y="2162175"/>
              <a:ext cx="85725" cy="65088"/>
            </a:xfrm>
            <a:custGeom>
              <a:avLst/>
              <a:gdLst>
                <a:gd name="T0" fmla="*/ 37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7 w 42"/>
                <a:gd name="T15" fmla="*/ 15 h 31"/>
                <a:gd name="T16" fmla="*/ 37 w 42"/>
                <a:gd name="T17" fmla="*/ 15 h 31"/>
                <a:gd name="T18" fmla="*/ 37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7" y="15"/>
                  </a:moveTo>
                  <a:cubicBezTo>
                    <a:pt x="14" y="2"/>
                    <a:pt x="14" y="2"/>
                    <a:pt x="14" y="2"/>
                  </a:cubicBezTo>
                  <a:cubicBezTo>
                    <a:pt x="10" y="0"/>
                    <a:pt x="5" y="1"/>
                    <a:pt x="2" y="5"/>
                  </a:cubicBezTo>
                  <a:cubicBezTo>
                    <a:pt x="0" y="10"/>
                    <a:pt x="1" y="15"/>
                    <a:pt x="5" y="17"/>
                  </a:cubicBezTo>
                  <a:cubicBezTo>
                    <a:pt x="28" y="30"/>
                    <a:pt x="28" y="30"/>
                    <a:pt x="28" y="30"/>
                  </a:cubicBezTo>
                  <a:cubicBezTo>
                    <a:pt x="29" y="31"/>
                    <a:pt x="31" y="31"/>
                    <a:pt x="32" y="31"/>
                  </a:cubicBezTo>
                  <a:cubicBezTo>
                    <a:pt x="35" y="31"/>
                    <a:pt x="38" y="30"/>
                    <a:pt x="40" y="27"/>
                  </a:cubicBezTo>
                  <a:cubicBezTo>
                    <a:pt x="42" y="23"/>
                    <a:pt x="41" y="18"/>
                    <a:pt x="37" y="15"/>
                  </a:cubicBezTo>
                  <a:close/>
                  <a:moveTo>
                    <a:pt x="37" y="15"/>
                  </a:moveTo>
                  <a:cubicBezTo>
                    <a:pt x="37" y="15"/>
                    <a:pt x="37" y="15"/>
                    <a:pt x="37"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Freeform 20">
              <a:extLst>
                <a:ext uri="{FF2B5EF4-FFF2-40B4-BE49-F238E27FC236}">
                  <a16:creationId xmlns:a16="http://schemas.microsoft.com/office/drawing/2014/main" id="{5B02445B-40DE-4E5C-928E-EE80F3B74E72}"/>
                </a:ext>
              </a:extLst>
            </p:cNvPr>
            <p:cNvSpPr>
              <a:spLocks noEditPoints="1"/>
            </p:cNvSpPr>
            <p:nvPr/>
          </p:nvSpPr>
          <p:spPr bwMode="auto">
            <a:xfrm>
              <a:off x="4221163" y="2366963"/>
              <a:ext cx="88900" cy="34925"/>
            </a:xfrm>
            <a:custGeom>
              <a:avLst/>
              <a:gdLst>
                <a:gd name="T0" fmla="*/ 43 w 43"/>
                <a:gd name="T1" fmla="*/ 8 h 17"/>
                <a:gd name="T2" fmla="*/ 35 w 43"/>
                <a:gd name="T3" fmla="*/ 0 h 17"/>
                <a:gd name="T4" fmla="*/ 9 w 43"/>
                <a:gd name="T5" fmla="*/ 0 h 17"/>
                <a:gd name="T6" fmla="*/ 0 w 43"/>
                <a:gd name="T7" fmla="*/ 8 h 17"/>
                <a:gd name="T8" fmla="*/ 9 w 43"/>
                <a:gd name="T9" fmla="*/ 17 h 17"/>
                <a:gd name="T10" fmla="*/ 35 w 43"/>
                <a:gd name="T11" fmla="*/ 17 h 17"/>
                <a:gd name="T12" fmla="*/ 43 w 43"/>
                <a:gd name="T13" fmla="*/ 8 h 17"/>
                <a:gd name="T14" fmla="*/ 43 w 43"/>
                <a:gd name="T15" fmla="*/ 8 h 17"/>
                <a:gd name="T16" fmla="*/ 43 w 43"/>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43" y="8"/>
                  </a:moveTo>
                  <a:cubicBezTo>
                    <a:pt x="43" y="3"/>
                    <a:pt x="39" y="0"/>
                    <a:pt x="35" y="0"/>
                  </a:cubicBezTo>
                  <a:cubicBezTo>
                    <a:pt x="9" y="0"/>
                    <a:pt x="9" y="0"/>
                    <a:pt x="9" y="0"/>
                  </a:cubicBezTo>
                  <a:cubicBezTo>
                    <a:pt x="4" y="0"/>
                    <a:pt x="0" y="3"/>
                    <a:pt x="0" y="8"/>
                  </a:cubicBezTo>
                  <a:cubicBezTo>
                    <a:pt x="0" y="13"/>
                    <a:pt x="4" y="17"/>
                    <a:pt x="9" y="17"/>
                  </a:cubicBezTo>
                  <a:cubicBezTo>
                    <a:pt x="35" y="17"/>
                    <a:pt x="35" y="17"/>
                    <a:pt x="35" y="17"/>
                  </a:cubicBezTo>
                  <a:cubicBezTo>
                    <a:pt x="39" y="17"/>
                    <a:pt x="43" y="13"/>
                    <a:pt x="43" y="8"/>
                  </a:cubicBezTo>
                  <a:close/>
                  <a:moveTo>
                    <a:pt x="43" y="8"/>
                  </a:moveTo>
                  <a:cubicBezTo>
                    <a:pt x="43" y="8"/>
                    <a:pt x="43" y="8"/>
                    <a:pt x="43"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0" name="Freeform 21">
              <a:extLst>
                <a:ext uri="{FF2B5EF4-FFF2-40B4-BE49-F238E27FC236}">
                  <a16:creationId xmlns:a16="http://schemas.microsoft.com/office/drawing/2014/main" id="{54EFF1A6-E68C-4F0B-8D24-748F96F633FE}"/>
                </a:ext>
              </a:extLst>
            </p:cNvPr>
            <p:cNvSpPr>
              <a:spLocks noEditPoints="1"/>
            </p:cNvSpPr>
            <p:nvPr/>
          </p:nvSpPr>
          <p:spPr bwMode="auto">
            <a:xfrm>
              <a:off x="4273550" y="2538413"/>
              <a:ext cx="85725" cy="63500"/>
            </a:xfrm>
            <a:custGeom>
              <a:avLst/>
              <a:gdLst>
                <a:gd name="T0" fmla="*/ 28 w 42"/>
                <a:gd name="T1" fmla="*/ 2 h 31"/>
                <a:gd name="T2" fmla="*/ 5 w 42"/>
                <a:gd name="T3" fmla="*/ 15 h 31"/>
                <a:gd name="T4" fmla="*/ 2 w 42"/>
                <a:gd name="T5" fmla="*/ 27 h 31"/>
                <a:gd name="T6" fmla="*/ 10 w 42"/>
                <a:gd name="T7" fmla="*/ 31 h 31"/>
                <a:gd name="T8" fmla="*/ 14 w 42"/>
                <a:gd name="T9" fmla="*/ 30 h 31"/>
                <a:gd name="T10" fmla="*/ 37 w 42"/>
                <a:gd name="T11" fmla="*/ 17 h 31"/>
                <a:gd name="T12" fmla="*/ 40 w 42"/>
                <a:gd name="T13" fmla="*/ 5 h 31"/>
                <a:gd name="T14" fmla="*/ 28 w 42"/>
                <a:gd name="T15" fmla="*/ 2 h 31"/>
                <a:gd name="T16" fmla="*/ 28 w 42"/>
                <a:gd name="T17" fmla="*/ 2 h 31"/>
                <a:gd name="T18" fmla="*/ 28 w 42"/>
                <a:gd name="T19"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28" y="2"/>
                  </a:moveTo>
                  <a:cubicBezTo>
                    <a:pt x="5" y="15"/>
                    <a:pt x="5" y="15"/>
                    <a:pt x="5" y="15"/>
                  </a:cubicBezTo>
                  <a:cubicBezTo>
                    <a:pt x="1" y="18"/>
                    <a:pt x="0" y="23"/>
                    <a:pt x="2" y="27"/>
                  </a:cubicBezTo>
                  <a:cubicBezTo>
                    <a:pt x="4" y="30"/>
                    <a:pt x="7" y="31"/>
                    <a:pt x="10" y="31"/>
                  </a:cubicBezTo>
                  <a:cubicBezTo>
                    <a:pt x="11" y="31"/>
                    <a:pt x="13" y="31"/>
                    <a:pt x="14" y="30"/>
                  </a:cubicBezTo>
                  <a:cubicBezTo>
                    <a:pt x="37" y="17"/>
                    <a:pt x="37" y="17"/>
                    <a:pt x="37" y="17"/>
                  </a:cubicBezTo>
                  <a:cubicBezTo>
                    <a:pt x="41" y="15"/>
                    <a:pt x="42" y="9"/>
                    <a:pt x="40" y="5"/>
                  </a:cubicBezTo>
                  <a:cubicBezTo>
                    <a:pt x="37" y="1"/>
                    <a:pt x="32" y="0"/>
                    <a:pt x="28" y="2"/>
                  </a:cubicBezTo>
                  <a:close/>
                  <a:moveTo>
                    <a:pt x="28" y="2"/>
                  </a:moveTo>
                  <a:cubicBezTo>
                    <a:pt x="28" y="2"/>
                    <a:pt x="28" y="2"/>
                    <a:pt x="28"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1" name="Freeform 22">
              <a:extLst>
                <a:ext uri="{FF2B5EF4-FFF2-40B4-BE49-F238E27FC236}">
                  <a16:creationId xmlns:a16="http://schemas.microsoft.com/office/drawing/2014/main" id="{69E47008-1428-486C-BB37-179F56A9EF8D}"/>
                </a:ext>
              </a:extLst>
            </p:cNvPr>
            <p:cNvSpPr>
              <a:spLocks noEditPoints="1"/>
            </p:cNvSpPr>
            <p:nvPr/>
          </p:nvSpPr>
          <p:spPr bwMode="auto">
            <a:xfrm>
              <a:off x="4921250" y="2538413"/>
              <a:ext cx="87313" cy="63500"/>
            </a:xfrm>
            <a:custGeom>
              <a:avLst/>
              <a:gdLst>
                <a:gd name="T0" fmla="*/ 36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6 w 42"/>
                <a:gd name="T15" fmla="*/ 15 h 31"/>
                <a:gd name="T16" fmla="*/ 36 w 42"/>
                <a:gd name="T17" fmla="*/ 15 h 31"/>
                <a:gd name="T18" fmla="*/ 36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6" y="15"/>
                  </a:moveTo>
                  <a:cubicBezTo>
                    <a:pt x="14" y="2"/>
                    <a:pt x="14" y="2"/>
                    <a:pt x="14" y="2"/>
                  </a:cubicBezTo>
                  <a:cubicBezTo>
                    <a:pt x="10" y="0"/>
                    <a:pt x="5" y="1"/>
                    <a:pt x="2" y="5"/>
                  </a:cubicBezTo>
                  <a:cubicBezTo>
                    <a:pt x="0" y="9"/>
                    <a:pt x="1" y="15"/>
                    <a:pt x="5" y="17"/>
                  </a:cubicBezTo>
                  <a:cubicBezTo>
                    <a:pt x="28" y="30"/>
                    <a:pt x="28" y="30"/>
                    <a:pt x="28" y="30"/>
                  </a:cubicBezTo>
                  <a:cubicBezTo>
                    <a:pt x="29" y="31"/>
                    <a:pt x="31" y="31"/>
                    <a:pt x="32" y="31"/>
                  </a:cubicBezTo>
                  <a:cubicBezTo>
                    <a:pt x="35" y="31"/>
                    <a:pt x="38" y="30"/>
                    <a:pt x="40" y="27"/>
                  </a:cubicBezTo>
                  <a:cubicBezTo>
                    <a:pt x="42" y="23"/>
                    <a:pt x="41" y="18"/>
                    <a:pt x="36" y="15"/>
                  </a:cubicBezTo>
                  <a:close/>
                  <a:moveTo>
                    <a:pt x="36" y="15"/>
                  </a:moveTo>
                  <a:cubicBezTo>
                    <a:pt x="36" y="15"/>
                    <a:pt x="36" y="15"/>
                    <a:pt x="36"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Freeform 23">
              <a:extLst>
                <a:ext uri="{FF2B5EF4-FFF2-40B4-BE49-F238E27FC236}">
                  <a16:creationId xmlns:a16="http://schemas.microsoft.com/office/drawing/2014/main" id="{5A202851-EE26-4460-92DA-263E8E055160}"/>
                </a:ext>
              </a:extLst>
            </p:cNvPr>
            <p:cNvSpPr>
              <a:spLocks noEditPoints="1"/>
            </p:cNvSpPr>
            <p:nvPr/>
          </p:nvSpPr>
          <p:spPr bwMode="auto">
            <a:xfrm>
              <a:off x="4970463" y="2366963"/>
              <a:ext cx="88900" cy="34925"/>
            </a:xfrm>
            <a:custGeom>
              <a:avLst/>
              <a:gdLst>
                <a:gd name="T0" fmla="*/ 34 w 43"/>
                <a:gd name="T1" fmla="*/ 0 h 17"/>
                <a:gd name="T2" fmla="*/ 8 w 43"/>
                <a:gd name="T3" fmla="*/ 0 h 17"/>
                <a:gd name="T4" fmla="*/ 0 w 43"/>
                <a:gd name="T5" fmla="*/ 8 h 17"/>
                <a:gd name="T6" fmla="*/ 8 w 43"/>
                <a:gd name="T7" fmla="*/ 17 h 17"/>
                <a:gd name="T8" fmla="*/ 34 w 43"/>
                <a:gd name="T9" fmla="*/ 17 h 17"/>
                <a:gd name="T10" fmla="*/ 43 w 43"/>
                <a:gd name="T11" fmla="*/ 8 h 17"/>
                <a:gd name="T12" fmla="*/ 34 w 43"/>
                <a:gd name="T13" fmla="*/ 0 h 17"/>
                <a:gd name="T14" fmla="*/ 34 w 43"/>
                <a:gd name="T15" fmla="*/ 0 h 17"/>
                <a:gd name="T16" fmla="*/ 34 w 43"/>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34" y="0"/>
                  </a:moveTo>
                  <a:cubicBezTo>
                    <a:pt x="8" y="0"/>
                    <a:pt x="8" y="0"/>
                    <a:pt x="8" y="0"/>
                  </a:cubicBezTo>
                  <a:cubicBezTo>
                    <a:pt x="4" y="0"/>
                    <a:pt x="0" y="3"/>
                    <a:pt x="0" y="8"/>
                  </a:cubicBezTo>
                  <a:cubicBezTo>
                    <a:pt x="0" y="13"/>
                    <a:pt x="4" y="17"/>
                    <a:pt x="8" y="17"/>
                  </a:cubicBezTo>
                  <a:cubicBezTo>
                    <a:pt x="34" y="17"/>
                    <a:pt x="34" y="17"/>
                    <a:pt x="34" y="17"/>
                  </a:cubicBezTo>
                  <a:cubicBezTo>
                    <a:pt x="39" y="17"/>
                    <a:pt x="43" y="13"/>
                    <a:pt x="43" y="8"/>
                  </a:cubicBezTo>
                  <a:cubicBezTo>
                    <a:pt x="43" y="3"/>
                    <a:pt x="39" y="0"/>
                    <a:pt x="34" y="0"/>
                  </a:cubicBezTo>
                  <a:close/>
                  <a:moveTo>
                    <a:pt x="34" y="0"/>
                  </a:moveTo>
                  <a:cubicBezTo>
                    <a:pt x="34" y="0"/>
                    <a:pt x="34" y="0"/>
                    <a:pt x="3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Freeform 24">
              <a:extLst>
                <a:ext uri="{FF2B5EF4-FFF2-40B4-BE49-F238E27FC236}">
                  <a16:creationId xmlns:a16="http://schemas.microsoft.com/office/drawing/2014/main" id="{69038FEA-797B-48CB-8892-5E4A1BC78EAC}"/>
                </a:ext>
              </a:extLst>
            </p:cNvPr>
            <p:cNvSpPr>
              <a:spLocks noEditPoints="1"/>
            </p:cNvSpPr>
            <p:nvPr/>
          </p:nvSpPr>
          <p:spPr bwMode="auto">
            <a:xfrm>
              <a:off x="4921250" y="2162175"/>
              <a:ext cx="87313" cy="65088"/>
            </a:xfrm>
            <a:custGeom>
              <a:avLst/>
              <a:gdLst>
                <a:gd name="T0" fmla="*/ 10 w 42"/>
                <a:gd name="T1" fmla="*/ 31 h 31"/>
                <a:gd name="T2" fmla="*/ 14 w 42"/>
                <a:gd name="T3" fmla="*/ 30 h 31"/>
                <a:gd name="T4" fmla="*/ 36 w 42"/>
                <a:gd name="T5" fmla="*/ 17 h 31"/>
                <a:gd name="T6" fmla="*/ 40 w 42"/>
                <a:gd name="T7" fmla="*/ 5 h 31"/>
                <a:gd name="T8" fmla="*/ 28 w 42"/>
                <a:gd name="T9" fmla="*/ 2 h 31"/>
                <a:gd name="T10" fmla="*/ 5 w 42"/>
                <a:gd name="T11" fmla="*/ 15 h 31"/>
                <a:gd name="T12" fmla="*/ 2 w 42"/>
                <a:gd name="T13" fmla="*/ 27 h 31"/>
                <a:gd name="T14" fmla="*/ 10 w 42"/>
                <a:gd name="T15" fmla="*/ 31 h 31"/>
                <a:gd name="T16" fmla="*/ 10 w 42"/>
                <a:gd name="T17" fmla="*/ 31 h 31"/>
                <a:gd name="T18" fmla="*/ 10 w 42"/>
                <a:gd name="T19"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10" y="31"/>
                  </a:moveTo>
                  <a:cubicBezTo>
                    <a:pt x="11" y="31"/>
                    <a:pt x="13" y="31"/>
                    <a:pt x="14" y="30"/>
                  </a:cubicBezTo>
                  <a:cubicBezTo>
                    <a:pt x="36" y="17"/>
                    <a:pt x="36" y="17"/>
                    <a:pt x="36" y="17"/>
                  </a:cubicBezTo>
                  <a:cubicBezTo>
                    <a:pt x="41" y="15"/>
                    <a:pt x="42" y="10"/>
                    <a:pt x="40" y="5"/>
                  </a:cubicBezTo>
                  <a:cubicBezTo>
                    <a:pt x="37" y="1"/>
                    <a:pt x="32" y="0"/>
                    <a:pt x="28" y="2"/>
                  </a:cubicBezTo>
                  <a:cubicBezTo>
                    <a:pt x="5" y="15"/>
                    <a:pt x="5" y="15"/>
                    <a:pt x="5" y="15"/>
                  </a:cubicBezTo>
                  <a:cubicBezTo>
                    <a:pt x="1" y="18"/>
                    <a:pt x="0" y="23"/>
                    <a:pt x="2" y="27"/>
                  </a:cubicBezTo>
                  <a:cubicBezTo>
                    <a:pt x="4" y="30"/>
                    <a:pt x="7" y="31"/>
                    <a:pt x="10" y="31"/>
                  </a:cubicBezTo>
                  <a:close/>
                  <a:moveTo>
                    <a:pt x="10" y="31"/>
                  </a:moveTo>
                  <a:cubicBezTo>
                    <a:pt x="10" y="31"/>
                    <a:pt x="10" y="31"/>
                    <a:pt x="10"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Freeform 25">
              <a:extLst>
                <a:ext uri="{FF2B5EF4-FFF2-40B4-BE49-F238E27FC236}">
                  <a16:creationId xmlns:a16="http://schemas.microsoft.com/office/drawing/2014/main" id="{E34801C1-CB76-40CF-B425-7AEFF170C29E}"/>
                </a:ext>
              </a:extLst>
            </p:cNvPr>
            <p:cNvSpPr>
              <a:spLocks noEditPoints="1"/>
            </p:cNvSpPr>
            <p:nvPr/>
          </p:nvSpPr>
          <p:spPr bwMode="auto">
            <a:xfrm>
              <a:off x="4794250" y="2016125"/>
              <a:ext cx="68263" cy="84138"/>
            </a:xfrm>
            <a:custGeom>
              <a:avLst/>
              <a:gdLst>
                <a:gd name="T0" fmla="*/ 6 w 33"/>
                <a:gd name="T1" fmla="*/ 39 h 41"/>
                <a:gd name="T2" fmla="*/ 10 w 33"/>
                <a:gd name="T3" fmla="*/ 41 h 41"/>
                <a:gd name="T4" fmla="*/ 17 w 33"/>
                <a:gd name="T5" fmla="*/ 36 h 41"/>
                <a:gd name="T6" fmla="*/ 30 w 33"/>
                <a:gd name="T7" fmla="*/ 14 h 41"/>
                <a:gd name="T8" fmla="*/ 27 w 33"/>
                <a:gd name="T9" fmla="*/ 2 h 41"/>
                <a:gd name="T10" fmla="*/ 15 w 33"/>
                <a:gd name="T11" fmla="*/ 5 h 41"/>
                <a:gd name="T12" fmla="*/ 2 w 33"/>
                <a:gd name="T13" fmla="*/ 28 h 41"/>
                <a:gd name="T14" fmla="*/ 6 w 33"/>
                <a:gd name="T15" fmla="*/ 39 h 41"/>
                <a:gd name="T16" fmla="*/ 6 w 33"/>
                <a:gd name="T17" fmla="*/ 39 h 41"/>
                <a:gd name="T18" fmla="*/ 6 w 33"/>
                <a:gd name="T1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6" y="39"/>
                  </a:moveTo>
                  <a:cubicBezTo>
                    <a:pt x="7" y="40"/>
                    <a:pt x="8" y="41"/>
                    <a:pt x="10" y="41"/>
                  </a:cubicBezTo>
                  <a:cubicBezTo>
                    <a:pt x="13" y="41"/>
                    <a:pt x="16" y="39"/>
                    <a:pt x="17" y="36"/>
                  </a:cubicBezTo>
                  <a:cubicBezTo>
                    <a:pt x="30" y="14"/>
                    <a:pt x="30" y="14"/>
                    <a:pt x="30" y="14"/>
                  </a:cubicBezTo>
                  <a:cubicBezTo>
                    <a:pt x="33" y="10"/>
                    <a:pt x="31" y="4"/>
                    <a:pt x="27" y="2"/>
                  </a:cubicBezTo>
                  <a:cubicBezTo>
                    <a:pt x="23" y="0"/>
                    <a:pt x="18" y="1"/>
                    <a:pt x="15" y="5"/>
                  </a:cubicBezTo>
                  <a:cubicBezTo>
                    <a:pt x="2" y="28"/>
                    <a:pt x="2" y="28"/>
                    <a:pt x="2" y="28"/>
                  </a:cubicBezTo>
                  <a:cubicBezTo>
                    <a:pt x="0" y="32"/>
                    <a:pt x="1" y="37"/>
                    <a:pt x="6" y="39"/>
                  </a:cubicBezTo>
                  <a:close/>
                  <a:moveTo>
                    <a:pt x="6" y="39"/>
                  </a:moveTo>
                  <a:cubicBezTo>
                    <a:pt x="6" y="39"/>
                    <a:pt x="6" y="39"/>
                    <a:pt x="6" y="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5" name="Freeform 26">
              <a:extLst>
                <a:ext uri="{FF2B5EF4-FFF2-40B4-BE49-F238E27FC236}">
                  <a16:creationId xmlns:a16="http://schemas.microsoft.com/office/drawing/2014/main" id="{374FE9AC-D024-4040-9E38-FB5ADFF44833}"/>
                </a:ext>
              </a:extLst>
            </p:cNvPr>
            <p:cNvSpPr>
              <a:spLocks noEditPoints="1"/>
            </p:cNvSpPr>
            <p:nvPr/>
          </p:nvSpPr>
          <p:spPr bwMode="auto">
            <a:xfrm>
              <a:off x="4598988" y="2233613"/>
              <a:ext cx="137117" cy="496578"/>
            </a:xfrm>
            <a:custGeom>
              <a:avLst/>
              <a:gdLst>
                <a:gd name="T0" fmla="*/ 9 w 41"/>
                <a:gd name="T1" fmla="*/ 125 h 135"/>
                <a:gd name="T2" fmla="*/ 20 w 41"/>
                <a:gd name="T3" fmla="*/ 135 h 135"/>
                <a:gd name="T4" fmla="*/ 32 w 41"/>
                <a:gd name="T5" fmla="*/ 125 h 135"/>
                <a:gd name="T6" fmla="*/ 40 w 41"/>
                <a:gd name="T7" fmla="*/ 64 h 135"/>
                <a:gd name="T8" fmla="*/ 41 w 41"/>
                <a:gd name="T9" fmla="*/ 51 h 135"/>
                <a:gd name="T10" fmla="*/ 41 w 41"/>
                <a:gd name="T11" fmla="*/ 21 h 135"/>
                <a:gd name="T12" fmla="*/ 20 w 41"/>
                <a:gd name="T13" fmla="*/ 0 h 135"/>
                <a:gd name="T14" fmla="*/ 0 w 41"/>
                <a:gd name="T15" fmla="*/ 21 h 135"/>
                <a:gd name="T16" fmla="*/ 0 w 41"/>
                <a:gd name="T17" fmla="*/ 51 h 135"/>
                <a:gd name="T18" fmla="*/ 1 w 41"/>
                <a:gd name="T19" fmla="*/ 64 h 135"/>
                <a:gd name="T20" fmla="*/ 9 w 41"/>
                <a:gd name="T21" fmla="*/ 125 h 135"/>
                <a:gd name="T22" fmla="*/ 9 w 41"/>
                <a:gd name="T23" fmla="*/ 125 h 135"/>
                <a:gd name="T24" fmla="*/ 9 w 41"/>
                <a:gd name="T25" fmla="*/ 12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135">
                  <a:moveTo>
                    <a:pt x="9" y="125"/>
                  </a:moveTo>
                  <a:cubicBezTo>
                    <a:pt x="10" y="133"/>
                    <a:pt x="14" y="135"/>
                    <a:pt x="20" y="135"/>
                  </a:cubicBezTo>
                  <a:cubicBezTo>
                    <a:pt x="27" y="135"/>
                    <a:pt x="31" y="133"/>
                    <a:pt x="32" y="125"/>
                  </a:cubicBezTo>
                  <a:cubicBezTo>
                    <a:pt x="40" y="64"/>
                    <a:pt x="40" y="64"/>
                    <a:pt x="40" y="64"/>
                  </a:cubicBezTo>
                  <a:cubicBezTo>
                    <a:pt x="41" y="60"/>
                    <a:pt x="41" y="55"/>
                    <a:pt x="41" y="51"/>
                  </a:cubicBezTo>
                  <a:cubicBezTo>
                    <a:pt x="41" y="21"/>
                    <a:pt x="41" y="21"/>
                    <a:pt x="41" y="21"/>
                  </a:cubicBezTo>
                  <a:cubicBezTo>
                    <a:pt x="41" y="7"/>
                    <a:pt x="34" y="0"/>
                    <a:pt x="20" y="0"/>
                  </a:cubicBezTo>
                  <a:cubicBezTo>
                    <a:pt x="7" y="0"/>
                    <a:pt x="0" y="7"/>
                    <a:pt x="0" y="21"/>
                  </a:cubicBezTo>
                  <a:cubicBezTo>
                    <a:pt x="0" y="51"/>
                    <a:pt x="0" y="51"/>
                    <a:pt x="0" y="51"/>
                  </a:cubicBezTo>
                  <a:cubicBezTo>
                    <a:pt x="0" y="55"/>
                    <a:pt x="0" y="60"/>
                    <a:pt x="1" y="64"/>
                  </a:cubicBezTo>
                  <a:lnTo>
                    <a:pt x="9" y="125"/>
                  </a:lnTo>
                  <a:close/>
                  <a:moveTo>
                    <a:pt x="9" y="125"/>
                  </a:moveTo>
                  <a:cubicBezTo>
                    <a:pt x="9" y="125"/>
                    <a:pt x="9" y="125"/>
                    <a:pt x="9" y="1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6" name="Freeform 27">
              <a:extLst>
                <a:ext uri="{FF2B5EF4-FFF2-40B4-BE49-F238E27FC236}">
                  <a16:creationId xmlns:a16="http://schemas.microsoft.com/office/drawing/2014/main" id="{36882D00-8E7A-4928-8B12-3F88A4DF792A}"/>
                </a:ext>
              </a:extLst>
            </p:cNvPr>
            <p:cNvSpPr>
              <a:spLocks noEditPoints="1"/>
            </p:cNvSpPr>
            <p:nvPr/>
          </p:nvSpPr>
          <p:spPr bwMode="auto">
            <a:xfrm>
              <a:off x="4595813" y="2546350"/>
              <a:ext cx="88900" cy="90488"/>
            </a:xfrm>
            <a:custGeom>
              <a:avLst/>
              <a:gdLst>
                <a:gd name="T0" fmla="*/ 21 w 43"/>
                <a:gd name="T1" fmla="*/ 0 h 44"/>
                <a:gd name="T2" fmla="*/ 0 w 43"/>
                <a:gd name="T3" fmla="*/ 22 h 44"/>
                <a:gd name="T4" fmla="*/ 21 w 43"/>
                <a:gd name="T5" fmla="*/ 44 h 44"/>
                <a:gd name="T6" fmla="*/ 43 w 43"/>
                <a:gd name="T7" fmla="*/ 22 h 44"/>
                <a:gd name="T8" fmla="*/ 21 w 43"/>
                <a:gd name="T9" fmla="*/ 0 h 44"/>
                <a:gd name="T10" fmla="*/ 21 w 43"/>
                <a:gd name="T11" fmla="*/ 0 h 44"/>
                <a:gd name="T12" fmla="*/ 21 w 43"/>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3" h="44">
                  <a:moveTo>
                    <a:pt x="21" y="0"/>
                  </a:moveTo>
                  <a:cubicBezTo>
                    <a:pt x="10" y="0"/>
                    <a:pt x="0" y="10"/>
                    <a:pt x="0" y="22"/>
                  </a:cubicBezTo>
                  <a:cubicBezTo>
                    <a:pt x="0" y="34"/>
                    <a:pt x="10" y="44"/>
                    <a:pt x="21" y="44"/>
                  </a:cubicBezTo>
                  <a:cubicBezTo>
                    <a:pt x="33" y="44"/>
                    <a:pt x="43" y="34"/>
                    <a:pt x="43" y="22"/>
                  </a:cubicBezTo>
                  <a:cubicBezTo>
                    <a:pt x="43" y="10"/>
                    <a:pt x="33" y="0"/>
                    <a:pt x="21" y="0"/>
                  </a:cubicBezTo>
                  <a:close/>
                  <a:moveTo>
                    <a:pt x="21" y="0"/>
                  </a:moveTo>
                  <a:cubicBezTo>
                    <a:pt x="21" y="0"/>
                    <a:pt x="21" y="0"/>
                    <a:pt x="2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3491278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C5D495-6766-48F1-BBD9-0ED50E0A06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3448" y="866955"/>
            <a:ext cx="3942681" cy="3840480"/>
          </a:xfrm>
          <a:prstGeom prst="rect">
            <a:avLst/>
          </a:prstGeom>
        </p:spPr>
      </p:pic>
      <p:pic>
        <p:nvPicPr>
          <p:cNvPr id="5" name="Picture 4">
            <a:extLst>
              <a:ext uri="{FF2B5EF4-FFF2-40B4-BE49-F238E27FC236}">
                <a16:creationId xmlns:a16="http://schemas.microsoft.com/office/drawing/2014/main" id="{AEE6915A-7AE3-448E-B59A-0E2CF8FBD082}"/>
              </a:ext>
            </a:extLst>
          </p:cNvPr>
          <p:cNvPicPr>
            <a:picLocks noChangeAspect="1"/>
          </p:cNvPicPr>
          <p:nvPr/>
        </p:nvPicPr>
        <p:blipFill rotWithShape="1">
          <a:blip r:embed="rId3">
            <a:extLst>
              <a:ext uri="{28A0092B-C50C-407E-A947-70E740481C1C}">
                <a14:useLocalDpi xmlns:a14="http://schemas.microsoft.com/office/drawing/2010/main" val="0"/>
              </a:ext>
            </a:extLst>
          </a:blip>
          <a:srcRect b="13147"/>
          <a:stretch/>
        </p:blipFill>
        <p:spPr>
          <a:xfrm>
            <a:off x="985871" y="866955"/>
            <a:ext cx="4265890" cy="3705045"/>
          </a:xfrm>
          <a:prstGeom prst="rect">
            <a:avLst/>
          </a:prstGeom>
        </p:spPr>
      </p:pic>
      <p:sp>
        <p:nvSpPr>
          <p:cNvPr id="12" name="Rectangle 11">
            <a:extLst>
              <a:ext uri="{FF2B5EF4-FFF2-40B4-BE49-F238E27FC236}">
                <a16:creationId xmlns:a16="http://schemas.microsoft.com/office/drawing/2014/main" id="{67FAD682-F6EE-4654-A01B-FE8270A40CE0}"/>
              </a:ext>
            </a:extLst>
          </p:cNvPr>
          <p:cNvSpPr/>
          <p:nvPr/>
        </p:nvSpPr>
        <p:spPr>
          <a:xfrm>
            <a:off x="164784" y="5380672"/>
            <a:ext cx="10549223" cy="1200329"/>
          </a:xfrm>
          <a:prstGeom prst="rect">
            <a:avLst/>
          </a:prstGeom>
        </p:spPr>
        <p:txBody>
          <a:bodyPr wrap="square">
            <a:spAutoFit/>
          </a:bodyPr>
          <a:lstStyle/>
          <a:p>
            <a:pPr marL="285750" indent="-285750">
              <a:buFont typeface="Arial" panose="020B0604020202020204" pitchFamily="34" charset="0"/>
              <a:buChar char="•"/>
            </a:pPr>
            <a:r>
              <a:rPr lang="en-US" dirty="0"/>
              <a:t>The dataset is heavily skewed towards customers without dependents, indicating that those with dependents are a minority in this population.</a:t>
            </a:r>
          </a:p>
          <a:p>
            <a:pPr marL="285750" indent="-285750">
              <a:buFont typeface="Arial" panose="020B0604020202020204" pitchFamily="34" charset="0"/>
              <a:buChar char="•"/>
            </a:pPr>
            <a:r>
              <a:rPr lang="en-US" dirty="0"/>
              <a:t>customers without dependents have a significantly higher churn rate </a:t>
            </a:r>
            <a:r>
              <a:rPr lang="en-US" b="1" dirty="0"/>
              <a:t>(31%) </a:t>
            </a:r>
            <a:r>
              <a:rPr lang="en-US" dirty="0"/>
              <a:t>compared to those with dependents </a:t>
            </a:r>
            <a:r>
              <a:rPr lang="en-US" b="1" dirty="0"/>
              <a:t>(16%).</a:t>
            </a:r>
            <a:endParaRPr lang="en-US" b="1" i="0" dirty="0">
              <a:effectLst/>
              <a:latin typeface="Inter"/>
            </a:endParaRPr>
          </a:p>
        </p:txBody>
      </p:sp>
      <p:cxnSp>
        <p:nvCxnSpPr>
          <p:cNvPr id="13" name="Straight Connector 12">
            <a:extLst>
              <a:ext uri="{FF2B5EF4-FFF2-40B4-BE49-F238E27FC236}">
                <a16:creationId xmlns:a16="http://schemas.microsoft.com/office/drawing/2014/main" id="{8EB35449-9466-444C-BBAB-042B02320B24}"/>
              </a:ext>
            </a:extLst>
          </p:cNvPr>
          <p:cNvCxnSpPr>
            <a:cxnSpLocks/>
          </p:cNvCxnSpPr>
          <p:nvPr/>
        </p:nvCxnSpPr>
        <p:spPr>
          <a:xfrm>
            <a:off x="6096000" y="866955"/>
            <a:ext cx="0" cy="3840480"/>
          </a:xfrm>
          <a:prstGeom prst="line">
            <a:avLst/>
          </a:prstGeom>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1E6C4297-A099-48E1-A4A1-8ECC7B1561CD}"/>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Dependents Analysis</a:t>
            </a:r>
          </a:p>
        </p:txBody>
      </p:sp>
      <p:sp>
        <p:nvSpPr>
          <p:cNvPr id="8" name="TextBox 7">
            <a:extLst>
              <a:ext uri="{FF2B5EF4-FFF2-40B4-BE49-F238E27FC236}">
                <a16:creationId xmlns:a16="http://schemas.microsoft.com/office/drawing/2014/main" id="{2807D9F8-80FF-4ADA-B5CB-DF26EB79F2CE}"/>
              </a:ext>
            </a:extLst>
          </p:cNvPr>
          <p:cNvSpPr txBox="1"/>
          <p:nvPr/>
        </p:nvSpPr>
        <p:spPr>
          <a:xfrm>
            <a:off x="458082" y="4965352"/>
            <a:ext cx="1404808" cy="369332"/>
          </a:xfrm>
          <a:prstGeom prst="rect">
            <a:avLst/>
          </a:prstGeom>
          <a:noFill/>
        </p:spPr>
        <p:txBody>
          <a:bodyPr wrap="none" rtlCol="0">
            <a:spAutoFit/>
          </a:bodyPr>
          <a:lstStyle/>
          <a:p>
            <a:r>
              <a:rPr lang="en-US" b="1" u="sng" dirty="0"/>
              <a:t>Key Insights: </a:t>
            </a:r>
          </a:p>
        </p:txBody>
      </p:sp>
      <p:grpSp>
        <p:nvGrpSpPr>
          <p:cNvPr id="10" name="Group 9">
            <a:extLst>
              <a:ext uri="{FF2B5EF4-FFF2-40B4-BE49-F238E27FC236}">
                <a16:creationId xmlns:a16="http://schemas.microsoft.com/office/drawing/2014/main" id="{6AE051C0-1CAC-448E-93C8-D48A6A03DE3B}"/>
              </a:ext>
            </a:extLst>
          </p:cNvPr>
          <p:cNvGrpSpPr/>
          <p:nvPr/>
        </p:nvGrpSpPr>
        <p:grpSpPr>
          <a:xfrm>
            <a:off x="113025" y="4917165"/>
            <a:ext cx="365760" cy="365760"/>
            <a:chOff x="4221163" y="1965325"/>
            <a:chExt cx="838200" cy="927101"/>
          </a:xfrm>
          <a:solidFill>
            <a:schemeClr val="accent1"/>
          </a:solidFill>
          <a:effectLst>
            <a:glow rad="127000">
              <a:schemeClr val="bg1">
                <a:alpha val="99000"/>
              </a:schemeClr>
            </a:glow>
          </a:effectLst>
        </p:grpSpPr>
        <p:sp>
          <p:nvSpPr>
            <p:cNvPr id="11" name="Freeform 16">
              <a:extLst>
                <a:ext uri="{FF2B5EF4-FFF2-40B4-BE49-F238E27FC236}">
                  <a16:creationId xmlns:a16="http://schemas.microsoft.com/office/drawing/2014/main" id="{6CDF27B9-11DA-4342-A823-506AB294EAF6}"/>
                </a:ext>
              </a:extLst>
            </p:cNvPr>
            <p:cNvSpPr>
              <a:spLocks noEditPoints="1"/>
            </p:cNvSpPr>
            <p:nvPr/>
          </p:nvSpPr>
          <p:spPr bwMode="auto">
            <a:xfrm>
              <a:off x="4359275" y="2106613"/>
              <a:ext cx="561975" cy="785813"/>
            </a:xfrm>
            <a:custGeom>
              <a:avLst/>
              <a:gdLst>
                <a:gd name="T0" fmla="*/ 136 w 273"/>
                <a:gd name="T1" fmla="*/ 0 h 381"/>
                <a:gd name="T2" fmla="*/ 0 w 273"/>
                <a:gd name="T3" fmla="*/ 132 h 381"/>
                <a:gd name="T4" fmla="*/ 33 w 273"/>
                <a:gd name="T5" fmla="*/ 229 h 381"/>
                <a:gd name="T6" fmla="*/ 47 w 273"/>
                <a:gd name="T7" fmla="*/ 257 h 381"/>
                <a:gd name="T8" fmla="*/ 72 w 273"/>
                <a:gd name="T9" fmla="*/ 302 h 381"/>
                <a:gd name="T10" fmla="*/ 74 w 273"/>
                <a:gd name="T11" fmla="*/ 337 h 381"/>
                <a:gd name="T12" fmla="*/ 74 w 273"/>
                <a:gd name="T13" fmla="*/ 337 h 381"/>
                <a:gd name="T14" fmla="*/ 102 w 273"/>
                <a:gd name="T15" fmla="*/ 367 h 381"/>
                <a:gd name="T16" fmla="*/ 114 w 273"/>
                <a:gd name="T17" fmla="*/ 378 h 381"/>
                <a:gd name="T18" fmla="*/ 123 w 273"/>
                <a:gd name="T19" fmla="*/ 381 h 381"/>
                <a:gd name="T20" fmla="*/ 150 w 273"/>
                <a:gd name="T21" fmla="*/ 381 h 381"/>
                <a:gd name="T22" fmla="*/ 159 w 273"/>
                <a:gd name="T23" fmla="*/ 378 h 381"/>
                <a:gd name="T24" fmla="*/ 171 w 273"/>
                <a:gd name="T25" fmla="*/ 367 h 381"/>
                <a:gd name="T26" fmla="*/ 199 w 273"/>
                <a:gd name="T27" fmla="*/ 337 h 381"/>
                <a:gd name="T28" fmla="*/ 201 w 273"/>
                <a:gd name="T29" fmla="*/ 302 h 381"/>
                <a:gd name="T30" fmla="*/ 226 w 273"/>
                <a:gd name="T31" fmla="*/ 257 h 381"/>
                <a:gd name="T32" fmla="*/ 240 w 273"/>
                <a:gd name="T33" fmla="*/ 228 h 381"/>
                <a:gd name="T34" fmla="*/ 273 w 273"/>
                <a:gd name="T35" fmla="*/ 132 h 381"/>
                <a:gd name="T36" fmla="*/ 136 w 273"/>
                <a:gd name="T37" fmla="*/ 0 h 381"/>
                <a:gd name="T38" fmla="*/ 211 w 273"/>
                <a:gd name="T39" fmla="*/ 209 h 381"/>
                <a:gd name="T40" fmla="*/ 192 w 273"/>
                <a:gd name="T41" fmla="*/ 257 h 381"/>
                <a:gd name="T42" fmla="*/ 179 w 273"/>
                <a:gd name="T43" fmla="*/ 275 h 381"/>
                <a:gd name="T44" fmla="*/ 94 w 273"/>
                <a:gd name="T45" fmla="*/ 275 h 381"/>
                <a:gd name="T46" fmla="*/ 81 w 273"/>
                <a:gd name="T47" fmla="*/ 257 h 381"/>
                <a:gd name="T48" fmla="*/ 61 w 273"/>
                <a:gd name="T49" fmla="*/ 209 h 381"/>
                <a:gd name="T50" fmla="*/ 34 w 273"/>
                <a:gd name="T51" fmla="*/ 132 h 381"/>
                <a:gd name="T52" fmla="*/ 136 w 273"/>
                <a:gd name="T53" fmla="*/ 35 h 381"/>
                <a:gd name="T54" fmla="*/ 239 w 273"/>
                <a:gd name="T55" fmla="*/ 132 h 381"/>
                <a:gd name="T56" fmla="*/ 211 w 273"/>
                <a:gd name="T57" fmla="*/ 209 h 381"/>
                <a:gd name="T58" fmla="*/ 211 w 273"/>
                <a:gd name="T59" fmla="*/ 209 h 381"/>
                <a:gd name="T60" fmla="*/ 211 w 273"/>
                <a:gd name="T61" fmla="*/ 20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3" h="381">
                  <a:moveTo>
                    <a:pt x="136" y="0"/>
                  </a:moveTo>
                  <a:cubicBezTo>
                    <a:pt x="61" y="0"/>
                    <a:pt x="0" y="59"/>
                    <a:pt x="0" y="132"/>
                  </a:cubicBezTo>
                  <a:cubicBezTo>
                    <a:pt x="0" y="180"/>
                    <a:pt x="19" y="208"/>
                    <a:pt x="33" y="229"/>
                  </a:cubicBezTo>
                  <a:cubicBezTo>
                    <a:pt x="42" y="241"/>
                    <a:pt x="47" y="249"/>
                    <a:pt x="47" y="257"/>
                  </a:cubicBezTo>
                  <a:cubicBezTo>
                    <a:pt x="47" y="274"/>
                    <a:pt x="56" y="290"/>
                    <a:pt x="72" y="302"/>
                  </a:cubicBezTo>
                  <a:cubicBezTo>
                    <a:pt x="73" y="312"/>
                    <a:pt x="74" y="337"/>
                    <a:pt x="74" y="337"/>
                  </a:cubicBezTo>
                  <a:cubicBezTo>
                    <a:pt x="74" y="337"/>
                    <a:pt x="74" y="337"/>
                    <a:pt x="74" y="337"/>
                  </a:cubicBezTo>
                  <a:cubicBezTo>
                    <a:pt x="74" y="344"/>
                    <a:pt x="78" y="359"/>
                    <a:pt x="102" y="367"/>
                  </a:cubicBezTo>
                  <a:cubicBezTo>
                    <a:pt x="105" y="371"/>
                    <a:pt x="109" y="375"/>
                    <a:pt x="114" y="378"/>
                  </a:cubicBezTo>
                  <a:cubicBezTo>
                    <a:pt x="116" y="380"/>
                    <a:pt x="120" y="381"/>
                    <a:pt x="123" y="381"/>
                  </a:cubicBezTo>
                  <a:cubicBezTo>
                    <a:pt x="150" y="381"/>
                    <a:pt x="150" y="381"/>
                    <a:pt x="150" y="381"/>
                  </a:cubicBezTo>
                  <a:cubicBezTo>
                    <a:pt x="153" y="381"/>
                    <a:pt x="157" y="380"/>
                    <a:pt x="159" y="378"/>
                  </a:cubicBezTo>
                  <a:cubicBezTo>
                    <a:pt x="164" y="375"/>
                    <a:pt x="168" y="371"/>
                    <a:pt x="171" y="367"/>
                  </a:cubicBezTo>
                  <a:cubicBezTo>
                    <a:pt x="195" y="359"/>
                    <a:pt x="199" y="344"/>
                    <a:pt x="199" y="337"/>
                  </a:cubicBezTo>
                  <a:cubicBezTo>
                    <a:pt x="199" y="337"/>
                    <a:pt x="200" y="312"/>
                    <a:pt x="201" y="302"/>
                  </a:cubicBezTo>
                  <a:cubicBezTo>
                    <a:pt x="217" y="290"/>
                    <a:pt x="226" y="274"/>
                    <a:pt x="226" y="257"/>
                  </a:cubicBezTo>
                  <a:cubicBezTo>
                    <a:pt x="226" y="249"/>
                    <a:pt x="231" y="241"/>
                    <a:pt x="240" y="228"/>
                  </a:cubicBezTo>
                  <a:cubicBezTo>
                    <a:pt x="254" y="208"/>
                    <a:pt x="273" y="180"/>
                    <a:pt x="273" y="132"/>
                  </a:cubicBezTo>
                  <a:cubicBezTo>
                    <a:pt x="273" y="59"/>
                    <a:pt x="212" y="0"/>
                    <a:pt x="136" y="0"/>
                  </a:cubicBezTo>
                  <a:close/>
                  <a:moveTo>
                    <a:pt x="211" y="209"/>
                  </a:moveTo>
                  <a:cubicBezTo>
                    <a:pt x="201" y="224"/>
                    <a:pt x="192" y="238"/>
                    <a:pt x="192" y="257"/>
                  </a:cubicBezTo>
                  <a:cubicBezTo>
                    <a:pt x="192" y="265"/>
                    <a:pt x="184" y="271"/>
                    <a:pt x="179" y="275"/>
                  </a:cubicBezTo>
                  <a:cubicBezTo>
                    <a:pt x="94" y="275"/>
                    <a:pt x="94" y="275"/>
                    <a:pt x="94" y="275"/>
                  </a:cubicBezTo>
                  <a:cubicBezTo>
                    <a:pt x="89" y="271"/>
                    <a:pt x="81" y="265"/>
                    <a:pt x="81" y="257"/>
                  </a:cubicBezTo>
                  <a:cubicBezTo>
                    <a:pt x="81" y="238"/>
                    <a:pt x="72" y="224"/>
                    <a:pt x="61" y="209"/>
                  </a:cubicBezTo>
                  <a:cubicBezTo>
                    <a:pt x="49" y="190"/>
                    <a:pt x="34" y="169"/>
                    <a:pt x="34" y="132"/>
                  </a:cubicBezTo>
                  <a:cubicBezTo>
                    <a:pt x="34" y="78"/>
                    <a:pt x="80" y="35"/>
                    <a:pt x="136" y="35"/>
                  </a:cubicBezTo>
                  <a:cubicBezTo>
                    <a:pt x="193" y="35"/>
                    <a:pt x="239" y="78"/>
                    <a:pt x="239" y="132"/>
                  </a:cubicBezTo>
                  <a:cubicBezTo>
                    <a:pt x="239" y="169"/>
                    <a:pt x="224" y="190"/>
                    <a:pt x="211" y="209"/>
                  </a:cubicBezTo>
                  <a:close/>
                  <a:moveTo>
                    <a:pt x="211" y="209"/>
                  </a:moveTo>
                  <a:cubicBezTo>
                    <a:pt x="211" y="209"/>
                    <a:pt x="211" y="209"/>
                    <a:pt x="211" y="20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 name="Freeform 17">
              <a:extLst>
                <a:ext uri="{FF2B5EF4-FFF2-40B4-BE49-F238E27FC236}">
                  <a16:creationId xmlns:a16="http://schemas.microsoft.com/office/drawing/2014/main" id="{5100B832-544E-47AD-A937-AD1C7B617D1D}"/>
                </a:ext>
              </a:extLst>
            </p:cNvPr>
            <p:cNvSpPr>
              <a:spLocks noEditPoints="1"/>
            </p:cNvSpPr>
            <p:nvPr/>
          </p:nvSpPr>
          <p:spPr bwMode="auto">
            <a:xfrm>
              <a:off x="4622800" y="1965325"/>
              <a:ext cx="34925" cy="88900"/>
            </a:xfrm>
            <a:custGeom>
              <a:avLst/>
              <a:gdLst>
                <a:gd name="T0" fmla="*/ 8 w 17"/>
                <a:gd name="T1" fmla="*/ 43 h 43"/>
                <a:gd name="T2" fmla="*/ 17 w 17"/>
                <a:gd name="T3" fmla="*/ 34 h 43"/>
                <a:gd name="T4" fmla="*/ 17 w 17"/>
                <a:gd name="T5" fmla="*/ 8 h 43"/>
                <a:gd name="T6" fmla="*/ 8 w 17"/>
                <a:gd name="T7" fmla="*/ 0 h 43"/>
                <a:gd name="T8" fmla="*/ 0 w 17"/>
                <a:gd name="T9" fmla="*/ 8 h 43"/>
                <a:gd name="T10" fmla="*/ 0 w 17"/>
                <a:gd name="T11" fmla="*/ 34 h 43"/>
                <a:gd name="T12" fmla="*/ 8 w 17"/>
                <a:gd name="T13" fmla="*/ 43 h 43"/>
                <a:gd name="T14" fmla="*/ 8 w 17"/>
                <a:gd name="T15" fmla="*/ 43 h 43"/>
                <a:gd name="T16" fmla="*/ 8 w 17"/>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43">
                  <a:moveTo>
                    <a:pt x="8" y="43"/>
                  </a:moveTo>
                  <a:cubicBezTo>
                    <a:pt x="13" y="43"/>
                    <a:pt x="17" y="39"/>
                    <a:pt x="17" y="34"/>
                  </a:cubicBezTo>
                  <a:cubicBezTo>
                    <a:pt x="17" y="8"/>
                    <a:pt x="17" y="8"/>
                    <a:pt x="17" y="8"/>
                  </a:cubicBezTo>
                  <a:cubicBezTo>
                    <a:pt x="17" y="4"/>
                    <a:pt x="13" y="0"/>
                    <a:pt x="8" y="0"/>
                  </a:cubicBezTo>
                  <a:cubicBezTo>
                    <a:pt x="4" y="0"/>
                    <a:pt x="0" y="4"/>
                    <a:pt x="0" y="8"/>
                  </a:cubicBezTo>
                  <a:cubicBezTo>
                    <a:pt x="0" y="34"/>
                    <a:pt x="0" y="34"/>
                    <a:pt x="0" y="34"/>
                  </a:cubicBezTo>
                  <a:cubicBezTo>
                    <a:pt x="0" y="39"/>
                    <a:pt x="4" y="43"/>
                    <a:pt x="8" y="43"/>
                  </a:cubicBezTo>
                  <a:close/>
                  <a:moveTo>
                    <a:pt x="8" y="43"/>
                  </a:moveTo>
                  <a:cubicBezTo>
                    <a:pt x="8" y="43"/>
                    <a:pt x="8" y="43"/>
                    <a:pt x="8" y="4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Freeform 18">
              <a:extLst>
                <a:ext uri="{FF2B5EF4-FFF2-40B4-BE49-F238E27FC236}">
                  <a16:creationId xmlns:a16="http://schemas.microsoft.com/office/drawing/2014/main" id="{0B368222-069F-4674-92BB-40448BF5A03B}"/>
                </a:ext>
              </a:extLst>
            </p:cNvPr>
            <p:cNvSpPr>
              <a:spLocks noEditPoints="1"/>
            </p:cNvSpPr>
            <p:nvPr/>
          </p:nvSpPr>
          <p:spPr bwMode="auto">
            <a:xfrm>
              <a:off x="4419600" y="2016125"/>
              <a:ext cx="66675" cy="84138"/>
            </a:xfrm>
            <a:custGeom>
              <a:avLst/>
              <a:gdLst>
                <a:gd name="T0" fmla="*/ 16 w 33"/>
                <a:gd name="T1" fmla="*/ 36 h 41"/>
                <a:gd name="T2" fmla="*/ 23 w 33"/>
                <a:gd name="T3" fmla="*/ 41 h 41"/>
                <a:gd name="T4" fmla="*/ 27 w 33"/>
                <a:gd name="T5" fmla="*/ 39 h 41"/>
                <a:gd name="T6" fmla="*/ 31 w 33"/>
                <a:gd name="T7" fmla="*/ 28 h 41"/>
                <a:gd name="T8" fmla="*/ 18 w 33"/>
                <a:gd name="T9" fmla="*/ 5 h 41"/>
                <a:gd name="T10" fmla="*/ 6 w 33"/>
                <a:gd name="T11" fmla="*/ 2 h 41"/>
                <a:gd name="T12" fmla="*/ 3 w 33"/>
                <a:gd name="T13" fmla="*/ 14 h 41"/>
                <a:gd name="T14" fmla="*/ 16 w 33"/>
                <a:gd name="T15" fmla="*/ 36 h 41"/>
                <a:gd name="T16" fmla="*/ 16 w 33"/>
                <a:gd name="T17" fmla="*/ 36 h 41"/>
                <a:gd name="T18" fmla="*/ 16 w 33"/>
                <a:gd name="T19" fmla="*/ 3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16" y="36"/>
                  </a:moveTo>
                  <a:cubicBezTo>
                    <a:pt x="17" y="39"/>
                    <a:pt x="20" y="41"/>
                    <a:pt x="23" y="41"/>
                  </a:cubicBezTo>
                  <a:cubicBezTo>
                    <a:pt x="24" y="41"/>
                    <a:pt x="26" y="40"/>
                    <a:pt x="27" y="39"/>
                  </a:cubicBezTo>
                  <a:cubicBezTo>
                    <a:pt x="31" y="37"/>
                    <a:pt x="33" y="32"/>
                    <a:pt x="31" y="28"/>
                  </a:cubicBezTo>
                  <a:cubicBezTo>
                    <a:pt x="18" y="5"/>
                    <a:pt x="18" y="5"/>
                    <a:pt x="18" y="5"/>
                  </a:cubicBezTo>
                  <a:cubicBezTo>
                    <a:pt x="15" y="1"/>
                    <a:pt x="10" y="0"/>
                    <a:pt x="6" y="2"/>
                  </a:cubicBezTo>
                  <a:cubicBezTo>
                    <a:pt x="2" y="4"/>
                    <a:pt x="0" y="10"/>
                    <a:pt x="3" y="14"/>
                  </a:cubicBezTo>
                  <a:lnTo>
                    <a:pt x="16" y="36"/>
                  </a:lnTo>
                  <a:close/>
                  <a:moveTo>
                    <a:pt x="16" y="36"/>
                  </a:moveTo>
                  <a:cubicBezTo>
                    <a:pt x="16" y="36"/>
                    <a:pt x="16" y="36"/>
                    <a:pt x="16"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 name="Freeform 19">
              <a:extLst>
                <a:ext uri="{FF2B5EF4-FFF2-40B4-BE49-F238E27FC236}">
                  <a16:creationId xmlns:a16="http://schemas.microsoft.com/office/drawing/2014/main" id="{60EA3E4C-9571-401F-98F2-9246BC8EBD41}"/>
                </a:ext>
              </a:extLst>
            </p:cNvPr>
            <p:cNvSpPr>
              <a:spLocks noEditPoints="1"/>
            </p:cNvSpPr>
            <p:nvPr/>
          </p:nvSpPr>
          <p:spPr bwMode="auto">
            <a:xfrm>
              <a:off x="4273550" y="2162175"/>
              <a:ext cx="85725" cy="65088"/>
            </a:xfrm>
            <a:custGeom>
              <a:avLst/>
              <a:gdLst>
                <a:gd name="T0" fmla="*/ 37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7 w 42"/>
                <a:gd name="T15" fmla="*/ 15 h 31"/>
                <a:gd name="T16" fmla="*/ 37 w 42"/>
                <a:gd name="T17" fmla="*/ 15 h 31"/>
                <a:gd name="T18" fmla="*/ 37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7" y="15"/>
                  </a:moveTo>
                  <a:cubicBezTo>
                    <a:pt x="14" y="2"/>
                    <a:pt x="14" y="2"/>
                    <a:pt x="14" y="2"/>
                  </a:cubicBezTo>
                  <a:cubicBezTo>
                    <a:pt x="10" y="0"/>
                    <a:pt x="5" y="1"/>
                    <a:pt x="2" y="5"/>
                  </a:cubicBezTo>
                  <a:cubicBezTo>
                    <a:pt x="0" y="10"/>
                    <a:pt x="1" y="15"/>
                    <a:pt x="5" y="17"/>
                  </a:cubicBezTo>
                  <a:cubicBezTo>
                    <a:pt x="28" y="30"/>
                    <a:pt x="28" y="30"/>
                    <a:pt x="28" y="30"/>
                  </a:cubicBezTo>
                  <a:cubicBezTo>
                    <a:pt x="29" y="31"/>
                    <a:pt x="31" y="31"/>
                    <a:pt x="32" y="31"/>
                  </a:cubicBezTo>
                  <a:cubicBezTo>
                    <a:pt x="35" y="31"/>
                    <a:pt x="38" y="30"/>
                    <a:pt x="40" y="27"/>
                  </a:cubicBezTo>
                  <a:cubicBezTo>
                    <a:pt x="42" y="23"/>
                    <a:pt x="41" y="18"/>
                    <a:pt x="37" y="15"/>
                  </a:cubicBezTo>
                  <a:close/>
                  <a:moveTo>
                    <a:pt x="37" y="15"/>
                  </a:moveTo>
                  <a:cubicBezTo>
                    <a:pt x="37" y="15"/>
                    <a:pt x="37" y="15"/>
                    <a:pt x="37"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Freeform 20">
              <a:extLst>
                <a:ext uri="{FF2B5EF4-FFF2-40B4-BE49-F238E27FC236}">
                  <a16:creationId xmlns:a16="http://schemas.microsoft.com/office/drawing/2014/main" id="{250954D6-F666-4F3C-8F63-5AA4D38D63DD}"/>
                </a:ext>
              </a:extLst>
            </p:cNvPr>
            <p:cNvSpPr>
              <a:spLocks noEditPoints="1"/>
            </p:cNvSpPr>
            <p:nvPr/>
          </p:nvSpPr>
          <p:spPr bwMode="auto">
            <a:xfrm>
              <a:off x="4221163" y="2366963"/>
              <a:ext cx="88900" cy="34925"/>
            </a:xfrm>
            <a:custGeom>
              <a:avLst/>
              <a:gdLst>
                <a:gd name="T0" fmla="*/ 43 w 43"/>
                <a:gd name="T1" fmla="*/ 8 h 17"/>
                <a:gd name="T2" fmla="*/ 35 w 43"/>
                <a:gd name="T3" fmla="*/ 0 h 17"/>
                <a:gd name="T4" fmla="*/ 9 w 43"/>
                <a:gd name="T5" fmla="*/ 0 h 17"/>
                <a:gd name="T6" fmla="*/ 0 w 43"/>
                <a:gd name="T7" fmla="*/ 8 h 17"/>
                <a:gd name="T8" fmla="*/ 9 w 43"/>
                <a:gd name="T9" fmla="*/ 17 h 17"/>
                <a:gd name="T10" fmla="*/ 35 w 43"/>
                <a:gd name="T11" fmla="*/ 17 h 17"/>
                <a:gd name="T12" fmla="*/ 43 w 43"/>
                <a:gd name="T13" fmla="*/ 8 h 17"/>
                <a:gd name="T14" fmla="*/ 43 w 43"/>
                <a:gd name="T15" fmla="*/ 8 h 17"/>
                <a:gd name="T16" fmla="*/ 43 w 43"/>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43" y="8"/>
                  </a:moveTo>
                  <a:cubicBezTo>
                    <a:pt x="43" y="3"/>
                    <a:pt x="39" y="0"/>
                    <a:pt x="35" y="0"/>
                  </a:cubicBezTo>
                  <a:cubicBezTo>
                    <a:pt x="9" y="0"/>
                    <a:pt x="9" y="0"/>
                    <a:pt x="9" y="0"/>
                  </a:cubicBezTo>
                  <a:cubicBezTo>
                    <a:pt x="4" y="0"/>
                    <a:pt x="0" y="3"/>
                    <a:pt x="0" y="8"/>
                  </a:cubicBezTo>
                  <a:cubicBezTo>
                    <a:pt x="0" y="13"/>
                    <a:pt x="4" y="17"/>
                    <a:pt x="9" y="17"/>
                  </a:cubicBezTo>
                  <a:cubicBezTo>
                    <a:pt x="35" y="17"/>
                    <a:pt x="35" y="17"/>
                    <a:pt x="35" y="17"/>
                  </a:cubicBezTo>
                  <a:cubicBezTo>
                    <a:pt x="39" y="17"/>
                    <a:pt x="43" y="13"/>
                    <a:pt x="43" y="8"/>
                  </a:cubicBezTo>
                  <a:close/>
                  <a:moveTo>
                    <a:pt x="43" y="8"/>
                  </a:moveTo>
                  <a:cubicBezTo>
                    <a:pt x="43" y="8"/>
                    <a:pt x="43" y="8"/>
                    <a:pt x="43"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Freeform 21">
              <a:extLst>
                <a:ext uri="{FF2B5EF4-FFF2-40B4-BE49-F238E27FC236}">
                  <a16:creationId xmlns:a16="http://schemas.microsoft.com/office/drawing/2014/main" id="{2581E074-054D-437D-B552-3713710B469C}"/>
                </a:ext>
              </a:extLst>
            </p:cNvPr>
            <p:cNvSpPr>
              <a:spLocks noEditPoints="1"/>
            </p:cNvSpPr>
            <p:nvPr/>
          </p:nvSpPr>
          <p:spPr bwMode="auto">
            <a:xfrm>
              <a:off x="4273550" y="2538413"/>
              <a:ext cx="85725" cy="63500"/>
            </a:xfrm>
            <a:custGeom>
              <a:avLst/>
              <a:gdLst>
                <a:gd name="T0" fmla="*/ 28 w 42"/>
                <a:gd name="T1" fmla="*/ 2 h 31"/>
                <a:gd name="T2" fmla="*/ 5 w 42"/>
                <a:gd name="T3" fmla="*/ 15 h 31"/>
                <a:gd name="T4" fmla="*/ 2 w 42"/>
                <a:gd name="T5" fmla="*/ 27 h 31"/>
                <a:gd name="T6" fmla="*/ 10 w 42"/>
                <a:gd name="T7" fmla="*/ 31 h 31"/>
                <a:gd name="T8" fmla="*/ 14 w 42"/>
                <a:gd name="T9" fmla="*/ 30 h 31"/>
                <a:gd name="T10" fmla="*/ 37 w 42"/>
                <a:gd name="T11" fmla="*/ 17 h 31"/>
                <a:gd name="T12" fmla="*/ 40 w 42"/>
                <a:gd name="T13" fmla="*/ 5 h 31"/>
                <a:gd name="T14" fmla="*/ 28 w 42"/>
                <a:gd name="T15" fmla="*/ 2 h 31"/>
                <a:gd name="T16" fmla="*/ 28 w 42"/>
                <a:gd name="T17" fmla="*/ 2 h 31"/>
                <a:gd name="T18" fmla="*/ 28 w 42"/>
                <a:gd name="T19"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28" y="2"/>
                  </a:moveTo>
                  <a:cubicBezTo>
                    <a:pt x="5" y="15"/>
                    <a:pt x="5" y="15"/>
                    <a:pt x="5" y="15"/>
                  </a:cubicBezTo>
                  <a:cubicBezTo>
                    <a:pt x="1" y="18"/>
                    <a:pt x="0" y="23"/>
                    <a:pt x="2" y="27"/>
                  </a:cubicBezTo>
                  <a:cubicBezTo>
                    <a:pt x="4" y="30"/>
                    <a:pt x="7" y="31"/>
                    <a:pt x="10" y="31"/>
                  </a:cubicBezTo>
                  <a:cubicBezTo>
                    <a:pt x="11" y="31"/>
                    <a:pt x="13" y="31"/>
                    <a:pt x="14" y="30"/>
                  </a:cubicBezTo>
                  <a:cubicBezTo>
                    <a:pt x="37" y="17"/>
                    <a:pt x="37" y="17"/>
                    <a:pt x="37" y="17"/>
                  </a:cubicBezTo>
                  <a:cubicBezTo>
                    <a:pt x="41" y="15"/>
                    <a:pt x="42" y="9"/>
                    <a:pt x="40" y="5"/>
                  </a:cubicBezTo>
                  <a:cubicBezTo>
                    <a:pt x="37" y="1"/>
                    <a:pt x="32" y="0"/>
                    <a:pt x="28" y="2"/>
                  </a:cubicBezTo>
                  <a:close/>
                  <a:moveTo>
                    <a:pt x="28" y="2"/>
                  </a:moveTo>
                  <a:cubicBezTo>
                    <a:pt x="28" y="2"/>
                    <a:pt x="28" y="2"/>
                    <a:pt x="28"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Freeform 22">
              <a:extLst>
                <a:ext uri="{FF2B5EF4-FFF2-40B4-BE49-F238E27FC236}">
                  <a16:creationId xmlns:a16="http://schemas.microsoft.com/office/drawing/2014/main" id="{760DD742-F564-464A-8772-9E6085441D96}"/>
                </a:ext>
              </a:extLst>
            </p:cNvPr>
            <p:cNvSpPr>
              <a:spLocks noEditPoints="1"/>
            </p:cNvSpPr>
            <p:nvPr/>
          </p:nvSpPr>
          <p:spPr bwMode="auto">
            <a:xfrm>
              <a:off x="4921250" y="2538413"/>
              <a:ext cx="87313" cy="63500"/>
            </a:xfrm>
            <a:custGeom>
              <a:avLst/>
              <a:gdLst>
                <a:gd name="T0" fmla="*/ 36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6 w 42"/>
                <a:gd name="T15" fmla="*/ 15 h 31"/>
                <a:gd name="T16" fmla="*/ 36 w 42"/>
                <a:gd name="T17" fmla="*/ 15 h 31"/>
                <a:gd name="T18" fmla="*/ 36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6" y="15"/>
                  </a:moveTo>
                  <a:cubicBezTo>
                    <a:pt x="14" y="2"/>
                    <a:pt x="14" y="2"/>
                    <a:pt x="14" y="2"/>
                  </a:cubicBezTo>
                  <a:cubicBezTo>
                    <a:pt x="10" y="0"/>
                    <a:pt x="5" y="1"/>
                    <a:pt x="2" y="5"/>
                  </a:cubicBezTo>
                  <a:cubicBezTo>
                    <a:pt x="0" y="9"/>
                    <a:pt x="1" y="15"/>
                    <a:pt x="5" y="17"/>
                  </a:cubicBezTo>
                  <a:cubicBezTo>
                    <a:pt x="28" y="30"/>
                    <a:pt x="28" y="30"/>
                    <a:pt x="28" y="30"/>
                  </a:cubicBezTo>
                  <a:cubicBezTo>
                    <a:pt x="29" y="31"/>
                    <a:pt x="31" y="31"/>
                    <a:pt x="32" y="31"/>
                  </a:cubicBezTo>
                  <a:cubicBezTo>
                    <a:pt x="35" y="31"/>
                    <a:pt x="38" y="30"/>
                    <a:pt x="40" y="27"/>
                  </a:cubicBezTo>
                  <a:cubicBezTo>
                    <a:pt x="42" y="23"/>
                    <a:pt x="41" y="18"/>
                    <a:pt x="36" y="15"/>
                  </a:cubicBezTo>
                  <a:close/>
                  <a:moveTo>
                    <a:pt x="36" y="15"/>
                  </a:moveTo>
                  <a:cubicBezTo>
                    <a:pt x="36" y="15"/>
                    <a:pt x="36" y="15"/>
                    <a:pt x="36"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0" name="Freeform 23">
              <a:extLst>
                <a:ext uri="{FF2B5EF4-FFF2-40B4-BE49-F238E27FC236}">
                  <a16:creationId xmlns:a16="http://schemas.microsoft.com/office/drawing/2014/main" id="{E614D2E6-7438-4E33-B1C0-D45EB90CCCE8}"/>
                </a:ext>
              </a:extLst>
            </p:cNvPr>
            <p:cNvSpPr>
              <a:spLocks noEditPoints="1"/>
            </p:cNvSpPr>
            <p:nvPr/>
          </p:nvSpPr>
          <p:spPr bwMode="auto">
            <a:xfrm>
              <a:off x="4970463" y="2366963"/>
              <a:ext cx="88900" cy="34925"/>
            </a:xfrm>
            <a:custGeom>
              <a:avLst/>
              <a:gdLst>
                <a:gd name="T0" fmla="*/ 34 w 43"/>
                <a:gd name="T1" fmla="*/ 0 h 17"/>
                <a:gd name="T2" fmla="*/ 8 w 43"/>
                <a:gd name="T3" fmla="*/ 0 h 17"/>
                <a:gd name="T4" fmla="*/ 0 w 43"/>
                <a:gd name="T5" fmla="*/ 8 h 17"/>
                <a:gd name="T6" fmla="*/ 8 w 43"/>
                <a:gd name="T7" fmla="*/ 17 h 17"/>
                <a:gd name="T8" fmla="*/ 34 w 43"/>
                <a:gd name="T9" fmla="*/ 17 h 17"/>
                <a:gd name="T10" fmla="*/ 43 w 43"/>
                <a:gd name="T11" fmla="*/ 8 h 17"/>
                <a:gd name="T12" fmla="*/ 34 w 43"/>
                <a:gd name="T13" fmla="*/ 0 h 17"/>
                <a:gd name="T14" fmla="*/ 34 w 43"/>
                <a:gd name="T15" fmla="*/ 0 h 17"/>
                <a:gd name="T16" fmla="*/ 34 w 43"/>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34" y="0"/>
                  </a:moveTo>
                  <a:cubicBezTo>
                    <a:pt x="8" y="0"/>
                    <a:pt x="8" y="0"/>
                    <a:pt x="8" y="0"/>
                  </a:cubicBezTo>
                  <a:cubicBezTo>
                    <a:pt x="4" y="0"/>
                    <a:pt x="0" y="3"/>
                    <a:pt x="0" y="8"/>
                  </a:cubicBezTo>
                  <a:cubicBezTo>
                    <a:pt x="0" y="13"/>
                    <a:pt x="4" y="17"/>
                    <a:pt x="8" y="17"/>
                  </a:cubicBezTo>
                  <a:cubicBezTo>
                    <a:pt x="34" y="17"/>
                    <a:pt x="34" y="17"/>
                    <a:pt x="34" y="17"/>
                  </a:cubicBezTo>
                  <a:cubicBezTo>
                    <a:pt x="39" y="17"/>
                    <a:pt x="43" y="13"/>
                    <a:pt x="43" y="8"/>
                  </a:cubicBezTo>
                  <a:cubicBezTo>
                    <a:pt x="43" y="3"/>
                    <a:pt x="39" y="0"/>
                    <a:pt x="34" y="0"/>
                  </a:cubicBezTo>
                  <a:close/>
                  <a:moveTo>
                    <a:pt x="34" y="0"/>
                  </a:moveTo>
                  <a:cubicBezTo>
                    <a:pt x="34" y="0"/>
                    <a:pt x="34" y="0"/>
                    <a:pt x="3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1" name="Freeform 24">
              <a:extLst>
                <a:ext uri="{FF2B5EF4-FFF2-40B4-BE49-F238E27FC236}">
                  <a16:creationId xmlns:a16="http://schemas.microsoft.com/office/drawing/2014/main" id="{1F04C96C-7C3B-4012-9348-94C63105A181}"/>
                </a:ext>
              </a:extLst>
            </p:cNvPr>
            <p:cNvSpPr>
              <a:spLocks noEditPoints="1"/>
            </p:cNvSpPr>
            <p:nvPr/>
          </p:nvSpPr>
          <p:spPr bwMode="auto">
            <a:xfrm>
              <a:off x="4921250" y="2162175"/>
              <a:ext cx="87313" cy="65088"/>
            </a:xfrm>
            <a:custGeom>
              <a:avLst/>
              <a:gdLst>
                <a:gd name="T0" fmla="*/ 10 w 42"/>
                <a:gd name="T1" fmla="*/ 31 h 31"/>
                <a:gd name="T2" fmla="*/ 14 w 42"/>
                <a:gd name="T3" fmla="*/ 30 h 31"/>
                <a:gd name="T4" fmla="*/ 36 w 42"/>
                <a:gd name="T5" fmla="*/ 17 h 31"/>
                <a:gd name="T6" fmla="*/ 40 w 42"/>
                <a:gd name="T7" fmla="*/ 5 h 31"/>
                <a:gd name="T8" fmla="*/ 28 w 42"/>
                <a:gd name="T9" fmla="*/ 2 h 31"/>
                <a:gd name="T10" fmla="*/ 5 w 42"/>
                <a:gd name="T11" fmla="*/ 15 h 31"/>
                <a:gd name="T12" fmla="*/ 2 w 42"/>
                <a:gd name="T13" fmla="*/ 27 h 31"/>
                <a:gd name="T14" fmla="*/ 10 w 42"/>
                <a:gd name="T15" fmla="*/ 31 h 31"/>
                <a:gd name="T16" fmla="*/ 10 w 42"/>
                <a:gd name="T17" fmla="*/ 31 h 31"/>
                <a:gd name="T18" fmla="*/ 10 w 42"/>
                <a:gd name="T19"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10" y="31"/>
                  </a:moveTo>
                  <a:cubicBezTo>
                    <a:pt x="11" y="31"/>
                    <a:pt x="13" y="31"/>
                    <a:pt x="14" y="30"/>
                  </a:cubicBezTo>
                  <a:cubicBezTo>
                    <a:pt x="36" y="17"/>
                    <a:pt x="36" y="17"/>
                    <a:pt x="36" y="17"/>
                  </a:cubicBezTo>
                  <a:cubicBezTo>
                    <a:pt x="41" y="15"/>
                    <a:pt x="42" y="10"/>
                    <a:pt x="40" y="5"/>
                  </a:cubicBezTo>
                  <a:cubicBezTo>
                    <a:pt x="37" y="1"/>
                    <a:pt x="32" y="0"/>
                    <a:pt x="28" y="2"/>
                  </a:cubicBezTo>
                  <a:cubicBezTo>
                    <a:pt x="5" y="15"/>
                    <a:pt x="5" y="15"/>
                    <a:pt x="5" y="15"/>
                  </a:cubicBezTo>
                  <a:cubicBezTo>
                    <a:pt x="1" y="18"/>
                    <a:pt x="0" y="23"/>
                    <a:pt x="2" y="27"/>
                  </a:cubicBezTo>
                  <a:cubicBezTo>
                    <a:pt x="4" y="30"/>
                    <a:pt x="7" y="31"/>
                    <a:pt x="10" y="31"/>
                  </a:cubicBezTo>
                  <a:close/>
                  <a:moveTo>
                    <a:pt x="10" y="31"/>
                  </a:moveTo>
                  <a:cubicBezTo>
                    <a:pt x="10" y="31"/>
                    <a:pt x="10" y="31"/>
                    <a:pt x="10"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Freeform 25">
              <a:extLst>
                <a:ext uri="{FF2B5EF4-FFF2-40B4-BE49-F238E27FC236}">
                  <a16:creationId xmlns:a16="http://schemas.microsoft.com/office/drawing/2014/main" id="{774D3EAA-D079-4C2C-821A-C35896AFFE82}"/>
                </a:ext>
              </a:extLst>
            </p:cNvPr>
            <p:cNvSpPr>
              <a:spLocks noEditPoints="1"/>
            </p:cNvSpPr>
            <p:nvPr/>
          </p:nvSpPr>
          <p:spPr bwMode="auto">
            <a:xfrm>
              <a:off x="4794250" y="2016125"/>
              <a:ext cx="68263" cy="84138"/>
            </a:xfrm>
            <a:custGeom>
              <a:avLst/>
              <a:gdLst>
                <a:gd name="T0" fmla="*/ 6 w 33"/>
                <a:gd name="T1" fmla="*/ 39 h 41"/>
                <a:gd name="T2" fmla="*/ 10 w 33"/>
                <a:gd name="T3" fmla="*/ 41 h 41"/>
                <a:gd name="T4" fmla="*/ 17 w 33"/>
                <a:gd name="T5" fmla="*/ 36 h 41"/>
                <a:gd name="T6" fmla="*/ 30 w 33"/>
                <a:gd name="T7" fmla="*/ 14 h 41"/>
                <a:gd name="T8" fmla="*/ 27 w 33"/>
                <a:gd name="T9" fmla="*/ 2 h 41"/>
                <a:gd name="T10" fmla="*/ 15 w 33"/>
                <a:gd name="T11" fmla="*/ 5 h 41"/>
                <a:gd name="T12" fmla="*/ 2 w 33"/>
                <a:gd name="T13" fmla="*/ 28 h 41"/>
                <a:gd name="T14" fmla="*/ 6 w 33"/>
                <a:gd name="T15" fmla="*/ 39 h 41"/>
                <a:gd name="T16" fmla="*/ 6 w 33"/>
                <a:gd name="T17" fmla="*/ 39 h 41"/>
                <a:gd name="T18" fmla="*/ 6 w 33"/>
                <a:gd name="T1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6" y="39"/>
                  </a:moveTo>
                  <a:cubicBezTo>
                    <a:pt x="7" y="40"/>
                    <a:pt x="8" y="41"/>
                    <a:pt x="10" y="41"/>
                  </a:cubicBezTo>
                  <a:cubicBezTo>
                    <a:pt x="13" y="41"/>
                    <a:pt x="16" y="39"/>
                    <a:pt x="17" y="36"/>
                  </a:cubicBezTo>
                  <a:cubicBezTo>
                    <a:pt x="30" y="14"/>
                    <a:pt x="30" y="14"/>
                    <a:pt x="30" y="14"/>
                  </a:cubicBezTo>
                  <a:cubicBezTo>
                    <a:pt x="33" y="10"/>
                    <a:pt x="31" y="4"/>
                    <a:pt x="27" y="2"/>
                  </a:cubicBezTo>
                  <a:cubicBezTo>
                    <a:pt x="23" y="0"/>
                    <a:pt x="18" y="1"/>
                    <a:pt x="15" y="5"/>
                  </a:cubicBezTo>
                  <a:cubicBezTo>
                    <a:pt x="2" y="28"/>
                    <a:pt x="2" y="28"/>
                    <a:pt x="2" y="28"/>
                  </a:cubicBezTo>
                  <a:cubicBezTo>
                    <a:pt x="0" y="32"/>
                    <a:pt x="1" y="37"/>
                    <a:pt x="6" y="39"/>
                  </a:cubicBezTo>
                  <a:close/>
                  <a:moveTo>
                    <a:pt x="6" y="39"/>
                  </a:moveTo>
                  <a:cubicBezTo>
                    <a:pt x="6" y="39"/>
                    <a:pt x="6" y="39"/>
                    <a:pt x="6" y="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Freeform 26">
              <a:extLst>
                <a:ext uri="{FF2B5EF4-FFF2-40B4-BE49-F238E27FC236}">
                  <a16:creationId xmlns:a16="http://schemas.microsoft.com/office/drawing/2014/main" id="{4E487D58-51B9-4919-BD47-50E2235E1B2D}"/>
                </a:ext>
              </a:extLst>
            </p:cNvPr>
            <p:cNvSpPr>
              <a:spLocks noEditPoints="1"/>
            </p:cNvSpPr>
            <p:nvPr/>
          </p:nvSpPr>
          <p:spPr bwMode="auto">
            <a:xfrm>
              <a:off x="4598988" y="2233613"/>
              <a:ext cx="137117" cy="496578"/>
            </a:xfrm>
            <a:custGeom>
              <a:avLst/>
              <a:gdLst>
                <a:gd name="T0" fmla="*/ 9 w 41"/>
                <a:gd name="T1" fmla="*/ 125 h 135"/>
                <a:gd name="T2" fmla="*/ 20 w 41"/>
                <a:gd name="T3" fmla="*/ 135 h 135"/>
                <a:gd name="T4" fmla="*/ 32 w 41"/>
                <a:gd name="T5" fmla="*/ 125 h 135"/>
                <a:gd name="T6" fmla="*/ 40 w 41"/>
                <a:gd name="T7" fmla="*/ 64 h 135"/>
                <a:gd name="T8" fmla="*/ 41 w 41"/>
                <a:gd name="T9" fmla="*/ 51 h 135"/>
                <a:gd name="T10" fmla="*/ 41 w 41"/>
                <a:gd name="T11" fmla="*/ 21 h 135"/>
                <a:gd name="T12" fmla="*/ 20 w 41"/>
                <a:gd name="T13" fmla="*/ 0 h 135"/>
                <a:gd name="T14" fmla="*/ 0 w 41"/>
                <a:gd name="T15" fmla="*/ 21 h 135"/>
                <a:gd name="T16" fmla="*/ 0 w 41"/>
                <a:gd name="T17" fmla="*/ 51 h 135"/>
                <a:gd name="T18" fmla="*/ 1 w 41"/>
                <a:gd name="T19" fmla="*/ 64 h 135"/>
                <a:gd name="T20" fmla="*/ 9 w 41"/>
                <a:gd name="T21" fmla="*/ 125 h 135"/>
                <a:gd name="T22" fmla="*/ 9 w 41"/>
                <a:gd name="T23" fmla="*/ 125 h 135"/>
                <a:gd name="T24" fmla="*/ 9 w 41"/>
                <a:gd name="T25" fmla="*/ 12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135">
                  <a:moveTo>
                    <a:pt x="9" y="125"/>
                  </a:moveTo>
                  <a:cubicBezTo>
                    <a:pt x="10" y="133"/>
                    <a:pt x="14" y="135"/>
                    <a:pt x="20" y="135"/>
                  </a:cubicBezTo>
                  <a:cubicBezTo>
                    <a:pt x="27" y="135"/>
                    <a:pt x="31" y="133"/>
                    <a:pt x="32" y="125"/>
                  </a:cubicBezTo>
                  <a:cubicBezTo>
                    <a:pt x="40" y="64"/>
                    <a:pt x="40" y="64"/>
                    <a:pt x="40" y="64"/>
                  </a:cubicBezTo>
                  <a:cubicBezTo>
                    <a:pt x="41" y="60"/>
                    <a:pt x="41" y="55"/>
                    <a:pt x="41" y="51"/>
                  </a:cubicBezTo>
                  <a:cubicBezTo>
                    <a:pt x="41" y="21"/>
                    <a:pt x="41" y="21"/>
                    <a:pt x="41" y="21"/>
                  </a:cubicBezTo>
                  <a:cubicBezTo>
                    <a:pt x="41" y="7"/>
                    <a:pt x="34" y="0"/>
                    <a:pt x="20" y="0"/>
                  </a:cubicBezTo>
                  <a:cubicBezTo>
                    <a:pt x="7" y="0"/>
                    <a:pt x="0" y="7"/>
                    <a:pt x="0" y="21"/>
                  </a:cubicBezTo>
                  <a:cubicBezTo>
                    <a:pt x="0" y="51"/>
                    <a:pt x="0" y="51"/>
                    <a:pt x="0" y="51"/>
                  </a:cubicBezTo>
                  <a:cubicBezTo>
                    <a:pt x="0" y="55"/>
                    <a:pt x="0" y="60"/>
                    <a:pt x="1" y="64"/>
                  </a:cubicBezTo>
                  <a:lnTo>
                    <a:pt x="9" y="125"/>
                  </a:lnTo>
                  <a:close/>
                  <a:moveTo>
                    <a:pt x="9" y="125"/>
                  </a:moveTo>
                  <a:cubicBezTo>
                    <a:pt x="9" y="125"/>
                    <a:pt x="9" y="125"/>
                    <a:pt x="9" y="1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Freeform 27">
              <a:extLst>
                <a:ext uri="{FF2B5EF4-FFF2-40B4-BE49-F238E27FC236}">
                  <a16:creationId xmlns:a16="http://schemas.microsoft.com/office/drawing/2014/main" id="{AC1D503A-3185-41CA-B7A0-973915BC7C9B}"/>
                </a:ext>
              </a:extLst>
            </p:cNvPr>
            <p:cNvSpPr>
              <a:spLocks noEditPoints="1"/>
            </p:cNvSpPr>
            <p:nvPr/>
          </p:nvSpPr>
          <p:spPr bwMode="auto">
            <a:xfrm>
              <a:off x="4595813" y="2546350"/>
              <a:ext cx="88900" cy="90488"/>
            </a:xfrm>
            <a:custGeom>
              <a:avLst/>
              <a:gdLst>
                <a:gd name="T0" fmla="*/ 21 w 43"/>
                <a:gd name="T1" fmla="*/ 0 h 44"/>
                <a:gd name="T2" fmla="*/ 0 w 43"/>
                <a:gd name="T3" fmla="*/ 22 h 44"/>
                <a:gd name="T4" fmla="*/ 21 w 43"/>
                <a:gd name="T5" fmla="*/ 44 h 44"/>
                <a:gd name="T6" fmla="*/ 43 w 43"/>
                <a:gd name="T7" fmla="*/ 22 h 44"/>
                <a:gd name="T8" fmla="*/ 21 w 43"/>
                <a:gd name="T9" fmla="*/ 0 h 44"/>
                <a:gd name="T10" fmla="*/ 21 w 43"/>
                <a:gd name="T11" fmla="*/ 0 h 44"/>
                <a:gd name="T12" fmla="*/ 21 w 43"/>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3" h="44">
                  <a:moveTo>
                    <a:pt x="21" y="0"/>
                  </a:moveTo>
                  <a:cubicBezTo>
                    <a:pt x="10" y="0"/>
                    <a:pt x="0" y="10"/>
                    <a:pt x="0" y="22"/>
                  </a:cubicBezTo>
                  <a:cubicBezTo>
                    <a:pt x="0" y="34"/>
                    <a:pt x="10" y="44"/>
                    <a:pt x="21" y="44"/>
                  </a:cubicBezTo>
                  <a:cubicBezTo>
                    <a:pt x="33" y="44"/>
                    <a:pt x="43" y="34"/>
                    <a:pt x="43" y="22"/>
                  </a:cubicBezTo>
                  <a:cubicBezTo>
                    <a:pt x="43" y="10"/>
                    <a:pt x="33" y="0"/>
                    <a:pt x="21" y="0"/>
                  </a:cubicBezTo>
                  <a:close/>
                  <a:moveTo>
                    <a:pt x="21" y="0"/>
                  </a:moveTo>
                  <a:cubicBezTo>
                    <a:pt x="21" y="0"/>
                    <a:pt x="21" y="0"/>
                    <a:pt x="2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14952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E1A299-1318-4092-A55B-40605EAB156B}"/>
              </a:ext>
            </a:extLst>
          </p:cNvPr>
          <p:cNvPicPr>
            <a:picLocks noChangeAspect="1"/>
          </p:cNvPicPr>
          <p:nvPr/>
        </p:nvPicPr>
        <p:blipFill rotWithShape="1">
          <a:blip r:embed="rId2">
            <a:extLst>
              <a:ext uri="{28A0092B-C50C-407E-A947-70E740481C1C}">
                <a14:useLocalDpi xmlns:a14="http://schemas.microsoft.com/office/drawing/2010/main" val="0"/>
              </a:ext>
            </a:extLst>
          </a:blip>
          <a:srcRect b="11011"/>
          <a:stretch/>
        </p:blipFill>
        <p:spPr>
          <a:xfrm>
            <a:off x="1011062" y="866955"/>
            <a:ext cx="4196104" cy="3734073"/>
          </a:xfrm>
          <a:prstGeom prst="rect">
            <a:avLst/>
          </a:prstGeom>
        </p:spPr>
      </p:pic>
      <p:pic>
        <p:nvPicPr>
          <p:cNvPr id="7" name="Picture 6">
            <a:extLst>
              <a:ext uri="{FF2B5EF4-FFF2-40B4-BE49-F238E27FC236}">
                <a16:creationId xmlns:a16="http://schemas.microsoft.com/office/drawing/2014/main" id="{94B82978-BCB7-477A-8B2A-3AE319CD17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6179" y="866955"/>
            <a:ext cx="4022915" cy="4022915"/>
          </a:xfrm>
          <a:prstGeom prst="rect">
            <a:avLst/>
          </a:prstGeom>
        </p:spPr>
      </p:pic>
      <p:sp>
        <p:nvSpPr>
          <p:cNvPr id="12" name="Rectangle 11">
            <a:extLst>
              <a:ext uri="{FF2B5EF4-FFF2-40B4-BE49-F238E27FC236}">
                <a16:creationId xmlns:a16="http://schemas.microsoft.com/office/drawing/2014/main" id="{A7312BDF-0037-47CC-B4CC-E5690CA4B78C}"/>
              </a:ext>
            </a:extLst>
          </p:cNvPr>
          <p:cNvSpPr/>
          <p:nvPr/>
        </p:nvSpPr>
        <p:spPr>
          <a:xfrm>
            <a:off x="164784" y="5380672"/>
            <a:ext cx="10549223" cy="923330"/>
          </a:xfrm>
          <a:prstGeom prst="rect">
            <a:avLst/>
          </a:prstGeom>
        </p:spPr>
        <p:txBody>
          <a:bodyPr wrap="square">
            <a:spAutoFit/>
          </a:bodyPr>
          <a:lstStyle/>
          <a:p>
            <a:pPr marL="285750" indent="-285750">
              <a:buFont typeface="Arial" panose="020B0604020202020204" pitchFamily="34" charset="0"/>
              <a:buChar char="•"/>
            </a:pPr>
            <a:r>
              <a:rPr lang="en-US" dirty="0"/>
              <a:t>A significant portion </a:t>
            </a:r>
            <a:r>
              <a:rPr lang="en-US" b="1" dirty="0"/>
              <a:t>(44%) </a:t>
            </a:r>
            <a:r>
              <a:rPr lang="en-US" dirty="0"/>
              <a:t>of the customers have Fiber Optic internet service, making them the largest group in the dataset.</a:t>
            </a:r>
          </a:p>
          <a:p>
            <a:pPr marL="285750" indent="-285750">
              <a:buFont typeface="Arial" panose="020B0604020202020204" pitchFamily="34" charset="0"/>
              <a:buChar char="•"/>
            </a:pPr>
            <a:r>
              <a:rPr lang="en-US" dirty="0"/>
              <a:t>Fiber optic users have the highest churn rate </a:t>
            </a:r>
            <a:r>
              <a:rPr lang="en-US" b="1" dirty="0"/>
              <a:t>(42%), </a:t>
            </a:r>
            <a:r>
              <a:rPr lang="en-US" dirty="0"/>
              <a:t>significantly higher than DSL users (</a:t>
            </a:r>
            <a:r>
              <a:rPr lang="en-US" b="1" dirty="0"/>
              <a:t>19%).</a:t>
            </a:r>
          </a:p>
        </p:txBody>
      </p:sp>
      <p:cxnSp>
        <p:nvCxnSpPr>
          <p:cNvPr id="14" name="Straight Connector 13">
            <a:extLst>
              <a:ext uri="{FF2B5EF4-FFF2-40B4-BE49-F238E27FC236}">
                <a16:creationId xmlns:a16="http://schemas.microsoft.com/office/drawing/2014/main" id="{81E9883C-7C04-4D1D-8E20-1C608D6E00E9}"/>
              </a:ext>
            </a:extLst>
          </p:cNvPr>
          <p:cNvCxnSpPr>
            <a:cxnSpLocks/>
          </p:cNvCxnSpPr>
          <p:nvPr/>
        </p:nvCxnSpPr>
        <p:spPr>
          <a:xfrm>
            <a:off x="6096000" y="866955"/>
            <a:ext cx="0" cy="3840480"/>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4210F286-00D8-4FC3-AA3F-1CB3FE761CA7}"/>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Internet Service Analysis</a:t>
            </a:r>
          </a:p>
        </p:txBody>
      </p:sp>
      <p:sp>
        <p:nvSpPr>
          <p:cNvPr id="9" name="TextBox 8">
            <a:extLst>
              <a:ext uri="{FF2B5EF4-FFF2-40B4-BE49-F238E27FC236}">
                <a16:creationId xmlns:a16="http://schemas.microsoft.com/office/drawing/2014/main" id="{5D4C6CFA-87EF-445A-9E94-A4ECF8E434E6}"/>
              </a:ext>
            </a:extLst>
          </p:cNvPr>
          <p:cNvSpPr txBox="1"/>
          <p:nvPr/>
        </p:nvSpPr>
        <p:spPr>
          <a:xfrm>
            <a:off x="458082" y="4965352"/>
            <a:ext cx="1404808" cy="369332"/>
          </a:xfrm>
          <a:prstGeom prst="rect">
            <a:avLst/>
          </a:prstGeom>
          <a:noFill/>
        </p:spPr>
        <p:txBody>
          <a:bodyPr wrap="none" rtlCol="0">
            <a:spAutoFit/>
          </a:bodyPr>
          <a:lstStyle/>
          <a:p>
            <a:r>
              <a:rPr lang="en-US" b="1" u="sng" dirty="0"/>
              <a:t>Key Insights: </a:t>
            </a:r>
          </a:p>
        </p:txBody>
      </p:sp>
      <p:grpSp>
        <p:nvGrpSpPr>
          <p:cNvPr id="10" name="Group 9">
            <a:extLst>
              <a:ext uri="{FF2B5EF4-FFF2-40B4-BE49-F238E27FC236}">
                <a16:creationId xmlns:a16="http://schemas.microsoft.com/office/drawing/2014/main" id="{DAF31C34-2261-4566-98F9-3374DEE55420}"/>
              </a:ext>
            </a:extLst>
          </p:cNvPr>
          <p:cNvGrpSpPr/>
          <p:nvPr/>
        </p:nvGrpSpPr>
        <p:grpSpPr>
          <a:xfrm>
            <a:off x="113025" y="4917165"/>
            <a:ext cx="365760" cy="365760"/>
            <a:chOff x="4221163" y="1965325"/>
            <a:chExt cx="838200" cy="927101"/>
          </a:xfrm>
          <a:solidFill>
            <a:schemeClr val="accent1"/>
          </a:solidFill>
          <a:effectLst>
            <a:glow rad="127000">
              <a:schemeClr val="bg1">
                <a:alpha val="99000"/>
              </a:schemeClr>
            </a:glow>
          </a:effectLst>
        </p:grpSpPr>
        <p:sp>
          <p:nvSpPr>
            <p:cNvPr id="11" name="Freeform 16">
              <a:extLst>
                <a:ext uri="{FF2B5EF4-FFF2-40B4-BE49-F238E27FC236}">
                  <a16:creationId xmlns:a16="http://schemas.microsoft.com/office/drawing/2014/main" id="{16152A17-F52F-4922-8FEC-223F0B97CC4F}"/>
                </a:ext>
              </a:extLst>
            </p:cNvPr>
            <p:cNvSpPr>
              <a:spLocks noEditPoints="1"/>
            </p:cNvSpPr>
            <p:nvPr/>
          </p:nvSpPr>
          <p:spPr bwMode="auto">
            <a:xfrm>
              <a:off x="4359275" y="2106613"/>
              <a:ext cx="561975" cy="785813"/>
            </a:xfrm>
            <a:custGeom>
              <a:avLst/>
              <a:gdLst>
                <a:gd name="T0" fmla="*/ 136 w 273"/>
                <a:gd name="T1" fmla="*/ 0 h 381"/>
                <a:gd name="T2" fmla="*/ 0 w 273"/>
                <a:gd name="T3" fmla="*/ 132 h 381"/>
                <a:gd name="T4" fmla="*/ 33 w 273"/>
                <a:gd name="T5" fmla="*/ 229 h 381"/>
                <a:gd name="T6" fmla="*/ 47 w 273"/>
                <a:gd name="T7" fmla="*/ 257 h 381"/>
                <a:gd name="T8" fmla="*/ 72 w 273"/>
                <a:gd name="T9" fmla="*/ 302 h 381"/>
                <a:gd name="T10" fmla="*/ 74 w 273"/>
                <a:gd name="T11" fmla="*/ 337 h 381"/>
                <a:gd name="T12" fmla="*/ 74 w 273"/>
                <a:gd name="T13" fmla="*/ 337 h 381"/>
                <a:gd name="T14" fmla="*/ 102 w 273"/>
                <a:gd name="T15" fmla="*/ 367 h 381"/>
                <a:gd name="T16" fmla="*/ 114 w 273"/>
                <a:gd name="T17" fmla="*/ 378 h 381"/>
                <a:gd name="T18" fmla="*/ 123 w 273"/>
                <a:gd name="T19" fmla="*/ 381 h 381"/>
                <a:gd name="T20" fmla="*/ 150 w 273"/>
                <a:gd name="T21" fmla="*/ 381 h 381"/>
                <a:gd name="T22" fmla="*/ 159 w 273"/>
                <a:gd name="T23" fmla="*/ 378 h 381"/>
                <a:gd name="T24" fmla="*/ 171 w 273"/>
                <a:gd name="T25" fmla="*/ 367 h 381"/>
                <a:gd name="T26" fmla="*/ 199 w 273"/>
                <a:gd name="T27" fmla="*/ 337 h 381"/>
                <a:gd name="T28" fmla="*/ 201 w 273"/>
                <a:gd name="T29" fmla="*/ 302 h 381"/>
                <a:gd name="T30" fmla="*/ 226 w 273"/>
                <a:gd name="T31" fmla="*/ 257 h 381"/>
                <a:gd name="T32" fmla="*/ 240 w 273"/>
                <a:gd name="T33" fmla="*/ 228 h 381"/>
                <a:gd name="T34" fmla="*/ 273 w 273"/>
                <a:gd name="T35" fmla="*/ 132 h 381"/>
                <a:gd name="T36" fmla="*/ 136 w 273"/>
                <a:gd name="T37" fmla="*/ 0 h 381"/>
                <a:gd name="T38" fmla="*/ 211 w 273"/>
                <a:gd name="T39" fmla="*/ 209 h 381"/>
                <a:gd name="T40" fmla="*/ 192 w 273"/>
                <a:gd name="T41" fmla="*/ 257 h 381"/>
                <a:gd name="T42" fmla="*/ 179 w 273"/>
                <a:gd name="T43" fmla="*/ 275 h 381"/>
                <a:gd name="T44" fmla="*/ 94 w 273"/>
                <a:gd name="T45" fmla="*/ 275 h 381"/>
                <a:gd name="T46" fmla="*/ 81 w 273"/>
                <a:gd name="T47" fmla="*/ 257 h 381"/>
                <a:gd name="T48" fmla="*/ 61 w 273"/>
                <a:gd name="T49" fmla="*/ 209 h 381"/>
                <a:gd name="T50" fmla="*/ 34 w 273"/>
                <a:gd name="T51" fmla="*/ 132 h 381"/>
                <a:gd name="T52" fmla="*/ 136 w 273"/>
                <a:gd name="T53" fmla="*/ 35 h 381"/>
                <a:gd name="T54" fmla="*/ 239 w 273"/>
                <a:gd name="T55" fmla="*/ 132 h 381"/>
                <a:gd name="T56" fmla="*/ 211 w 273"/>
                <a:gd name="T57" fmla="*/ 209 h 381"/>
                <a:gd name="T58" fmla="*/ 211 w 273"/>
                <a:gd name="T59" fmla="*/ 209 h 381"/>
                <a:gd name="T60" fmla="*/ 211 w 273"/>
                <a:gd name="T61" fmla="*/ 20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3" h="381">
                  <a:moveTo>
                    <a:pt x="136" y="0"/>
                  </a:moveTo>
                  <a:cubicBezTo>
                    <a:pt x="61" y="0"/>
                    <a:pt x="0" y="59"/>
                    <a:pt x="0" y="132"/>
                  </a:cubicBezTo>
                  <a:cubicBezTo>
                    <a:pt x="0" y="180"/>
                    <a:pt x="19" y="208"/>
                    <a:pt x="33" y="229"/>
                  </a:cubicBezTo>
                  <a:cubicBezTo>
                    <a:pt x="42" y="241"/>
                    <a:pt x="47" y="249"/>
                    <a:pt x="47" y="257"/>
                  </a:cubicBezTo>
                  <a:cubicBezTo>
                    <a:pt x="47" y="274"/>
                    <a:pt x="56" y="290"/>
                    <a:pt x="72" y="302"/>
                  </a:cubicBezTo>
                  <a:cubicBezTo>
                    <a:pt x="73" y="312"/>
                    <a:pt x="74" y="337"/>
                    <a:pt x="74" y="337"/>
                  </a:cubicBezTo>
                  <a:cubicBezTo>
                    <a:pt x="74" y="337"/>
                    <a:pt x="74" y="337"/>
                    <a:pt x="74" y="337"/>
                  </a:cubicBezTo>
                  <a:cubicBezTo>
                    <a:pt x="74" y="344"/>
                    <a:pt x="78" y="359"/>
                    <a:pt x="102" y="367"/>
                  </a:cubicBezTo>
                  <a:cubicBezTo>
                    <a:pt x="105" y="371"/>
                    <a:pt x="109" y="375"/>
                    <a:pt x="114" y="378"/>
                  </a:cubicBezTo>
                  <a:cubicBezTo>
                    <a:pt x="116" y="380"/>
                    <a:pt x="120" y="381"/>
                    <a:pt x="123" y="381"/>
                  </a:cubicBezTo>
                  <a:cubicBezTo>
                    <a:pt x="150" y="381"/>
                    <a:pt x="150" y="381"/>
                    <a:pt x="150" y="381"/>
                  </a:cubicBezTo>
                  <a:cubicBezTo>
                    <a:pt x="153" y="381"/>
                    <a:pt x="157" y="380"/>
                    <a:pt x="159" y="378"/>
                  </a:cubicBezTo>
                  <a:cubicBezTo>
                    <a:pt x="164" y="375"/>
                    <a:pt x="168" y="371"/>
                    <a:pt x="171" y="367"/>
                  </a:cubicBezTo>
                  <a:cubicBezTo>
                    <a:pt x="195" y="359"/>
                    <a:pt x="199" y="344"/>
                    <a:pt x="199" y="337"/>
                  </a:cubicBezTo>
                  <a:cubicBezTo>
                    <a:pt x="199" y="337"/>
                    <a:pt x="200" y="312"/>
                    <a:pt x="201" y="302"/>
                  </a:cubicBezTo>
                  <a:cubicBezTo>
                    <a:pt x="217" y="290"/>
                    <a:pt x="226" y="274"/>
                    <a:pt x="226" y="257"/>
                  </a:cubicBezTo>
                  <a:cubicBezTo>
                    <a:pt x="226" y="249"/>
                    <a:pt x="231" y="241"/>
                    <a:pt x="240" y="228"/>
                  </a:cubicBezTo>
                  <a:cubicBezTo>
                    <a:pt x="254" y="208"/>
                    <a:pt x="273" y="180"/>
                    <a:pt x="273" y="132"/>
                  </a:cubicBezTo>
                  <a:cubicBezTo>
                    <a:pt x="273" y="59"/>
                    <a:pt x="212" y="0"/>
                    <a:pt x="136" y="0"/>
                  </a:cubicBezTo>
                  <a:close/>
                  <a:moveTo>
                    <a:pt x="211" y="209"/>
                  </a:moveTo>
                  <a:cubicBezTo>
                    <a:pt x="201" y="224"/>
                    <a:pt x="192" y="238"/>
                    <a:pt x="192" y="257"/>
                  </a:cubicBezTo>
                  <a:cubicBezTo>
                    <a:pt x="192" y="265"/>
                    <a:pt x="184" y="271"/>
                    <a:pt x="179" y="275"/>
                  </a:cubicBezTo>
                  <a:cubicBezTo>
                    <a:pt x="94" y="275"/>
                    <a:pt x="94" y="275"/>
                    <a:pt x="94" y="275"/>
                  </a:cubicBezTo>
                  <a:cubicBezTo>
                    <a:pt x="89" y="271"/>
                    <a:pt x="81" y="265"/>
                    <a:pt x="81" y="257"/>
                  </a:cubicBezTo>
                  <a:cubicBezTo>
                    <a:pt x="81" y="238"/>
                    <a:pt x="72" y="224"/>
                    <a:pt x="61" y="209"/>
                  </a:cubicBezTo>
                  <a:cubicBezTo>
                    <a:pt x="49" y="190"/>
                    <a:pt x="34" y="169"/>
                    <a:pt x="34" y="132"/>
                  </a:cubicBezTo>
                  <a:cubicBezTo>
                    <a:pt x="34" y="78"/>
                    <a:pt x="80" y="35"/>
                    <a:pt x="136" y="35"/>
                  </a:cubicBezTo>
                  <a:cubicBezTo>
                    <a:pt x="193" y="35"/>
                    <a:pt x="239" y="78"/>
                    <a:pt x="239" y="132"/>
                  </a:cubicBezTo>
                  <a:cubicBezTo>
                    <a:pt x="239" y="169"/>
                    <a:pt x="224" y="190"/>
                    <a:pt x="211" y="209"/>
                  </a:cubicBezTo>
                  <a:close/>
                  <a:moveTo>
                    <a:pt x="211" y="209"/>
                  </a:moveTo>
                  <a:cubicBezTo>
                    <a:pt x="211" y="209"/>
                    <a:pt x="211" y="209"/>
                    <a:pt x="211" y="20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Freeform 17">
              <a:extLst>
                <a:ext uri="{FF2B5EF4-FFF2-40B4-BE49-F238E27FC236}">
                  <a16:creationId xmlns:a16="http://schemas.microsoft.com/office/drawing/2014/main" id="{DF9D33EF-B6F1-4C46-87A7-C75C03A592AD}"/>
                </a:ext>
              </a:extLst>
            </p:cNvPr>
            <p:cNvSpPr>
              <a:spLocks noEditPoints="1"/>
            </p:cNvSpPr>
            <p:nvPr/>
          </p:nvSpPr>
          <p:spPr bwMode="auto">
            <a:xfrm>
              <a:off x="4622800" y="1965325"/>
              <a:ext cx="34925" cy="88900"/>
            </a:xfrm>
            <a:custGeom>
              <a:avLst/>
              <a:gdLst>
                <a:gd name="T0" fmla="*/ 8 w 17"/>
                <a:gd name="T1" fmla="*/ 43 h 43"/>
                <a:gd name="T2" fmla="*/ 17 w 17"/>
                <a:gd name="T3" fmla="*/ 34 h 43"/>
                <a:gd name="T4" fmla="*/ 17 w 17"/>
                <a:gd name="T5" fmla="*/ 8 h 43"/>
                <a:gd name="T6" fmla="*/ 8 w 17"/>
                <a:gd name="T7" fmla="*/ 0 h 43"/>
                <a:gd name="T8" fmla="*/ 0 w 17"/>
                <a:gd name="T9" fmla="*/ 8 h 43"/>
                <a:gd name="T10" fmla="*/ 0 w 17"/>
                <a:gd name="T11" fmla="*/ 34 h 43"/>
                <a:gd name="T12" fmla="*/ 8 w 17"/>
                <a:gd name="T13" fmla="*/ 43 h 43"/>
                <a:gd name="T14" fmla="*/ 8 w 17"/>
                <a:gd name="T15" fmla="*/ 43 h 43"/>
                <a:gd name="T16" fmla="*/ 8 w 17"/>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43">
                  <a:moveTo>
                    <a:pt x="8" y="43"/>
                  </a:moveTo>
                  <a:cubicBezTo>
                    <a:pt x="13" y="43"/>
                    <a:pt x="17" y="39"/>
                    <a:pt x="17" y="34"/>
                  </a:cubicBezTo>
                  <a:cubicBezTo>
                    <a:pt x="17" y="8"/>
                    <a:pt x="17" y="8"/>
                    <a:pt x="17" y="8"/>
                  </a:cubicBezTo>
                  <a:cubicBezTo>
                    <a:pt x="17" y="4"/>
                    <a:pt x="13" y="0"/>
                    <a:pt x="8" y="0"/>
                  </a:cubicBezTo>
                  <a:cubicBezTo>
                    <a:pt x="4" y="0"/>
                    <a:pt x="0" y="4"/>
                    <a:pt x="0" y="8"/>
                  </a:cubicBezTo>
                  <a:cubicBezTo>
                    <a:pt x="0" y="34"/>
                    <a:pt x="0" y="34"/>
                    <a:pt x="0" y="34"/>
                  </a:cubicBezTo>
                  <a:cubicBezTo>
                    <a:pt x="0" y="39"/>
                    <a:pt x="4" y="43"/>
                    <a:pt x="8" y="43"/>
                  </a:cubicBezTo>
                  <a:close/>
                  <a:moveTo>
                    <a:pt x="8" y="43"/>
                  </a:moveTo>
                  <a:cubicBezTo>
                    <a:pt x="8" y="43"/>
                    <a:pt x="8" y="43"/>
                    <a:pt x="8" y="4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 name="Freeform 18">
              <a:extLst>
                <a:ext uri="{FF2B5EF4-FFF2-40B4-BE49-F238E27FC236}">
                  <a16:creationId xmlns:a16="http://schemas.microsoft.com/office/drawing/2014/main" id="{6CAD1C45-F7C5-418E-8049-E67F75F0F02E}"/>
                </a:ext>
              </a:extLst>
            </p:cNvPr>
            <p:cNvSpPr>
              <a:spLocks noEditPoints="1"/>
            </p:cNvSpPr>
            <p:nvPr/>
          </p:nvSpPr>
          <p:spPr bwMode="auto">
            <a:xfrm>
              <a:off x="4419600" y="2016125"/>
              <a:ext cx="66675" cy="84138"/>
            </a:xfrm>
            <a:custGeom>
              <a:avLst/>
              <a:gdLst>
                <a:gd name="T0" fmla="*/ 16 w 33"/>
                <a:gd name="T1" fmla="*/ 36 h 41"/>
                <a:gd name="T2" fmla="*/ 23 w 33"/>
                <a:gd name="T3" fmla="*/ 41 h 41"/>
                <a:gd name="T4" fmla="*/ 27 w 33"/>
                <a:gd name="T5" fmla="*/ 39 h 41"/>
                <a:gd name="T6" fmla="*/ 31 w 33"/>
                <a:gd name="T7" fmla="*/ 28 h 41"/>
                <a:gd name="T8" fmla="*/ 18 w 33"/>
                <a:gd name="T9" fmla="*/ 5 h 41"/>
                <a:gd name="T10" fmla="*/ 6 w 33"/>
                <a:gd name="T11" fmla="*/ 2 h 41"/>
                <a:gd name="T12" fmla="*/ 3 w 33"/>
                <a:gd name="T13" fmla="*/ 14 h 41"/>
                <a:gd name="T14" fmla="*/ 16 w 33"/>
                <a:gd name="T15" fmla="*/ 36 h 41"/>
                <a:gd name="T16" fmla="*/ 16 w 33"/>
                <a:gd name="T17" fmla="*/ 36 h 41"/>
                <a:gd name="T18" fmla="*/ 16 w 33"/>
                <a:gd name="T19" fmla="*/ 3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16" y="36"/>
                  </a:moveTo>
                  <a:cubicBezTo>
                    <a:pt x="17" y="39"/>
                    <a:pt x="20" y="41"/>
                    <a:pt x="23" y="41"/>
                  </a:cubicBezTo>
                  <a:cubicBezTo>
                    <a:pt x="24" y="41"/>
                    <a:pt x="26" y="40"/>
                    <a:pt x="27" y="39"/>
                  </a:cubicBezTo>
                  <a:cubicBezTo>
                    <a:pt x="31" y="37"/>
                    <a:pt x="33" y="32"/>
                    <a:pt x="31" y="28"/>
                  </a:cubicBezTo>
                  <a:cubicBezTo>
                    <a:pt x="18" y="5"/>
                    <a:pt x="18" y="5"/>
                    <a:pt x="18" y="5"/>
                  </a:cubicBezTo>
                  <a:cubicBezTo>
                    <a:pt x="15" y="1"/>
                    <a:pt x="10" y="0"/>
                    <a:pt x="6" y="2"/>
                  </a:cubicBezTo>
                  <a:cubicBezTo>
                    <a:pt x="2" y="4"/>
                    <a:pt x="0" y="10"/>
                    <a:pt x="3" y="14"/>
                  </a:cubicBezTo>
                  <a:lnTo>
                    <a:pt x="16" y="36"/>
                  </a:lnTo>
                  <a:close/>
                  <a:moveTo>
                    <a:pt x="16" y="36"/>
                  </a:moveTo>
                  <a:cubicBezTo>
                    <a:pt x="16" y="36"/>
                    <a:pt x="16" y="36"/>
                    <a:pt x="16"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Freeform 19">
              <a:extLst>
                <a:ext uri="{FF2B5EF4-FFF2-40B4-BE49-F238E27FC236}">
                  <a16:creationId xmlns:a16="http://schemas.microsoft.com/office/drawing/2014/main" id="{82C712BD-C113-42A7-9921-701637567E8C}"/>
                </a:ext>
              </a:extLst>
            </p:cNvPr>
            <p:cNvSpPr>
              <a:spLocks noEditPoints="1"/>
            </p:cNvSpPr>
            <p:nvPr/>
          </p:nvSpPr>
          <p:spPr bwMode="auto">
            <a:xfrm>
              <a:off x="4273550" y="2162175"/>
              <a:ext cx="85725" cy="65088"/>
            </a:xfrm>
            <a:custGeom>
              <a:avLst/>
              <a:gdLst>
                <a:gd name="T0" fmla="*/ 37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7 w 42"/>
                <a:gd name="T15" fmla="*/ 15 h 31"/>
                <a:gd name="T16" fmla="*/ 37 w 42"/>
                <a:gd name="T17" fmla="*/ 15 h 31"/>
                <a:gd name="T18" fmla="*/ 37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7" y="15"/>
                  </a:moveTo>
                  <a:cubicBezTo>
                    <a:pt x="14" y="2"/>
                    <a:pt x="14" y="2"/>
                    <a:pt x="14" y="2"/>
                  </a:cubicBezTo>
                  <a:cubicBezTo>
                    <a:pt x="10" y="0"/>
                    <a:pt x="5" y="1"/>
                    <a:pt x="2" y="5"/>
                  </a:cubicBezTo>
                  <a:cubicBezTo>
                    <a:pt x="0" y="10"/>
                    <a:pt x="1" y="15"/>
                    <a:pt x="5" y="17"/>
                  </a:cubicBezTo>
                  <a:cubicBezTo>
                    <a:pt x="28" y="30"/>
                    <a:pt x="28" y="30"/>
                    <a:pt x="28" y="30"/>
                  </a:cubicBezTo>
                  <a:cubicBezTo>
                    <a:pt x="29" y="31"/>
                    <a:pt x="31" y="31"/>
                    <a:pt x="32" y="31"/>
                  </a:cubicBezTo>
                  <a:cubicBezTo>
                    <a:pt x="35" y="31"/>
                    <a:pt x="38" y="30"/>
                    <a:pt x="40" y="27"/>
                  </a:cubicBezTo>
                  <a:cubicBezTo>
                    <a:pt x="42" y="23"/>
                    <a:pt x="41" y="18"/>
                    <a:pt x="37" y="15"/>
                  </a:cubicBezTo>
                  <a:close/>
                  <a:moveTo>
                    <a:pt x="37" y="15"/>
                  </a:moveTo>
                  <a:cubicBezTo>
                    <a:pt x="37" y="15"/>
                    <a:pt x="37" y="15"/>
                    <a:pt x="37"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Freeform 20">
              <a:extLst>
                <a:ext uri="{FF2B5EF4-FFF2-40B4-BE49-F238E27FC236}">
                  <a16:creationId xmlns:a16="http://schemas.microsoft.com/office/drawing/2014/main" id="{002D4EDC-DF10-48B6-96EC-879A487CC050}"/>
                </a:ext>
              </a:extLst>
            </p:cNvPr>
            <p:cNvSpPr>
              <a:spLocks noEditPoints="1"/>
            </p:cNvSpPr>
            <p:nvPr/>
          </p:nvSpPr>
          <p:spPr bwMode="auto">
            <a:xfrm>
              <a:off x="4221163" y="2366963"/>
              <a:ext cx="88900" cy="34925"/>
            </a:xfrm>
            <a:custGeom>
              <a:avLst/>
              <a:gdLst>
                <a:gd name="T0" fmla="*/ 43 w 43"/>
                <a:gd name="T1" fmla="*/ 8 h 17"/>
                <a:gd name="T2" fmla="*/ 35 w 43"/>
                <a:gd name="T3" fmla="*/ 0 h 17"/>
                <a:gd name="T4" fmla="*/ 9 w 43"/>
                <a:gd name="T5" fmla="*/ 0 h 17"/>
                <a:gd name="T6" fmla="*/ 0 w 43"/>
                <a:gd name="T7" fmla="*/ 8 h 17"/>
                <a:gd name="T8" fmla="*/ 9 w 43"/>
                <a:gd name="T9" fmla="*/ 17 h 17"/>
                <a:gd name="T10" fmla="*/ 35 w 43"/>
                <a:gd name="T11" fmla="*/ 17 h 17"/>
                <a:gd name="T12" fmla="*/ 43 w 43"/>
                <a:gd name="T13" fmla="*/ 8 h 17"/>
                <a:gd name="T14" fmla="*/ 43 w 43"/>
                <a:gd name="T15" fmla="*/ 8 h 17"/>
                <a:gd name="T16" fmla="*/ 43 w 43"/>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43" y="8"/>
                  </a:moveTo>
                  <a:cubicBezTo>
                    <a:pt x="43" y="3"/>
                    <a:pt x="39" y="0"/>
                    <a:pt x="35" y="0"/>
                  </a:cubicBezTo>
                  <a:cubicBezTo>
                    <a:pt x="9" y="0"/>
                    <a:pt x="9" y="0"/>
                    <a:pt x="9" y="0"/>
                  </a:cubicBezTo>
                  <a:cubicBezTo>
                    <a:pt x="4" y="0"/>
                    <a:pt x="0" y="3"/>
                    <a:pt x="0" y="8"/>
                  </a:cubicBezTo>
                  <a:cubicBezTo>
                    <a:pt x="0" y="13"/>
                    <a:pt x="4" y="17"/>
                    <a:pt x="9" y="17"/>
                  </a:cubicBezTo>
                  <a:cubicBezTo>
                    <a:pt x="35" y="17"/>
                    <a:pt x="35" y="17"/>
                    <a:pt x="35" y="17"/>
                  </a:cubicBezTo>
                  <a:cubicBezTo>
                    <a:pt x="39" y="17"/>
                    <a:pt x="43" y="13"/>
                    <a:pt x="43" y="8"/>
                  </a:cubicBezTo>
                  <a:close/>
                  <a:moveTo>
                    <a:pt x="43" y="8"/>
                  </a:moveTo>
                  <a:cubicBezTo>
                    <a:pt x="43" y="8"/>
                    <a:pt x="43" y="8"/>
                    <a:pt x="43"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Freeform 21">
              <a:extLst>
                <a:ext uri="{FF2B5EF4-FFF2-40B4-BE49-F238E27FC236}">
                  <a16:creationId xmlns:a16="http://schemas.microsoft.com/office/drawing/2014/main" id="{1B078619-B52D-46BD-AD54-BC1AD7F9AA7B}"/>
                </a:ext>
              </a:extLst>
            </p:cNvPr>
            <p:cNvSpPr>
              <a:spLocks noEditPoints="1"/>
            </p:cNvSpPr>
            <p:nvPr/>
          </p:nvSpPr>
          <p:spPr bwMode="auto">
            <a:xfrm>
              <a:off x="4273550" y="2538413"/>
              <a:ext cx="85725" cy="63500"/>
            </a:xfrm>
            <a:custGeom>
              <a:avLst/>
              <a:gdLst>
                <a:gd name="T0" fmla="*/ 28 w 42"/>
                <a:gd name="T1" fmla="*/ 2 h 31"/>
                <a:gd name="T2" fmla="*/ 5 w 42"/>
                <a:gd name="T3" fmla="*/ 15 h 31"/>
                <a:gd name="T4" fmla="*/ 2 w 42"/>
                <a:gd name="T5" fmla="*/ 27 h 31"/>
                <a:gd name="T6" fmla="*/ 10 w 42"/>
                <a:gd name="T7" fmla="*/ 31 h 31"/>
                <a:gd name="T8" fmla="*/ 14 w 42"/>
                <a:gd name="T9" fmla="*/ 30 h 31"/>
                <a:gd name="T10" fmla="*/ 37 w 42"/>
                <a:gd name="T11" fmla="*/ 17 h 31"/>
                <a:gd name="T12" fmla="*/ 40 w 42"/>
                <a:gd name="T13" fmla="*/ 5 h 31"/>
                <a:gd name="T14" fmla="*/ 28 w 42"/>
                <a:gd name="T15" fmla="*/ 2 h 31"/>
                <a:gd name="T16" fmla="*/ 28 w 42"/>
                <a:gd name="T17" fmla="*/ 2 h 31"/>
                <a:gd name="T18" fmla="*/ 28 w 42"/>
                <a:gd name="T19"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28" y="2"/>
                  </a:moveTo>
                  <a:cubicBezTo>
                    <a:pt x="5" y="15"/>
                    <a:pt x="5" y="15"/>
                    <a:pt x="5" y="15"/>
                  </a:cubicBezTo>
                  <a:cubicBezTo>
                    <a:pt x="1" y="18"/>
                    <a:pt x="0" y="23"/>
                    <a:pt x="2" y="27"/>
                  </a:cubicBezTo>
                  <a:cubicBezTo>
                    <a:pt x="4" y="30"/>
                    <a:pt x="7" y="31"/>
                    <a:pt x="10" y="31"/>
                  </a:cubicBezTo>
                  <a:cubicBezTo>
                    <a:pt x="11" y="31"/>
                    <a:pt x="13" y="31"/>
                    <a:pt x="14" y="30"/>
                  </a:cubicBezTo>
                  <a:cubicBezTo>
                    <a:pt x="37" y="17"/>
                    <a:pt x="37" y="17"/>
                    <a:pt x="37" y="17"/>
                  </a:cubicBezTo>
                  <a:cubicBezTo>
                    <a:pt x="41" y="15"/>
                    <a:pt x="42" y="9"/>
                    <a:pt x="40" y="5"/>
                  </a:cubicBezTo>
                  <a:cubicBezTo>
                    <a:pt x="37" y="1"/>
                    <a:pt x="32" y="0"/>
                    <a:pt x="28" y="2"/>
                  </a:cubicBezTo>
                  <a:close/>
                  <a:moveTo>
                    <a:pt x="28" y="2"/>
                  </a:moveTo>
                  <a:cubicBezTo>
                    <a:pt x="28" y="2"/>
                    <a:pt x="28" y="2"/>
                    <a:pt x="28"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0" name="Freeform 22">
              <a:extLst>
                <a:ext uri="{FF2B5EF4-FFF2-40B4-BE49-F238E27FC236}">
                  <a16:creationId xmlns:a16="http://schemas.microsoft.com/office/drawing/2014/main" id="{52286543-B3C2-4FFF-8DE7-934BE9958367}"/>
                </a:ext>
              </a:extLst>
            </p:cNvPr>
            <p:cNvSpPr>
              <a:spLocks noEditPoints="1"/>
            </p:cNvSpPr>
            <p:nvPr/>
          </p:nvSpPr>
          <p:spPr bwMode="auto">
            <a:xfrm>
              <a:off x="4921250" y="2538413"/>
              <a:ext cx="87313" cy="63500"/>
            </a:xfrm>
            <a:custGeom>
              <a:avLst/>
              <a:gdLst>
                <a:gd name="T0" fmla="*/ 36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6 w 42"/>
                <a:gd name="T15" fmla="*/ 15 h 31"/>
                <a:gd name="T16" fmla="*/ 36 w 42"/>
                <a:gd name="T17" fmla="*/ 15 h 31"/>
                <a:gd name="T18" fmla="*/ 36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6" y="15"/>
                  </a:moveTo>
                  <a:cubicBezTo>
                    <a:pt x="14" y="2"/>
                    <a:pt x="14" y="2"/>
                    <a:pt x="14" y="2"/>
                  </a:cubicBezTo>
                  <a:cubicBezTo>
                    <a:pt x="10" y="0"/>
                    <a:pt x="5" y="1"/>
                    <a:pt x="2" y="5"/>
                  </a:cubicBezTo>
                  <a:cubicBezTo>
                    <a:pt x="0" y="9"/>
                    <a:pt x="1" y="15"/>
                    <a:pt x="5" y="17"/>
                  </a:cubicBezTo>
                  <a:cubicBezTo>
                    <a:pt x="28" y="30"/>
                    <a:pt x="28" y="30"/>
                    <a:pt x="28" y="30"/>
                  </a:cubicBezTo>
                  <a:cubicBezTo>
                    <a:pt x="29" y="31"/>
                    <a:pt x="31" y="31"/>
                    <a:pt x="32" y="31"/>
                  </a:cubicBezTo>
                  <a:cubicBezTo>
                    <a:pt x="35" y="31"/>
                    <a:pt x="38" y="30"/>
                    <a:pt x="40" y="27"/>
                  </a:cubicBezTo>
                  <a:cubicBezTo>
                    <a:pt x="42" y="23"/>
                    <a:pt x="41" y="18"/>
                    <a:pt x="36" y="15"/>
                  </a:cubicBezTo>
                  <a:close/>
                  <a:moveTo>
                    <a:pt x="36" y="15"/>
                  </a:moveTo>
                  <a:cubicBezTo>
                    <a:pt x="36" y="15"/>
                    <a:pt x="36" y="15"/>
                    <a:pt x="36"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1" name="Freeform 23">
              <a:extLst>
                <a:ext uri="{FF2B5EF4-FFF2-40B4-BE49-F238E27FC236}">
                  <a16:creationId xmlns:a16="http://schemas.microsoft.com/office/drawing/2014/main" id="{2FFF5DCA-010C-48C5-9D81-5EA6736BAF0E}"/>
                </a:ext>
              </a:extLst>
            </p:cNvPr>
            <p:cNvSpPr>
              <a:spLocks noEditPoints="1"/>
            </p:cNvSpPr>
            <p:nvPr/>
          </p:nvSpPr>
          <p:spPr bwMode="auto">
            <a:xfrm>
              <a:off x="4970463" y="2366963"/>
              <a:ext cx="88900" cy="34925"/>
            </a:xfrm>
            <a:custGeom>
              <a:avLst/>
              <a:gdLst>
                <a:gd name="T0" fmla="*/ 34 w 43"/>
                <a:gd name="T1" fmla="*/ 0 h 17"/>
                <a:gd name="T2" fmla="*/ 8 w 43"/>
                <a:gd name="T3" fmla="*/ 0 h 17"/>
                <a:gd name="T4" fmla="*/ 0 w 43"/>
                <a:gd name="T5" fmla="*/ 8 h 17"/>
                <a:gd name="T6" fmla="*/ 8 w 43"/>
                <a:gd name="T7" fmla="*/ 17 h 17"/>
                <a:gd name="T8" fmla="*/ 34 w 43"/>
                <a:gd name="T9" fmla="*/ 17 h 17"/>
                <a:gd name="T10" fmla="*/ 43 w 43"/>
                <a:gd name="T11" fmla="*/ 8 h 17"/>
                <a:gd name="T12" fmla="*/ 34 w 43"/>
                <a:gd name="T13" fmla="*/ 0 h 17"/>
                <a:gd name="T14" fmla="*/ 34 w 43"/>
                <a:gd name="T15" fmla="*/ 0 h 17"/>
                <a:gd name="T16" fmla="*/ 34 w 43"/>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34" y="0"/>
                  </a:moveTo>
                  <a:cubicBezTo>
                    <a:pt x="8" y="0"/>
                    <a:pt x="8" y="0"/>
                    <a:pt x="8" y="0"/>
                  </a:cubicBezTo>
                  <a:cubicBezTo>
                    <a:pt x="4" y="0"/>
                    <a:pt x="0" y="3"/>
                    <a:pt x="0" y="8"/>
                  </a:cubicBezTo>
                  <a:cubicBezTo>
                    <a:pt x="0" y="13"/>
                    <a:pt x="4" y="17"/>
                    <a:pt x="8" y="17"/>
                  </a:cubicBezTo>
                  <a:cubicBezTo>
                    <a:pt x="34" y="17"/>
                    <a:pt x="34" y="17"/>
                    <a:pt x="34" y="17"/>
                  </a:cubicBezTo>
                  <a:cubicBezTo>
                    <a:pt x="39" y="17"/>
                    <a:pt x="43" y="13"/>
                    <a:pt x="43" y="8"/>
                  </a:cubicBezTo>
                  <a:cubicBezTo>
                    <a:pt x="43" y="3"/>
                    <a:pt x="39" y="0"/>
                    <a:pt x="34" y="0"/>
                  </a:cubicBezTo>
                  <a:close/>
                  <a:moveTo>
                    <a:pt x="34" y="0"/>
                  </a:moveTo>
                  <a:cubicBezTo>
                    <a:pt x="34" y="0"/>
                    <a:pt x="34" y="0"/>
                    <a:pt x="3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Freeform 24">
              <a:extLst>
                <a:ext uri="{FF2B5EF4-FFF2-40B4-BE49-F238E27FC236}">
                  <a16:creationId xmlns:a16="http://schemas.microsoft.com/office/drawing/2014/main" id="{27238CCC-A14B-4885-9874-1884AFB7460C}"/>
                </a:ext>
              </a:extLst>
            </p:cNvPr>
            <p:cNvSpPr>
              <a:spLocks noEditPoints="1"/>
            </p:cNvSpPr>
            <p:nvPr/>
          </p:nvSpPr>
          <p:spPr bwMode="auto">
            <a:xfrm>
              <a:off x="4921250" y="2162175"/>
              <a:ext cx="87313" cy="65088"/>
            </a:xfrm>
            <a:custGeom>
              <a:avLst/>
              <a:gdLst>
                <a:gd name="T0" fmla="*/ 10 w 42"/>
                <a:gd name="T1" fmla="*/ 31 h 31"/>
                <a:gd name="T2" fmla="*/ 14 w 42"/>
                <a:gd name="T3" fmla="*/ 30 h 31"/>
                <a:gd name="T4" fmla="*/ 36 w 42"/>
                <a:gd name="T5" fmla="*/ 17 h 31"/>
                <a:gd name="T6" fmla="*/ 40 w 42"/>
                <a:gd name="T7" fmla="*/ 5 h 31"/>
                <a:gd name="T8" fmla="*/ 28 w 42"/>
                <a:gd name="T9" fmla="*/ 2 h 31"/>
                <a:gd name="T10" fmla="*/ 5 w 42"/>
                <a:gd name="T11" fmla="*/ 15 h 31"/>
                <a:gd name="T12" fmla="*/ 2 w 42"/>
                <a:gd name="T13" fmla="*/ 27 h 31"/>
                <a:gd name="T14" fmla="*/ 10 w 42"/>
                <a:gd name="T15" fmla="*/ 31 h 31"/>
                <a:gd name="T16" fmla="*/ 10 w 42"/>
                <a:gd name="T17" fmla="*/ 31 h 31"/>
                <a:gd name="T18" fmla="*/ 10 w 42"/>
                <a:gd name="T19"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10" y="31"/>
                  </a:moveTo>
                  <a:cubicBezTo>
                    <a:pt x="11" y="31"/>
                    <a:pt x="13" y="31"/>
                    <a:pt x="14" y="30"/>
                  </a:cubicBezTo>
                  <a:cubicBezTo>
                    <a:pt x="36" y="17"/>
                    <a:pt x="36" y="17"/>
                    <a:pt x="36" y="17"/>
                  </a:cubicBezTo>
                  <a:cubicBezTo>
                    <a:pt x="41" y="15"/>
                    <a:pt x="42" y="10"/>
                    <a:pt x="40" y="5"/>
                  </a:cubicBezTo>
                  <a:cubicBezTo>
                    <a:pt x="37" y="1"/>
                    <a:pt x="32" y="0"/>
                    <a:pt x="28" y="2"/>
                  </a:cubicBezTo>
                  <a:cubicBezTo>
                    <a:pt x="5" y="15"/>
                    <a:pt x="5" y="15"/>
                    <a:pt x="5" y="15"/>
                  </a:cubicBezTo>
                  <a:cubicBezTo>
                    <a:pt x="1" y="18"/>
                    <a:pt x="0" y="23"/>
                    <a:pt x="2" y="27"/>
                  </a:cubicBezTo>
                  <a:cubicBezTo>
                    <a:pt x="4" y="30"/>
                    <a:pt x="7" y="31"/>
                    <a:pt x="10" y="31"/>
                  </a:cubicBezTo>
                  <a:close/>
                  <a:moveTo>
                    <a:pt x="10" y="31"/>
                  </a:moveTo>
                  <a:cubicBezTo>
                    <a:pt x="10" y="31"/>
                    <a:pt x="10" y="31"/>
                    <a:pt x="10"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Freeform 25">
              <a:extLst>
                <a:ext uri="{FF2B5EF4-FFF2-40B4-BE49-F238E27FC236}">
                  <a16:creationId xmlns:a16="http://schemas.microsoft.com/office/drawing/2014/main" id="{A156B9E4-45A3-4AE8-A803-2F05F3D9F1AC}"/>
                </a:ext>
              </a:extLst>
            </p:cNvPr>
            <p:cNvSpPr>
              <a:spLocks noEditPoints="1"/>
            </p:cNvSpPr>
            <p:nvPr/>
          </p:nvSpPr>
          <p:spPr bwMode="auto">
            <a:xfrm>
              <a:off x="4794250" y="2016125"/>
              <a:ext cx="68263" cy="84138"/>
            </a:xfrm>
            <a:custGeom>
              <a:avLst/>
              <a:gdLst>
                <a:gd name="T0" fmla="*/ 6 w 33"/>
                <a:gd name="T1" fmla="*/ 39 h 41"/>
                <a:gd name="T2" fmla="*/ 10 w 33"/>
                <a:gd name="T3" fmla="*/ 41 h 41"/>
                <a:gd name="T4" fmla="*/ 17 w 33"/>
                <a:gd name="T5" fmla="*/ 36 h 41"/>
                <a:gd name="T6" fmla="*/ 30 w 33"/>
                <a:gd name="T7" fmla="*/ 14 h 41"/>
                <a:gd name="T8" fmla="*/ 27 w 33"/>
                <a:gd name="T9" fmla="*/ 2 h 41"/>
                <a:gd name="T10" fmla="*/ 15 w 33"/>
                <a:gd name="T11" fmla="*/ 5 h 41"/>
                <a:gd name="T12" fmla="*/ 2 w 33"/>
                <a:gd name="T13" fmla="*/ 28 h 41"/>
                <a:gd name="T14" fmla="*/ 6 w 33"/>
                <a:gd name="T15" fmla="*/ 39 h 41"/>
                <a:gd name="T16" fmla="*/ 6 w 33"/>
                <a:gd name="T17" fmla="*/ 39 h 41"/>
                <a:gd name="T18" fmla="*/ 6 w 33"/>
                <a:gd name="T1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6" y="39"/>
                  </a:moveTo>
                  <a:cubicBezTo>
                    <a:pt x="7" y="40"/>
                    <a:pt x="8" y="41"/>
                    <a:pt x="10" y="41"/>
                  </a:cubicBezTo>
                  <a:cubicBezTo>
                    <a:pt x="13" y="41"/>
                    <a:pt x="16" y="39"/>
                    <a:pt x="17" y="36"/>
                  </a:cubicBezTo>
                  <a:cubicBezTo>
                    <a:pt x="30" y="14"/>
                    <a:pt x="30" y="14"/>
                    <a:pt x="30" y="14"/>
                  </a:cubicBezTo>
                  <a:cubicBezTo>
                    <a:pt x="33" y="10"/>
                    <a:pt x="31" y="4"/>
                    <a:pt x="27" y="2"/>
                  </a:cubicBezTo>
                  <a:cubicBezTo>
                    <a:pt x="23" y="0"/>
                    <a:pt x="18" y="1"/>
                    <a:pt x="15" y="5"/>
                  </a:cubicBezTo>
                  <a:cubicBezTo>
                    <a:pt x="2" y="28"/>
                    <a:pt x="2" y="28"/>
                    <a:pt x="2" y="28"/>
                  </a:cubicBezTo>
                  <a:cubicBezTo>
                    <a:pt x="0" y="32"/>
                    <a:pt x="1" y="37"/>
                    <a:pt x="6" y="39"/>
                  </a:cubicBezTo>
                  <a:close/>
                  <a:moveTo>
                    <a:pt x="6" y="39"/>
                  </a:moveTo>
                  <a:cubicBezTo>
                    <a:pt x="6" y="39"/>
                    <a:pt x="6" y="39"/>
                    <a:pt x="6" y="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Freeform 26">
              <a:extLst>
                <a:ext uri="{FF2B5EF4-FFF2-40B4-BE49-F238E27FC236}">
                  <a16:creationId xmlns:a16="http://schemas.microsoft.com/office/drawing/2014/main" id="{33907816-6671-4623-ACDD-E1AE72524FF7}"/>
                </a:ext>
              </a:extLst>
            </p:cNvPr>
            <p:cNvSpPr>
              <a:spLocks noEditPoints="1"/>
            </p:cNvSpPr>
            <p:nvPr/>
          </p:nvSpPr>
          <p:spPr bwMode="auto">
            <a:xfrm>
              <a:off x="4598988" y="2233613"/>
              <a:ext cx="137117" cy="496578"/>
            </a:xfrm>
            <a:custGeom>
              <a:avLst/>
              <a:gdLst>
                <a:gd name="T0" fmla="*/ 9 w 41"/>
                <a:gd name="T1" fmla="*/ 125 h 135"/>
                <a:gd name="T2" fmla="*/ 20 w 41"/>
                <a:gd name="T3" fmla="*/ 135 h 135"/>
                <a:gd name="T4" fmla="*/ 32 w 41"/>
                <a:gd name="T5" fmla="*/ 125 h 135"/>
                <a:gd name="T6" fmla="*/ 40 w 41"/>
                <a:gd name="T7" fmla="*/ 64 h 135"/>
                <a:gd name="T8" fmla="*/ 41 w 41"/>
                <a:gd name="T9" fmla="*/ 51 h 135"/>
                <a:gd name="T10" fmla="*/ 41 w 41"/>
                <a:gd name="T11" fmla="*/ 21 h 135"/>
                <a:gd name="T12" fmla="*/ 20 w 41"/>
                <a:gd name="T13" fmla="*/ 0 h 135"/>
                <a:gd name="T14" fmla="*/ 0 w 41"/>
                <a:gd name="T15" fmla="*/ 21 h 135"/>
                <a:gd name="T16" fmla="*/ 0 w 41"/>
                <a:gd name="T17" fmla="*/ 51 h 135"/>
                <a:gd name="T18" fmla="*/ 1 w 41"/>
                <a:gd name="T19" fmla="*/ 64 h 135"/>
                <a:gd name="T20" fmla="*/ 9 w 41"/>
                <a:gd name="T21" fmla="*/ 125 h 135"/>
                <a:gd name="T22" fmla="*/ 9 w 41"/>
                <a:gd name="T23" fmla="*/ 125 h 135"/>
                <a:gd name="T24" fmla="*/ 9 w 41"/>
                <a:gd name="T25" fmla="*/ 12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135">
                  <a:moveTo>
                    <a:pt x="9" y="125"/>
                  </a:moveTo>
                  <a:cubicBezTo>
                    <a:pt x="10" y="133"/>
                    <a:pt x="14" y="135"/>
                    <a:pt x="20" y="135"/>
                  </a:cubicBezTo>
                  <a:cubicBezTo>
                    <a:pt x="27" y="135"/>
                    <a:pt x="31" y="133"/>
                    <a:pt x="32" y="125"/>
                  </a:cubicBezTo>
                  <a:cubicBezTo>
                    <a:pt x="40" y="64"/>
                    <a:pt x="40" y="64"/>
                    <a:pt x="40" y="64"/>
                  </a:cubicBezTo>
                  <a:cubicBezTo>
                    <a:pt x="41" y="60"/>
                    <a:pt x="41" y="55"/>
                    <a:pt x="41" y="51"/>
                  </a:cubicBezTo>
                  <a:cubicBezTo>
                    <a:pt x="41" y="21"/>
                    <a:pt x="41" y="21"/>
                    <a:pt x="41" y="21"/>
                  </a:cubicBezTo>
                  <a:cubicBezTo>
                    <a:pt x="41" y="7"/>
                    <a:pt x="34" y="0"/>
                    <a:pt x="20" y="0"/>
                  </a:cubicBezTo>
                  <a:cubicBezTo>
                    <a:pt x="7" y="0"/>
                    <a:pt x="0" y="7"/>
                    <a:pt x="0" y="21"/>
                  </a:cubicBezTo>
                  <a:cubicBezTo>
                    <a:pt x="0" y="51"/>
                    <a:pt x="0" y="51"/>
                    <a:pt x="0" y="51"/>
                  </a:cubicBezTo>
                  <a:cubicBezTo>
                    <a:pt x="0" y="55"/>
                    <a:pt x="0" y="60"/>
                    <a:pt x="1" y="64"/>
                  </a:cubicBezTo>
                  <a:lnTo>
                    <a:pt x="9" y="125"/>
                  </a:lnTo>
                  <a:close/>
                  <a:moveTo>
                    <a:pt x="9" y="125"/>
                  </a:moveTo>
                  <a:cubicBezTo>
                    <a:pt x="9" y="125"/>
                    <a:pt x="9" y="125"/>
                    <a:pt x="9" y="1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5" name="Freeform 27">
              <a:extLst>
                <a:ext uri="{FF2B5EF4-FFF2-40B4-BE49-F238E27FC236}">
                  <a16:creationId xmlns:a16="http://schemas.microsoft.com/office/drawing/2014/main" id="{FC033479-BD18-4119-A053-EDB3F7E18AB3}"/>
                </a:ext>
              </a:extLst>
            </p:cNvPr>
            <p:cNvSpPr>
              <a:spLocks noEditPoints="1"/>
            </p:cNvSpPr>
            <p:nvPr/>
          </p:nvSpPr>
          <p:spPr bwMode="auto">
            <a:xfrm>
              <a:off x="4595813" y="2546350"/>
              <a:ext cx="88900" cy="90488"/>
            </a:xfrm>
            <a:custGeom>
              <a:avLst/>
              <a:gdLst>
                <a:gd name="T0" fmla="*/ 21 w 43"/>
                <a:gd name="T1" fmla="*/ 0 h 44"/>
                <a:gd name="T2" fmla="*/ 0 w 43"/>
                <a:gd name="T3" fmla="*/ 22 h 44"/>
                <a:gd name="T4" fmla="*/ 21 w 43"/>
                <a:gd name="T5" fmla="*/ 44 h 44"/>
                <a:gd name="T6" fmla="*/ 43 w 43"/>
                <a:gd name="T7" fmla="*/ 22 h 44"/>
                <a:gd name="T8" fmla="*/ 21 w 43"/>
                <a:gd name="T9" fmla="*/ 0 h 44"/>
                <a:gd name="T10" fmla="*/ 21 w 43"/>
                <a:gd name="T11" fmla="*/ 0 h 44"/>
                <a:gd name="T12" fmla="*/ 21 w 43"/>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3" h="44">
                  <a:moveTo>
                    <a:pt x="21" y="0"/>
                  </a:moveTo>
                  <a:cubicBezTo>
                    <a:pt x="10" y="0"/>
                    <a:pt x="0" y="10"/>
                    <a:pt x="0" y="22"/>
                  </a:cubicBezTo>
                  <a:cubicBezTo>
                    <a:pt x="0" y="34"/>
                    <a:pt x="10" y="44"/>
                    <a:pt x="21" y="44"/>
                  </a:cubicBezTo>
                  <a:cubicBezTo>
                    <a:pt x="33" y="44"/>
                    <a:pt x="43" y="34"/>
                    <a:pt x="43" y="22"/>
                  </a:cubicBezTo>
                  <a:cubicBezTo>
                    <a:pt x="43" y="10"/>
                    <a:pt x="33" y="0"/>
                    <a:pt x="21" y="0"/>
                  </a:cubicBezTo>
                  <a:close/>
                  <a:moveTo>
                    <a:pt x="21" y="0"/>
                  </a:moveTo>
                  <a:cubicBezTo>
                    <a:pt x="21" y="0"/>
                    <a:pt x="21" y="0"/>
                    <a:pt x="2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2392131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5EBB35-4D5B-4D14-883B-2FAF0B860C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3037" y="866955"/>
            <a:ext cx="4043902" cy="4043902"/>
          </a:xfrm>
          <a:prstGeom prst="rect">
            <a:avLst/>
          </a:prstGeom>
        </p:spPr>
      </p:pic>
      <p:pic>
        <p:nvPicPr>
          <p:cNvPr id="7" name="Picture 6">
            <a:extLst>
              <a:ext uri="{FF2B5EF4-FFF2-40B4-BE49-F238E27FC236}">
                <a16:creationId xmlns:a16="http://schemas.microsoft.com/office/drawing/2014/main" id="{9FF78C02-F433-4133-8604-63B3CFF64DEC}"/>
              </a:ext>
            </a:extLst>
          </p:cNvPr>
          <p:cNvPicPr>
            <a:picLocks noChangeAspect="1"/>
          </p:cNvPicPr>
          <p:nvPr/>
        </p:nvPicPr>
        <p:blipFill rotWithShape="1">
          <a:blip r:embed="rId3">
            <a:extLst>
              <a:ext uri="{28A0092B-C50C-407E-A947-70E740481C1C}">
                <a14:useLocalDpi xmlns:a14="http://schemas.microsoft.com/office/drawing/2010/main" val="0"/>
              </a:ext>
            </a:extLst>
          </a:blip>
          <a:srcRect l="4496" t="5063" b="13693"/>
          <a:stretch/>
        </p:blipFill>
        <p:spPr>
          <a:xfrm>
            <a:off x="945061" y="866955"/>
            <a:ext cx="4514611" cy="3840480"/>
          </a:xfrm>
          <a:prstGeom prst="rect">
            <a:avLst/>
          </a:prstGeom>
        </p:spPr>
      </p:pic>
      <p:sp>
        <p:nvSpPr>
          <p:cNvPr id="12" name="Rectangle 11">
            <a:extLst>
              <a:ext uri="{FF2B5EF4-FFF2-40B4-BE49-F238E27FC236}">
                <a16:creationId xmlns:a16="http://schemas.microsoft.com/office/drawing/2014/main" id="{06AEBA41-72DC-4489-AF03-6A0C8CBE988B}"/>
              </a:ext>
            </a:extLst>
          </p:cNvPr>
          <p:cNvSpPr/>
          <p:nvPr/>
        </p:nvSpPr>
        <p:spPr>
          <a:xfrm>
            <a:off x="164784" y="5380672"/>
            <a:ext cx="10549223" cy="1200329"/>
          </a:xfrm>
          <a:prstGeom prst="rect">
            <a:avLst/>
          </a:prstGeom>
        </p:spPr>
        <p:txBody>
          <a:bodyPr wrap="square">
            <a:spAutoFit/>
          </a:bodyPr>
          <a:lstStyle/>
          <a:p>
            <a:pPr marL="285750" indent="-285750">
              <a:buFont typeface="Arial" panose="020B0604020202020204" pitchFamily="34" charset="0"/>
              <a:buChar char="•"/>
            </a:pPr>
            <a:r>
              <a:rPr lang="en-US" dirty="0"/>
              <a:t>A significant majority </a:t>
            </a:r>
            <a:r>
              <a:rPr lang="en-US" b="1" dirty="0"/>
              <a:t>(55%) </a:t>
            </a:r>
            <a:r>
              <a:rPr lang="en-US" dirty="0"/>
              <a:t>of the customers have month-to-month contracts, indicating a preference for short-term commitments.</a:t>
            </a:r>
          </a:p>
          <a:p>
            <a:pPr marL="285750" indent="-285750">
              <a:buFont typeface="Arial" panose="020B0604020202020204" pitchFamily="34" charset="0"/>
              <a:buChar char="•"/>
            </a:pPr>
            <a:r>
              <a:rPr lang="en-US" dirty="0"/>
              <a:t>customers with month-to-month contracts have a significantly higher churn rate </a:t>
            </a:r>
            <a:r>
              <a:rPr lang="en-US" b="1" dirty="0"/>
              <a:t>(43%) </a:t>
            </a:r>
            <a:r>
              <a:rPr lang="en-US" dirty="0"/>
              <a:t>compared to those with one-year </a:t>
            </a:r>
            <a:r>
              <a:rPr lang="en-US" b="1" dirty="0"/>
              <a:t>(11%) </a:t>
            </a:r>
            <a:r>
              <a:rPr lang="en-US" dirty="0"/>
              <a:t>and two-year contracts </a:t>
            </a:r>
            <a:r>
              <a:rPr lang="en-US" b="1" dirty="0"/>
              <a:t>(3%).</a:t>
            </a:r>
            <a:endParaRPr lang="en-US" b="1" i="0" dirty="0">
              <a:effectLst/>
              <a:latin typeface="Inter"/>
            </a:endParaRPr>
          </a:p>
        </p:txBody>
      </p:sp>
      <p:cxnSp>
        <p:nvCxnSpPr>
          <p:cNvPr id="14" name="Straight Connector 13">
            <a:extLst>
              <a:ext uri="{FF2B5EF4-FFF2-40B4-BE49-F238E27FC236}">
                <a16:creationId xmlns:a16="http://schemas.microsoft.com/office/drawing/2014/main" id="{2025E59B-D9EC-43EE-A20C-C95D5401546A}"/>
              </a:ext>
            </a:extLst>
          </p:cNvPr>
          <p:cNvCxnSpPr>
            <a:cxnSpLocks/>
          </p:cNvCxnSpPr>
          <p:nvPr/>
        </p:nvCxnSpPr>
        <p:spPr>
          <a:xfrm>
            <a:off x="6096000" y="866955"/>
            <a:ext cx="0" cy="3840480"/>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D70EE51-28A0-4D05-9EF7-D5A2DBFF9FC9}"/>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Contract Analysis</a:t>
            </a:r>
          </a:p>
        </p:txBody>
      </p:sp>
      <p:sp>
        <p:nvSpPr>
          <p:cNvPr id="9" name="TextBox 8">
            <a:extLst>
              <a:ext uri="{FF2B5EF4-FFF2-40B4-BE49-F238E27FC236}">
                <a16:creationId xmlns:a16="http://schemas.microsoft.com/office/drawing/2014/main" id="{97C4895B-DAD4-4FCE-92E7-92429263CFBA}"/>
              </a:ext>
            </a:extLst>
          </p:cNvPr>
          <p:cNvSpPr txBox="1"/>
          <p:nvPr/>
        </p:nvSpPr>
        <p:spPr>
          <a:xfrm>
            <a:off x="458082" y="4965352"/>
            <a:ext cx="1404808" cy="369332"/>
          </a:xfrm>
          <a:prstGeom prst="rect">
            <a:avLst/>
          </a:prstGeom>
          <a:noFill/>
        </p:spPr>
        <p:txBody>
          <a:bodyPr wrap="none" rtlCol="0">
            <a:spAutoFit/>
          </a:bodyPr>
          <a:lstStyle/>
          <a:p>
            <a:r>
              <a:rPr lang="en-US" b="1" u="sng" dirty="0"/>
              <a:t>Key Insights: </a:t>
            </a:r>
          </a:p>
        </p:txBody>
      </p:sp>
      <p:grpSp>
        <p:nvGrpSpPr>
          <p:cNvPr id="10" name="Group 9">
            <a:extLst>
              <a:ext uri="{FF2B5EF4-FFF2-40B4-BE49-F238E27FC236}">
                <a16:creationId xmlns:a16="http://schemas.microsoft.com/office/drawing/2014/main" id="{75978112-3574-44AD-A8A5-ED3537C07342}"/>
              </a:ext>
            </a:extLst>
          </p:cNvPr>
          <p:cNvGrpSpPr/>
          <p:nvPr/>
        </p:nvGrpSpPr>
        <p:grpSpPr>
          <a:xfrm>
            <a:off x="113025" y="4917165"/>
            <a:ext cx="365760" cy="365760"/>
            <a:chOff x="4221163" y="1965325"/>
            <a:chExt cx="838200" cy="927101"/>
          </a:xfrm>
          <a:solidFill>
            <a:schemeClr val="accent1"/>
          </a:solidFill>
          <a:effectLst>
            <a:glow rad="127000">
              <a:schemeClr val="bg1">
                <a:alpha val="99000"/>
              </a:schemeClr>
            </a:glow>
          </a:effectLst>
        </p:grpSpPr>
        <p:sp>
          <p:nvSpPr>
            <p:cNvPr id="11" name="Freeform 16">
              <a:extLst>
                <a:ext uri="{FF2B5EF4-FFF2-40B4-BE49-F238E27FC236}">
                  <a16:creationId xmlns:a16="http://schemas.microsoft.com/office/drawing/2014/main" id="{51F2E752-F6B1-4D45-B986-4F3F00976611}"/>
                </a:ext>
              </a:extLst>
            </p:cNvPr>
            <p:cNvSpPr>
              <a:spLocks noEditPoints="1"/>
            </p:cNvSpPr>
            <p:nvPr/>
          </p:nvSpPr>
          <p:spPr bwMode="auto">
            <a:xfrm>
              <a:off x="4359275" y="2106613"/>
              <a:ext cx="561975" cy="785813"/>
            </a:xfrm>
            <a:custGeom>
              <a:avLst/>
              <a:gdLst>
                <a:gd name="T0" fmla="*/ 136 w 273"/>
                <a:gd name="T1" fmla="*/ 0 h 381"/>
                <a:gd name="T2" fmla="*/ 0 w 273"/>
                <a:gd name="T3" fmla="*/ 132 h 381"/>
                <a:gd name="T4" fmla="*/ 33 w 273"/>
                <a:gd name="T5" fmla="*/ 229 h 381"/>
                <a:gd name="T6" fmla="*/ 47 w 273"/>
                <a:gd name="T7" fmla="*/ 257 h 381"/>
                <a:gd name="T8" fmla="*/ 72 w 273"/>
                <a:gd name="T9" fmla="*/ 302 h 381"/>
                <a:gd name="T10" fmla="*/ 74 w 273"/>
                <a:gd name="T11" fmla="*/ 337 h 381"/>
                <a:gd name="T12" fmla="*/ 74 w 273"/>
                <a:gd name="T13" fmla="*/ 337 h 381"/>
                <a:gd name="T14" fmla="*/ 102 w 273"/>
                <a:gd name="T15" fmla="*/ 367 h 381"/>
                <a:gd name="T16" fmla="*/ 114 w 273"/>
                <a:gd name="T17" fmla="*/ 378 h 381"/>
                <a:gd name="T18" fmla="*/ 123 w 273"/>
                <a:gd name="T19" fmla="*/ 381 h 381"/>
                <a:gd name="T20" fmla="*/ 150 w 273"/>
                <a:gd name="T21" fmla="*/ 381 h 381"/>
                <a:gd name="T22" fmla="*/ 159 w 273"/>
                <a:gd name="T23" fmla="*/ 378 h 381"/>
                <a:gd name="T24" fmla="*/ 171 w 273"/>
                <a:gd name="T25" fmla="*/ 367 h 381"/>
                <a:gd name="T26" fmla="*/ 199 w 273"/>
                <a:gd name="T27" fmla="*/ 337 h 381"/>
                <a:gd name="T28" fmla="*/ 201 w 273"/>
                <a:gd name="T29" fmla="*/ 302 h 381"/>
                <a:gd name="T30" fmla="*/ 226 w 273"/>
                <a:gd name="T31" fmla="*/ 257 h 381"/>
                <a:gd name="T32" fmla="*/ 240 w 273"/>
                <a:gd name="T33" fmla="*/ 228 h 381"/>
                <a:gd name="T34" fmla="*/ 273 w 273"/>
                <a:gd name="T35" fmla="*/ 132 h 381"/>
                <a:gd name="T36" fmla="*/ 136 w 273"/>
                <a:gd name="T37" fmla="*/ 0 h 381"/>
                <a:gd name="T38" fmla="*/ 211 w 273"/>
                <a:gd name="T39" fmla="*/ 209 h 381"/>
                <a:gd name="T40" fmla="*/ 192 w 273"/>
                <a:gd name="T41" fmla="*/ 257 h 381"/>
                <a:gd name="T42" fmla="*/ 179 w 273"/>
                <a:gd name="T43" fmla="*/ 275 h 381"/>
                <a:gd name="T44" fmla="*/ 94 w 273"/>
                <a:gd name="T45" fmla="*/ 275 h 381"/>
                <a:gd name="T46" fmla="*/ 81 w 273"/>
                <a:gd name="T47" fmla="*/ 257 h 381"/>
                <a:gd name="T48" fmla="*/ 61 w 273"/>
                <a:gd name="T49" fmla="*/ 209 h 381"/>
                <a:gd name="T50" fmla="*/ 34 w 273"/>
                <a:gd name="T51" fmla="*/ 132 h 381"/>
                <a:gd name="T52" fmla="*/ 136 w 273"/>
                <a:gd name="T53" fmla="*/ 35 h 381"/>
                <a:gd name="T54" fmla="*/ 239 w 273"/>
                <a:gd name="T55" fmla="*/ 132 h 381"/>
                <a:gd name="T56" fmla="*/ 211 w 273"/>
                <a:gd name="T57" fmla="*/ 209 h 381"/>
                <a:gd name="T58" fmla="*/ 211 w 273"/>
                <a:gd name="T59" fmla="*/ 209 h 381"/>
                <a:gd name="T60" fmla="*/ 211 w 273"/>
                <a:gd name="T61" fmla="*/ 20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3" h="381">
                  <a:moveTo>
                    <a:pt x="136" y="0"/>
                  </a:moveTo>
                  <a:cubicBezTo>
                    <a:pt x="61" y="0"/>
                    <a:pt x="0" y="59"/>
                    <a:pt x="0" y="132"/>
                  </a:cubicBezTo>
                  <a:cubicBezTo>
                    <a:pt x="0" y="180"/>
                    <a:pt x="19" y="208"/>
                    <a:pt x="33" y="229"/>
                  </a:cubicBezTo>
                  <a:cubicBezTo>
                    <a:pt x="42" y="241"/>
                    <a:pt x="47" y="249"/>
                    <a:pt x="47" y="257"/>
                  </a:cubicBezTo>
                  <a:cubicBezTo>
                    <a:pt x="47" y="274"/>
                    <a:pt x="56" y="290"/>
                    <a:pt x="72" y="302"/>
                  </a:cubicBezTo>
                  <a:cubicBezTo>
                    <a:pt x="73" y="312"/>
                    <a:pt x="74" y="337"/>
                    <a:pt x="74" y="337"/>
                  </a:cubicBezTo>
                  <a:cubicBezTo>
                    <a:pt x="74" y="337"/>
                    <a:pt x="74" y="337"/>
                    <a:pt x="74" y="337"/>
                  </a:cubicBezTo>
                  <a:cubicBezTo>
                    <a:pt x="74" y="344"/>
                    <a:pt x="78" y="359"/>
                    <a:pt x="102" y="367"/>
                  </a:cubicBezTo>
                  <a:cubicBezTo>
                    <a:pt x="105" y="371"/>
                    <a:pt x="109" y="375"/>
                    <a:pt x="114" y="378"/>
                  </a:cubicBezTo>
                  <a:cubicBezTo>
                    <a:pt x="116" y="380"/>
                    <a:pt x="120" y="381"/>
                    <a:pt x="123" y="381"/>
                  </a:cubicBezTo>
                  <a:cubicBezTo>
                    <a:pt x="150" y="381"/>
                    <a:pt x="150" y="381"/>
                    <a:pt x="150" y="381"/>
                  </a:cubicBezTo>
                  <a:cubicBezTo>
                    <a:pt x="153" y="381"/>
                    <a:pt x="157" y="380"/>
                    <a:pt x="159" y="378"/>
                  </a:cubicBezTo>
                  <a:cubicBezTo>
                    <a:pt x="164" y="375"/>
                    <a:pt x="168" y="371"/>
                    <a:pt x="171" y="367"/>
                  </a:cubicBezTo>
                  <a:cubicBezTo>
                    <a:pt x="195" y="359"/>
                    <a:pt x="199" y="344"/>
                    <a:pt x="199" y="337"/>
                  </a:cubicBezTo>
                  <a:cubicBezTo>
                    <a:pt x="199" y="337"/>
                    <a:pt x="200" y="312"/>
                    <a:pt x="201" y="302"/>
                  </a:cubicBezTo>
                  <a:cubicBezTo>
                    <a:pt x="217" y="290"/>
                    <a:pt x="226" y="274"/>
                    <a:pt x="226" y="257"/>
                  </a:cubicBezTo>
                  <a:cubicBezTo>
                    <a:pt x="226" y="249"/>
                    <a:pt x="231" y="241"/>
                    <a:pt x="240" y="228"/>
                  </a:cubicBezTo>
                  <a:cubicBezTo>
                    <a:pt x="254" y="208"/>
                    <a:pt x="273" y="180"/>
                    <a:pt x="273" y="132"/>
                  </a:cubicBezTo>
                  <a:cubicBezTo>
                    <a:pt x="273" y="59"/>
                    <a:pt x="212" y="0"/>
                    <a:pt x="136" y="0"/>
                  </a:cubicBezTo>
                  <a:close/>
                  <a:moveTo>
                    <a:pt x="211" y="209"/>
                  </a:moveTo>
                  <a:cubicBezTo>
                    <a:pt x="201" y="224"/>
                    <a:pt x="192" y="238"/>
                    <a:pt x="192" y="257"/>
                  </a:cubicBezTo>
                  <a:cubicBezTo>
                    <a:pt x="192" y="265"/>
                    <a:pt x="184" y="271"/>
                    <a:pt x="179" y="275"/>
                  </a:cubicBezTo>
                  <a:cubicBezTo>
                    <a:pt x="94" y="275"/>
                    <a:pt x="94" y="275"/>
                    <a:pt x="94" y="275"/>
                  </a:cubicBezTo>
                  <a:cubicBezTo>
                    <a:pt x="89" y="271"/>
                    <a:pt x="81" y="265"/>
                    <a:pt x="81" y="257"/>
                  </a:cubicBezTo>
                  <a:cubicBezTo>
                    <a:pt x="81" y="238"/>
                    <a:pt x="72" y="224"/>
                    <a:pt x="61" y="209"/>
                  </a:cubicBezTo>
                  <a:cubicBezTo>
                    <a:pt x="49" y="190"/>
                    <a:pt x="34" y="169"/>
                    <a:pt x="34" y="132"/>
                  </a:cubicBezTo>
                  <a:cubicBezTo>
                    <a:pt x="34" y="78"/>
                    <a:pt x="80" y="35"/>
                    <a:pt x="136" y="35"/>
                  </a:cubicBezTo>
                  <a:cubicBezTo>
                    <a:pt x="193" y="35"/>
                    <a:pt x="239" y="78"/>
                    <a:pt x="239" y="132"/>
                  </a:cubicBezTo>
                  <a:cubicBezTo>
                    <a:pt x="239" y="169"/>
                    <a:pt x="224" y="190"/>
                    <a:pt x="211" y="209"/>
                  </a:cubicBezTo>
                  <a:close/>
                  <a:moveTo>
                    <a:pt x="211" y="209"/>
                  </a:moveTo>
                  <a:cubicBezTo>
                    <a:pt x="211" y="209"/>
                    <a:pt x="211" y="209"/>
                    <a:pt x="211" y="20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Freeform 17">
              <a:extLst>
                <a:ext uri="{FF2B5EF4-FFF2-40B4-BE49-F238E27FC236}">
                  <a16:creationId xmlns:a16="http://schemas.microsoft.com/office/drawing/2014/main" id="{CBDB7E20-6486-44A2-8F65-1E916FA85B75}"/>
                </a:ext>
              </a:extLst>
            </p:cNvPr>
            <p:cNvSpPr>
              <a:spLocks noEditPoints="1"/>
            </p:cNvSpPr>
            <p:nvPr/>
          </p:nvSpPr>
          <p:spPr bwMode="auto">
            <a:xfrm>
              <a:off x="4622800" y="1965325"/>
              <a:ext cx="34925" cy="88900"/>
            </a:xfrm>
            <a:custGeom>
              <a:avLst/>
              <a:gdLst>
                <a:gd name="T0" fmla="*/ 8 w 17"/>
                <a:gd name="T1" fmla="*/ 43 h 43"/>
                <a:gd name="T2" fmla="*/ 17 w 17"/>
                <a:gd name="T3" fmla="*/ 34 h 43"/>
                <a:gd name="T4" fmla="*/ 17 w 17"/>
                <a:gd name="T5" fmla="*/ 8 h 43"/>
                <a:gd name="T6" fmla="*/ 8 w 17"/>
                <a:gd name="T7" fmla="*/ 0 h 43"/>
                <a:gd name="T8" fmla="*/ 0 w 17"/>
                <a:gd name="T9" fmla="*/ 8 h 43"/>
                <a:gd name="T10" fmla="*/ 0 w 17"/>
                <a:gd name="T11" fmla="*/ 34 h 43"/>
                <a:gd name="T12" fmla="*/ 8 w 17"/>
                <a:gd name="T13" fmla="*/ 43 h 43"/>
                <a:gd name="T14" fmla="*/ 8 w 17"/>
                <a:gd name="T15" fmla="*/ 43 h 43"/>
                <a:gd name="T16" fmla="*/ 8 w 17"/>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43">
                  <a:moveTo>
                    <a:pt x="8" y="43"/>
                  </a:moveTo>
                  <a:cubicBezTo>
                    <a:pt x="13" y="43"/>
                    <a:pt x="17" y="39"/>
                    <a:pt x="17" y="34"/>
                  </a:cubicBezTo>
                  <a:cubicBezTo>
                    <a:pt x="17" y="8"/>
                    <a:pt x="17" y="8"/>
                    <a:pt x="17" y="8"/>
                  </a:cubicBezTo>
                  <a:cubicBezTo>
                    <a:pt x="17" y="4"/>
                    <a:pt x="13" y="0"/>
                    <a:pt x="8" y="0"/>
                  </a:cubicBezTo>
                  <a:cubicBezTo>
                    <a:pt x="4" y="0"/>
                    <a:pt x="0" y="4"/>
                    <a:pt x="0" y="8"/>
                  </a:cubicBezTo>
                  <a:cubicBezTo>
                    <a:pt x="0" y="34"/>
                    <a:pt x="0" y="34"/>
                    <a:pt x="0" y="34"/>
                  </a:cubicBezTo>
                  <a:cubicBezTo>
                    <a:pt x="0" y="39"/>
                    <a:pt x="4" y="43"/>
                    <a:pt x="8" y="43"/>
                  </a:cubicBezTo>
                  <a:close/>
                  <a:moveTo>
                    <a:pt x="8" y="43"/>
                  </a:moveTo>
                  <a:cubicBezTo>
                    <a:pt x="8" y="43"/>
                    <a:pt x="8" y="43"/>
                    <a:pt x="8" y="4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 name="Freeform 18">
              <a:extLst>
                <a:ext uri="{FF2B5EF4-FFF2-40B4-BE49-F238E27FC236}">
                  <a16:creationId xmlns:a16="http://schemas.microsoft.com/office/drawing/2014/main" id="{5C822BC3-24AD-4CD7-A22F-8E7FC79A2BC5}"/>
                </a:ext>
              </a:extLst>
            </p:cNvPr>
            <p:cNvSpPr>
              <a:spLocks noEditPoints="1"/>
            </p:cNvSpPr>
            <p:nvPr/>
          </p:nvSpPr>
          <p:spPr bwMode="auto">
            <a:xfrm>
              <a:off x="4419600" y="2016125"/>
              <a:ext cx="66675" cy="84138"/>
            </a:xfrm>
            <a:custGeom>
              <a:avLst/>
              <a:gdLst>
                <a:gd name="T0" fmla="*/ 16 w 33"/>
                <a:gd name="T1" fmla="*/ 36 h 41"/>
                <a:gd name="T2" fmla="*/ 23 w 33"/>
                <a:gd name="T3" fmla="*/ 41 h 41"/>
                <a:gd name="T4" fmla="*/ 27 w 33"/>
                <a:gd name="T5" fmla="*/ 39 h 41"/>
                <a:gd name="T6" fmla="*/ 31 w 33"/>
                <a:gd name="T7" fmla="*/ 28 h 41"/>
                <a:gd name="T8" fmla="*/ 18 w 33"/>
                <a:gd name="T9" fmla="*/ 5 h 41"/>
                <a:gd name="T10" fmla="*/ 6 w 33"/>
                <a:gd name="T11" fmla="*/ 2 h 41"/>
                <a:gd name="T12" fmla="*/ 3 w 33"/>
                <a:gd name="T13" fmla="*/ 14 h 41"/>
                <a:gd name="T14" fmla="*/ 16 w 33"/>
                <a:gd name="T15" fmla="*/ 36 h 41"/>
                <a:gd name="T16" fmla="*/ 16 w 33"/>
                <a:gd name="T17" fmla="*/ 36 h 41"/>
                <a:gd name="T18" fmla="*/ 16 w 33"/>
                <a:gd name="T19" fmla="*/ 3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16" y="36"/>
                  </a:moveTo>
                  <a:cubicBezTo>
                    <a:pt x="17" y="39"/>
                    <a:pt x="20" y="41"/>
                    <a:pt x="23" y="41"/>
                  </a:cubicBezTo>
                  <a:cubicBezTo>
                    <a:pt x="24" y="41"/>
                    <a:pt x="26" y="40"/>
                    <a:pt x="27" y="39"/>
                  </a:cubicBezTo>
                  <a:cubicBezTo>
                    <a:pt x="31" y="37"/>
                    <a:pt x="33" y="32"/>
                    <a:pt x="31" y="28"/>
                  </a:cubicBezTo>
                  <a:cubicBezTo>
                    <a:pt x="18" y="5"/>
                    <a:pt x="18" y="5"/>
                    <a:pt x="18" y="5"/>
                  </a:cubicBezTo>
                  <a:cubicBezTo>
                    <a:pt x="15" y="1"/>
                    <a:pt x="10" y="0"/>
                    <a:pt x="6" y="2"/>
                  </a:cubicBezTo>
                  <a:cubicBezTo>
                    <a:pt x="2" y="4"/>
                    <a:pt x="0" y="10"/>
                    <a:pt x="3" y="14"/>
                  </a:cubicBezTo>
                  <a:lnTo>
                    <a:pt x="16" y="36"/>
                  </a:lnTo>
                  <a:close/>
                  <a:moveTo>
                    <a:pt x="16" y="36"/>
                  </a:moveTo>
                  <a:cubicBezTo>
                    <a:pt x="16" y="36"/>
                    <a:pt x="16" y="36"/>
                    <a:pt x="16"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Freeform 19">
              <a:extLst>
                <a:ext uri="{FF2B5EF4-FFF2-40B4-BE49-F238E27FC236}">
                  <a16:creationId xmlns:a16="http://schemas.microsoft.com/office/drawing/2014/main" id="{9184321D-FF24-4512-9ADF-F7EDF7622899}"/>
                </a:ext>
              </a:extLst>
            </p:cNvPr>
            <p:cNvSpPr>
              <a:spLocks noEditPoints="1"/>
            </p:cNvSpPr>
            <p:nvPr/>
          </p:nvSpPr>
          <p:spPr bwMode="auto">
            <a:xfrm>
              <a:off x="4273550" y="2162175"/>
              <a:ext cx="85725" cy="65088"/>
            </a:xfrm>
            <a:custGeom>
              <a:avLst/>
              <a:gdLst>
                <a:gd name="T0" fmla="*/ 37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7 w 42"/>
                <a:gd name="T15" fmla="*/ 15 h 31"/>
                <a:gd name="T16" fmla="*/ 37 w 42"/>
                <a:gd name="T17" fmla="*/ 15 h 31"/>
                <a:gd name="T18" fmla="*/ 37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7" y="15"/>
                  </a:moveTo>
                  <a:cubicBezTo>
                    <a:pt x="14" y="2"/>
                    <a:pt x="14" y="2"/>
                    <a:pt x="14" y="2"/>
                  </a:cubicBezTo>
                  <a:cubicBezTo>
                    <a:pt x="10" y="0"/>
                    <a:pt x="5" y="1"/>
                    <a:pt x="2" y="5"/>
                  </a:cubicBezTo>
                  <a:cubicBezTo>
                    <a:pt x="0" y="10"/>
                    <a:pt x="1" y="15"/>
                    <a:pt x="5" y="17"/>
                  </a:cubicBezTo>
                  <a:cubicBezTo>
                    <a:pt x="28" y="30"/>
                    <a:pt x="28" y="30"/>
                    <a:pt x="28" y="30"/>
                  </a:cubicBezTo>
                  <a:cubicBezTo>
                    <a:pt x="29" y="31"/>
                    <a:pt x="31" y="31"/>
                    <a:pt x="32" y="31"/>
                  </a:cubicBezTo>
                  <a:cubicBezTo>
                    <a:pt x="35" y="31"/>
                    <a:pt x="38" y="30"/>
                    <a:pt x="40" y="27"/>
                  </a:cubicBezTo>
                  <a:cubicBezTo>
                    <a:pt x="42" y="23"/>
                    <a:pt x="41" y="18"/>
                    <a:pt x="37" y="15"/>
                  </a:cubicBezTo>
                  <a:close/>
                  <a:moveTo>
                    <a:pt x="37" y="15"/>
                  </a:moveTo>
                  <a:cubicBezTo>
                    <a:pt x="37" y="15"/>
                    <a:pt x="37" y="15"/>
                    <a:pt x="37"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Freeform 20">
              <a:extLst>
                <a:ext uri="{FF2B5EF4-FFF2-40B4-BE49-F238E27FC236}">
                  <a16:creationId xmlns:a16="http://schemas.microsoft.com/office/drawing/2014/main" id="{106828AF-1120-4BA4-91E1-9295F98D5FCE}"/>
                </a:ext>
              </a:extLst>
            </p:cNvPr>
            <p:cNvSpPr>
              <a:spLocks noEditPoints="1"/>
            </p:cNvSpPr>
            <p:nvPr/>
          </p:nvSpPr>
          <p:spPr bwMode="auto">
            <a:xfrm>
              <a:off x="4221163" y="2366963"/>
              <a:ext cx="88900" cy="34925"/>
            </a:xfrm>
            <a:custGeom>
              <a:avLst/>
              <a:gdLst>
                <a:gd name="T0" fmla="*/ 43 w 43"/>
                <a:gd name="T1" fmla="*/ 8 h 17"/>
                <a:gd name="T2" fmla="*/ 35 w 43"/>
                <a:gd name="T3" fmla="*/ 0 h 17"/>
                <a:gd name="T4" fmla="*/ 9 w 43"/>
                <a:gd name="T5" fmla="*/ 0 h 17"/>
                <a:gd name="T6" fmla="*/ 0 w 43"/>
                <a:gd name="T7" fmla="*/ 8 h 17"/>
                <a:gd name="T8" fmla="*/ 9 w 43"/>
                <a:gd name="T9" fmla="*/ 17 h 17"/>
                <a:gd name="T10" fmla="*/ 35 w 43"/>
                <a:gd name="T11" fmla="*/ 17 h 17"/>
                <a:gd name="T12" fmla="*/ 43 w 43"/>
                <a:gd name="T13" fmla="*/ 8 h 17"/>
                <a:gd name="T14" fmla="*/ 43 w 43"/>
                <a:gd name="T15" fmla="*/ 8 h 17"/>
                <a:gd name="T16" fmla="*/ 43 w 43"/>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43" y="8"/>
                  </a:moveTo>
                  <a:cubicBezTo>
                    <a:pt x="43" y="3"/>
                    <a:pt x="39" y="0"/>
                    <a:pt x="35" y="0"/>
                  </a:cubicBezTo>
                  <a:cubicBezTo>
                    <a:pt x="9" y="0"/>
                    <a:pt x="9" y="0"/>
                    <a:pt x="9" y="0"/>
                  </a:cubicBezTo>
                  <a:cubicBezTo>
                    <a:pt x="4" y="0"/>
                    <a:pt x="0" y="3"/>
                    <a:pt x="0" y="8"/>
                  </a:cubicBezTo>
                  <a:cubicBezTo>
                    <a:pt x="0" y="13"/>
                    <a:pt x="4" y="17"/>
                    <a:pt x="9" y="17"/>
                  </a:cubicBezTo>
                  <a:cubicBezTo>
                    <a:pt x="35" y="17"/>
                    <a:pt x="35" y="17"/>
                    <a:pt x="35" y="17"/>
                  </a:cubicBezTo>
                  <a:cubicBezTo>
                    <a:pt x="39" y="17"/>
                    <a:pt x="43" y="13"/>
                    <a:pt x="43" y="8"/>
                  </a:cubicBezTo>
                  <a:close/>
                  <a:moveTo>
                    <a:pt x="43" y="8"/>
                  </a:moveTo>
                  <a:cubicBezTo>
                    <a:pt x="43" y="8"/>
                    <a:pt x="43" y="8"/>
                    <a:pt x="43"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Freeform 21">
              <a:extLst>
                <a:ext uri="{FF2B5EF4-FFF2-40B4-BE49-F238E27FC236}">
                  <a16:creationId xmlns:a16="http://schemas.microsoft.com/office/drawing/2014/main" id="{CDCD69B1-8D45-4BCA-86C7-ABBA9125F47F}"/>
                </a:ext>
              </a:extLst>
            </p:cNvPr>
            <p:cNvSpPr>
              <a:spLocks noEditPoints="1"/>
            </p:cNvSpPr>
            <p:nvPr/>
          </p:nvSpPr>
          <p:spPr bwMode="auto">
            <a:xfrm>
              <a:off x="4273550" y="2538413"/>
              <a:ext cx="85725" cy="63500"/>
            </a:xfrm>
            <a:custGeom>
              <a:avLst/>
              <a:gdLst>
                <a:gd name="T0" fmla="*/ 28 w 42"/>
                <a:gd name="T1" fmla="*/ 2 h 31"/>
                <a:gd name="T2" fmla="*/ 5 w 42"/>
                <a:gd name="T3" fmla="*/ 15 h 31"/>
                <a:gd name="T4" fmla="*/ 2 w 42"/>
                <a:gd name="T5" fmla="*/ 27 h 31"/>
                <a:gd name="T6" fmla="*/ 10 w 42"/>
                <a:gd name="T7" fmla="*/ 31 h 31"/>
                <a:gd name="T8" fmla="*/ 14 w 42"/>
                <a:gd name="T9" fmla="*/ 30 h 31"/>
                <a:gd name="T10" fmla="*/ 37 w 42"/>
                <a:gd name="T11" fmla="*/ 17 h 31"/>
                <a:gd name="T12" fmla="*/ 40 w 42"/>
                <a:gd name="T13" fmla="*/ 5 h 31"/>
                <a:gd name="T14" fmla="*/ 28 w 42"/>
                <a:gd name="T15" fmla="*/ 2 h 31"/>
                <a:gd name="T16" fmla="*/ 28 w 42"/>
                <a:gd name="T17" fmla="*/ 2 h 31"/>
                <a:gd name="T18" fmla="*/ 28 w 42"/>
                <a:gd name="T19"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28" y="2"/>
                  </a:moveTo>
                  <a:cubicBezTo>
                    <a:pt x="5" y="15"/>
                    <a:pt x="5" y="15"/>
                    <a:pt x="5" y="15"/>
                  </a:cubicBezTo>
                  <a:cubicBezTo>
                    <a:pt x="1" y="18"/>
                    <a:pt x="0" y="23"/>
                    <a:pt x="2" y="27"/>
                  </a:cubicBezTo>
                  <a:cubicBezTo>
                    <a:pt x="4" y="30"/>
                    <a:pt x="7" y="31"/>
                    <a:pt x="10" y="31"/>
                  </a:cubicBezTo>
                  <a:cubicBezTo>
                    <a:pt x="11" y="31"/>
                    <a:pt x="13" y="31"/>
                    <a:pt x="14" y="30"/>
                  </a:cubicBezTo>
                  <a:cubicBezTo>
                    <a:pt x="37" y="17"/>
                    <a:pt x="37" y="17"/>
                    <a:pt x="37" y="17"/>
                  </a:cubicBezTo>
                  <a:cubicBezTo>
                    <a:pt x="41" y="15"/>
                    <a:pt x="42" y="9"/>
                    <a:pt x="40" y="5"/>
                  </a:cubicBezTo>
                  <a:cubicBezTo>
                    <a:pt x="37" y="1"/>
                    <a:pt x="32" y="0"/>
                    <a:pt x="28" y="2"/>
                  </a:cubicBezTo>
                  <a:close/>
                  <a:moveTo>
                    <a:pt x="28" y="2"/>
                  </a:moveTo>
                  <a:cubicBezTo>
                    <a:pt x="28" y="2"/>
                    <a:pt x="28" y="2"/>
                    <a:pt x="28"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0" name="Freeform 22">
              <a:extLst>
                <a:ext uri="{FF2B5EF4-FFF2-40B4-BE49-F238E27FC236}">
                  <a16:creationId xmlns:a16="http://schemas.microsoft.com/office/drawing/2014/main" id="{6DA47E67-854B-4246-99C9-ADFC63C92BC3}"/>
                </a:ext>
              </a:extLst>
            </p:cNvPr>
            <p:cNvSpPr>
              <a:spLocks noEditPoints="1"/>
            </p:cNvSpPr>
            <p:nvPr/>
          </p:nvSpPr>
          <p:spPr bwMode="auto">
            <a:xfrm>
              <a:off x="4921250" y="2538413"/>
              <a:ext cx="87313" cy="63500"/>
            </a:xfrm>
            <a:custGeom>
              <a:avLst/>
              <a:gdLst>
                <a:gd name="T0" fmla="*/ 36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6 w 42"/>
                <a:gd name="T15" fmla="*/ 15 h 31"/>
                <a:gd name="T16" fmla="*/ 36 w 42"/>
                <a:gd name="T17" fmla="*/ 15 h 31"/>
                <a:gd name="T18" fmla="*/ 36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6" y="15"/>
                  </a:moveTo>
                  <a:cubicBezTo>
                    <a:pt x="14" y="2"/>
                    <a:pt x="14" y="2"/>
                    <a:pt x="14" y="2"/>
                  </a:cubicBezTo>
                  <a:cubicBezTo>
                    <a:pt x="10" y="0"/>
                    <a:pt x="5" y="1"/>
                    <a:pt x="2" y="5"/>
                  </a:cubicBezTo>
                  <a:cubicBezTo>
                    <a:pt x="0" y="9"/>
                    <a:pt x="1" y="15"/>
                    <a:pt x="5" y="17"/>
                  </a:cubicBezTo>
                  <a:cubicBezTo>
                    <a:pt x="28" y="30"/>
                    <a:pt x="28" y="30"/>
                    <a:pt x="28" y="30"/>
                  </a:cubicBezTo>
                  <a:cubicBezTo>
                    <a:pt x="29" y="31"/>
                    <a:pt x="31" y="31"/>
                    <a:pt x="32" y="31"/>
                  </a:cubicBezTo>
                  <a:cubicBezTo>
                    <a:pt x="35" y="31"/>
                    <a:pt x="38" y="30"/>
                    <a:pt x="40" y="27"/>
                  </a:cubicBezTo>
                  <a:cubicBezTo>
                    <a:pt x="42" y="23"/>
                    <a:pt x="41" y="18"/>
                    <a:pt x="36" y="15"/>
                  </a:cubicBezTo>
                  <a:close/>
                  <a:moveTo>
                    <a:pt x="36" y="15"/>
                  </a:moveTo>
                  <a:cubicBezTo>
                    <a:pt x="36" y="15"/>
                    <a:pt x="36" y="15"/>
                    <a:pt x="36"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1" name="Freeform 23">
              <a:extLst>
                <a:ext uri="{FF2B5EF4-FFF2-40B4-BE49-F238E27FC236}">
                  <a16:creationId xmlns:a16="http://schemas.microsoft.com/office/drawing/2014/main" id="{E414F4E9-E672-4BA7-9BDC-AA488C9257A8}"/>
                </a:ext>
              </a:extLst>
            </p:cNvPr>
            <p:cNvSpPr>
              <a:spLocks noEditPoints="1"/>
            </p:cNvSpPr>
            <p:nvPr/>
          </p:nvSpPr>
          <p:spPr bwMode="auto">
            <a:xfrm>
              <a:off x="4970463" y="2366963"/>
              <a:ext cx="88900" cy="34925"/>
            </a:xfrm>
            <a:custGeom>
              <a:avLst/>
              <a:gdLst>
                <a:gd name="T0" fmla="*/ 34 w 43"/>
                <a:gd name="T1" fmla="*/ 0 h 17"/>
                <a:gd name="T2" fmla="*/ 8 w 43"/>
                <a:gd name="T3" fmla="*/ 0 h 17"/>
                <a:gd name="T4" fmla="*/ 0 w 43"/>
                <a:gd name="T5" fmla="*/ 8 h 17"/>
                <a:gd name="T6" fmla="*/ 8 w 43"/>
                <a:gd name="T7" fmla="*/ 17 h 17"/>
                <a:gd name="T8" fmla="*/ 34 w 43"/>
                <a:gd name="T9" fmla="*/ 17 h 17"/>
                <a:gd name="T10" fmla="*/ 43 w 43"/>
                <a:gd name="T11" fmla="*/ 8 h 17"/>
                <a:gd name="T12" fmla="*/ 34 w 43"/>
                <a:gd name="T13" fmla="*/ 0 h 17"/>
                <a:gd name="T14" fmla="*/ 34 w 43"/>
                <a:gd name="T15" fmla="*/ 0 h 17"/>
                <a:gd name="T16" fmla="*/ 34 w 43"/>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34" y="0"/>
                  </a:moveTo>
                  <a:cubicBezTo>
                    <a:pt x="8" y="0"/>
                    <a:pt x="8" y="0"/>
                    <a:pt x="8" y="0"/>
                  </a:cubicBezTo>
                  <a:cubicBezTo>
                    <a:pt x="4" y="0"/>
                    <a:pt x="0" y="3"/>
                    <a:pt x="0" y="8"/>
                  </a:cubicBezTo>
                  <a:cubicBezTo>
                    <a:pt x="0" y="13"/>
                    <a:pt x="4" y="17"/>
                    <a:pt x="8" y="17"/>
                  </a:cubicBezTo>
                  <a:cubicBezTo>
                    <a:pt x="34" y="17"/>
                    <a:pt x="34" y="17"/>
                    <a:pt x="34" y="17"/>
                  </a:cubicBezTo>
                  <a:cubicBezTo>
                    <a:pt x="39" y="17"/>
                    <a:pt x="43" y="13"/>
                    <a:pt x="43" y="8"/>
                  </a:cubicBezTo>
                  <a:cubicBezTo>
                    <a:pt x="43" y="3"/>
                    <a:pt x="39" y="0"/>
                    <a:pt x="34" y="0"/>
                  </a:cubicBezTo>
                  <a:close/>
                  <a:moveTo>
                    <a:pt x="34" y="0"/>
                  </a:moveTo>
                  <a:cubicBezTo>
                    <a:pt x="34" y="0"/>
                    <a:pt x="34" y="0"/>
                    <a:pt x="3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Freeform 24">
              <a:extLst>
                <a:ext uri="{FF2B5EF4-FFF2-40B4-BE49-F238E27FC236}">
                  <a16:creationId xmlns:a16="http://schemas.microsoft.com/office/drawing/2014/main" id="{B2A54F1A-8473-4CD1-AB47-5AF9947F5A46}"/>
                </a:ext>
              </a:extLst>
            </p:cNvPr>
            <p:cNvSpPr>
              <a:spLocks noEditPoints="1"/>
            </p:cNvSpPr>
            <p:nvPr/>
          </p:nvSpPr>
          <p:spPr bwMode="auto">
            <a:xfrm>
              <a:off x="4921250" y="2162175"/>
              <a:ext cx="87313" cy="65088"/>
            </a:xfrm>
            <a:custGeom>
              <a:avLst/>
              <a:gdLst>
                <a:gd name="T0" fmla="*/ 10 w 42"/>
                <a:gd name="T1" fmla="*/ 31 h 31"/>
                <a:gd name="T2" fmla="*/ 14 w 42"/>
                <a:gd name="T3" fmla="*/ 30 h 31"/>
                <a:gd name="T4" fmla="*/ 36 w 42"/>
                <a:gd name="T5" fmla="*/ 17 h 31"/>
                <a:gd name="T6" fmla="*/ 40 w 42"/>
                <a:gd name="T7" fmla="*/ 5 h 31"/>
                <a:gd name="T8" fmla="*/ 28 w 42"/>
                <a:gd name="T9" fmla="*/ 2 h 31"/>
                <a:gd name="T10" fmla="*/ 5 w 42"/>
                <a:gd name="T11" fmla="*/ 15 h 31"/>
                <a:gd name="T12" fmla="*/ 2 w 42"/>
                <a:gd name="T13" fmla="*/ 27 h 31"/>
                <a:gd name="T14" fmla="*/ 10 w 42"/>
                <a:gd name="T15" fmla="*/ 31 h 31"/>
                <a:gd name="T16" fmla="*/ 10 w 42"/>
                <a:gd name="T17" fmla="*/ 31 h 31"/>
                <a:gd name="T18" fmla="*/ 10 w 42"/>
                <a:gd name="T19"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10" y="31"/>
                  </a:moveTo>
                  <a:cubicBezTo>
                    <a:pt x="11" y="31"/>
                    <a:pt x="13" y="31"/>
                    <a:pt x="14" y="30"/>
                  </a:cubicBezTo>
                  <a:cubicBezTo>
                    <a:pt x="36" y="17"/>
                    <a:pt x="36" y="17"/>
                    <a:pt x="36" y="17"/>
                  </a:cubicBezTo>
                  <a:cubicBezTo>
                    <a:pt x="41" y="15"/>
                    <a:pt x="42" y="10"/>
                    <a:pt x="40" y="5"/>
                  </a:cubicBezTo>
                  <a:cubicBezTo>
                    <a:pt x="37" y="1"/>
                    <a:pt x="32" y="0"/>
                    <a:pt x="28" y="2"/>
                  </a:cubicBezTo>
                  <a:cubicBezTo>
                    <a:pt x="5" y="15"/>
                    <a:pt x="5" y="15"/>
                    <a:pt x="5" y="15"/>
                  </a:cubicBezTo>
                  <a:cubicBezTo>
                    <a:pt x="1" y="18"/>
                    <a:pt x="0" y="23"/>
                    <a:pt x="2" y="27"/>
                  </a:cubicBezTo>
                  <a:cubicBezTo>
                    <a:pt x="4" y="30"/>
                    <a:pt x="7" y="31"/>
                    <a:pt x="10" y="31"/>
                  </a:cubicBezTo>
                  <a:close/>
                  <a:moveTo>
                    <a:pt x="10" y="31"/>
                  </a:moveTo>
                  <a:cubicBezTo>
                    <a:pt x="10" y="31"/>
                    <a:pt x="10" y="31"/>
                    <a:pt x="10"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Freeform 25">
              <a:extLst>
                <a:ext uri="{FF2B5EF4-FFF2-40B4-BE49-F238E27FC236}">
                  <a16:creationId xmlns:a16="http://schemas.microsoft.com/office/drawing/2014/main" id="{C42856D0-078C-4D58-A03D-B15FA9BA8AD2}"/>
                </a:ext>
              </a:extLst>
            </p:cNvPr>
            <p:cNvSpPr>
              <a:spLocks noEditPoints="1"/>
            </p:cNvSpPr>
            <p:nvPr/>
          </p:nvSpPr>
          <p:spPr bwMode="auto">
            <a:xfrm>
              <a:off x="4794250" y="2016125"/>
              <a:ext cx="68263" cy="84138"/>
            </a:xfrm>
            <a:custGeom>
              <a:avLst/>
              <a:gdLst>
                <a:gd name="T0" fmla="*/ 6 w 33"/>
                <a:gd name="T1" fmla="*/ 39 h 41"/>
                <a:gd name="T2" fmla="*/ 10 w 33"/>
                <a:gd name="T3" fmla="*/ 41 h 41"/>
                <a:gd name="T4" fmla="*/ 17 w 33"/>
                <a:gd name="T5" fmla="*/ 36 h 41"/>
                <a:gd name="T6" fmla="*/ 30 w 33"/>
                <a:gd name="T7" fmla="*/ 14 h 41"/>
                <a:gd name="T8" fmla="*/ 27 w 33"/>
                <a:gd name="T9" fmla="*/ 2 h 41"/>
                <a:gd name="T10" fmla="*/ 15 w 33"/>
                <a:gd name="T11" fmla="*/ 5 h 41"/>
                <a:gd name="T12" fmla="*/ 2 w 33"/>
                <a:gd name="T13" fmla="*/ 28 h 41"/>
                <a:gd name="T14" fmla="*/ 6 w 33"/>
                <a:gd name="T15" fmla="*/ 39 h 41"/>
                <a:gd name="T16" fmla="*/ 6 w 33"/>
                <a:gd name="T17" fmla="*/ 39 h 41"/>
                <a:gd name="T18" fmla="*/ 6 w 33"/>
                <a:gd name="T1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6" y="39"/>
                  </a:moveTo>
                  <a:cubicBezTo>
                    <a:pt x="7" y="40"/>
                    <a:pt x="8" y="41"/>
                    <a:pt x="10" y="41"/>
                  </a:cubicBezTo>
                  <a:cubicBezTo>
                    <a:pt x="13" y="41"/>
                    <a:pt x="16" y="39"/>
                    <a:pt x="17" y="36"/>
                  </a:cubicBezTo>
                  <a:cubicBezTo>
                    <a:pt x="30" y="14"/>
                    <a:pt x="30" y="14"/>
                    <a:pt x="30" y="14"/>
                  </a:cubicBezTo>
                  <a:cubicBezTo>
                    <a:pt x="33" y="10"/>
                    <a:pt x="31" y="4"/>
                    <a:pt x="27" y="2"/>
                  </a:cubicBezTo>
                  <a:cubicBezTo>
                    <a:pt x="23" y="0"/>
                    <a:pt x="18" y="1"/>
                    <a:pt x="15" y="5"/>
                  </a:cubicBezTo>
                  <a:cubicBezTo>
                    <a:pt x="2" y="28"/>
                    <a:pt x="2" y="28"/>
                    <a:pt x="2" y="28"/>
                  </a:cubicBezTo>
                  <a:cubicBezTo>
                    <a:pt x="0" y="32"/>
                    <a:pt x="1" y="37"/>
                    <a:pt x="6" y="39"/>
                  </a:cubicBezTo>
                  <a:close/>
                  <a:moveTo>
                    <a:pt x="6" y="39"/>
                  </a:moveTo>
                  <a:cubicBezTo>
                    <a:pt x="6" y="39"/>
                    <a:pt x="6" y="39"/>
                    <a:pt x="6" y="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Freeform 26">
              <a:extLst>
                <a:ext uri="{FF2B5EF4-FFF2-40B4-BE49-F238E27FC236}">
                  <a16:creationId xmlns:a16="http://schemas.microsoft.com/office/drawing/2014/main" id="{F8E4B0AB-7F97-49A7-A8D8-CE8E14DA21B7}"/>
                </a:ext>
              </a:extLst>
            </p:cNvPr>
            <p:cNvSpPr>
              <a:spLocks noEditPoints="1"/>
            </p:cNvSpPr>
            <p:nvPr/>
          </p:nvSpPr>
          <p:spPr bwMode="auto">
            <a:xfrm>
              <a:off x="4598988" y="2233613"/>
              <a:ext cx="137117" cy="496578"/>
            </a:xfrm>
            <a:custGeom>
              <a:avLst/>
              <a:gdLst>
                <a:gd name="T0" fmla="*/ 9 w 41"/>
                <a:gd name="T1" fmla="*/ 125 h 135"/>
                <a:gd name="T2" fmla="*/ 20 w 41"/>
                <a:gd name="T3" fmla="*/ 135 h 135"/>
                <a:gd name="T4" fmla="*/ 32 w 41"/>
                <a:gd name="T5" fmla="*/ 125 h 135"/>
                <a:gd name="T6" fmla="*/ 40 w 41"/>
                <a:gd name="T7" fmla="*/ 64 h 135"/>
                <a:gd name="T8" fmla="*/ 41 w 41"/>
                <a:gd name="T9" fmla="*/ 51 h 135"/>
                <a:gd name="T10" fmla="*/ 41 w 41"/>
                <a:gd name="T11" fmla="*/ 21 h 135"/>
                <a:gd name="T12" fmla="*/ 20 w 41"/>
                <a:gd name="T13" fmla="*/ 0 h 135"/>
                <a:gd name="T14" fmla="*/ 0 w 41"/>
                <a:gd name="T15" fmla="*/ 21 h 135"/>
                <a:gd name="T16" fmla="*/ 0 w 41"/>
                <a:gd name="T17" fmla="*/ 51 h 135"/>
                <a:gd name="T18" fmla="*/ 1 w 41"/>
                <a:gd name="T19" fmla="*/ 64 h 135"/>
                <a:gd name="T20" fmla="*/ 9 w 41"/>
                <a:gd name="T21" fmla="*/ 125 h 135"/>
                <a:gd name="T22" fmla="*/ 9 w 41"/>
                <a:gd name="T23" fmla="*/ 125 h 135"/>
                <a:gd name="T24" fmla="*/ 9 w 41"/>
                <a:gd name="T25" fmla="*/ 12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135">
                  <a:moveTo>
                    <a:pt x="9" y="125"/>
                  </a:moveTo>
                  <a:cubicBezTo>
                    <a:pt x="10" y="133"/>
                    <a:pt x="14" y="135"/>
                    <a:pt x="20" y="135"/>
                  </a:cubicBezTo>
                  <a:cubicBezTo>
                    <a:pt x="27" y="135"/>
                    <a:pt x="31" y="133"/>
                    <a:pt x="32" y="125"/>
                  </a:cubicBezTo>
                  <a:cubicBezTo>
                    <a:pt x="40" y="64"/>
                    <a:pt x="40" y="64"/>
                    <a:pt x="40" y="64"/>
                  </a:cubicBezTo>
                  <a:cubicBezTo>
                    <a:pt x="41" y="60"/>
                    <a:pt x="41" y="55"/>
                    <a:pt x="41" y="51"/>
                  </a:cubicBezTo>
                  <a:cubicBezTo>
                    <a:pt x="41" y="21"/>
                    <a:pt x="41" y="21"/>
                    <a:pt x="41" y="21"/>
                  </a:cubicBezTo>
                  <a:cubicBezTo>
                    <a:pt x="41" y="7"/>
                    <a:pt x="34" y="0"/>
                    <a:pt x="20" y="0"/>
                  </a:cubicBezTo>
                  <a:cubicBezTo>
                    <a:pt x="7" y="0"/>
                    <a:pt x="0" y="7"/>
                    <a:pt x="0" y="21"/>
                  </a:cubicBezTo>
                  <a:cubicBezTo>
                    <a:pt x="0" y="51"/>
                    <a:pt x="0" y="51"/>
                    <a:pt x="0" y="51"/>
                  </a:cubicBezTo>
                  <a:cubicBezTo>
                    <a:pt x="0" y="55"/>
                    <a:pt x="0" y="60"/>
                    <a:pt x="1" y="64"/>
                  </a:cubicBezTo>
                  <a:lnTo>
                    <a:pt x="9" y="125"/>
                  </a:lnTo>
                  <a:close/>
                  <a:moveTo>
                    <a:pt x="9" y="125"/>
                  </a:moveTo>
                  <a:cubicBezTo>
                    <a:pt x="9" y="125"/>
                    <a:pt x="9" y="125"/>
                    <a:pt x="9" y="1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5" name="Freeform 27">
              <a:extLst>
                <a:ext uri="{FF2B5EF4-FFF2-40B4-BE49-F238E27FC236}">
                  <a16:creationId xmlns:a16="http://schemas.microsoft.com/office/drawing/2014/main" id="{7B1DE06C-39D9-4F92-B66B-58F1B0576119}"/>
                </a:ext>
              </a:extLst>
            </p:cNvPr>
            <p:cNvSpPr>
              <a:spLocks noEditPoints="1"/>
            </p:cNvSpPr>
            <p:nvPr/>
          </p:nvSpPr>
          <p:spPr bwMode="auto">
            <a:xfrm>
              <a:off x="4595813" y="2546350"/>
              <a:ext cx="88900" cy="90488"/>
            </a:xfrm>
            <a:custGeom>
              <a:avLst/>
              <a:gdLst>
                <a:gd name="T0" fmla="*/ 21 w 43"/>
                <a:gd name="T1" fmla="*/ 0 h 44"/>
                <a:gd name="T2" fmla="*/ 0 w 43"/>
                <a:gd name="T3" fmla="*/ 22 h 44"/>
                <a:gd name="T4" fmla="*/ 21 w 43"/>
                <a:gd name="T5" fmla="*/ 44 h 44"/>
                <a:gd name="T6" fmla="*/ 43 w 43"/>
                <a:gd name="T7" fmla="*/ 22 h 44"/>
                <a:gd name="T8" fmla="*/ 21 w 43"/>
                <a:gd name="T9" fmla="*/ 0 h 44"/>
                <a:gd name="T10" fmla="*/ 21 w 43"/>
                <a:gd name="T11" fmla="*/ 0 h 44"/>
                <a:gd name="T12" fmla="*/ 21 w 43"/>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3" h="44">
                  <a:moveTo>
                    <a:pt x="21" y="0"/>
                  </a:moveTo>
                  <a:cubicBezTo>
                    <a:pt x="10" y="0"/>
                    <a:pt x="0" y="10"/>
                    <a:pt x="0" y="22"/>
                  </a:cubicBezTo>
                  <a:cubicBezTo>
                    <a:pt x="0" y="34"/>
                    <a:pt x="10" y="44"/>
                    <a:pt x="21" y="44"/>
                  </a:cubicBezTo>
                  <a:cubicBezTo>
                    <a:pt x="33" y="44"/>
                    <a:pt x="43" y="34"/>
                    <a:pt x="43" y="22"/>
                  </a:cubicBezTo>
                  <a:cubicBezTo>
                    <a:pt x="43" y="10"/>
                    <a:pt x="33" y="0"/>
                    <a:pt x="21" y="0"/>
                  </a:cubicBezTo>
                  <a:close/>
                  <a:moveTo>
                    <a:pt x="21" y="0"/>
                  </a:moveTo>
                  <a:cubicBezTo>
                    <a:pt x="21" y="0"/>
                    <a:pt x="21" y="0"/>
                    <a:pt x="2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207172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8BFCEF-505F-4745-BAD9-A6B0CAA19C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0580" y="866955"/>
            <a:ext cx="4086045" cy="4086045"/>
          </a:xfrm>
          <a:prstGeom prst="rect">
            <a:avLst/>
          </a:prstGeom>
        </p:spPr>
      </p:pic>
      <p:pic>
        <p:nvPicPr>
          <p:cNvPr id="5" name="Picture 4">
            <a:extLst>
              <a:ext uri="{FF2B5EF4-FFF2-40B4-BE49-F238E27FC236}">
                <a16:creationId xmlns:a16="http://schemas.microsoft.com/office/drawing/2014/main" id="{8F721D13-9C27-4701-BE86-0B0A108EEC81}"/>
              </a:ext>
            </a:extLst>
          </p:cNvPr>
          <p:cNvPicPr>
            <a:picLocks noChangeAspect="1"/>
          </p:cNvPicPr>
          <p:nvPr/>
        </p:nvPicPr>
        <p:blipFill rotWithShape="1">
          <a:blip r:embed="rId3">
            <a:extLst>
              <a:ext uri="{28A0092B-C50C-407E-A947-70E740481C1C}">
                <a14:useLocalDpi xmlns:a14="http://schemas.microsoft.com/office/drawing/2010/main" val="0"/>
              </a:ext>
            </a:extLst>
          </a:blip>
          <a:srcRect t="5654" b="14288"/>
          <a:stretch/>
        </p:blipFill>
        <p:spPr>
          <a:xfrm>
            <a:off x="807622" y="866955"/>
            <a:ext cx="4925768" cy="3943419"/>
          </a:xfrm>
          <a:prstGeom prst="rect">
            <a:avLst/>
          </a:prstGeom>
        </p:spPr>
      </p:pic>
      <p:sp>
        <p:nvSpPr>
          <p:cNvPr id="8" name="Rectangle 7">
            <a:extLst>
              <a:ext uri="{FF2B5EF4-FFF2-40B4-BE49-F238E27FC236}">
                <a16:creationId xmlns:a16="http://schemas.microsoft.com/office/drawing/2014/main" id="{8D8370C9-F25E-4D34-A179-E9A075E48EFA}"/>
              </a:ext>
            </a:extLst>
          </p:cNvPr>
          <p:cNvSpPr/>
          <p:nvPr/>
        </p:nvSpPr>
        <p:spPr>
          <a:xfrm>
            <a:off x="164784" y="5380672"/>
            <a:ext cx="10549223" cy="1477328"/>
          </a:xfrm>
          <a:prstGeom prst="rect">
            <a:avLst/>
          </a:prstGeom>
        </p:spPr>
        <p:txBody>
          <a:bodyPr wrap="square">
            <a:spAutoFit/>
          </a:bodyPr>
          <a:lstStyle/>
          <a:p>
            <a:pPr marL="285750" indent="-285750">
              <a:buFont typeface="Arial" panose="020B0604020202020204" pitchFamily="34" charset="0"/>
              <a:buChar char="•"/>
            </a:pPr>
            <a:r>
              <a:rPr lang="en-US" dirty="0"/>
              <a:t>A significant majority </a:t>
            </a:r>
            <a:r>
              <a:rPr lang="en-US" b="1" dirty="0"/>
              <a:t>(59%) </a:t>
            </a:r>
            <a:r>
              <a:rPr lang="en-US" dirty="0"/>
              <a:t>of the customers use paperless billing, indicating a preference for digital billing methods.</a:t>
            </a:r>
            <a:endParaRPr lang="ar-EG" dirty="0"/>
          </a:p>
          <a:p>
            <a:pPr marL="285750" indent="-285750">
              <a:buFont typeface="Arial" panose="020B0604020202020204" pitchFamily="34" charset="0"/>
              <a:buChar char="•"/>
            </a:pPr>
            <a:r>
              <a:rPr lang="en-US" dirty="0"/>
              <a:t>customers using paperless billing have a significantly higher churn rate </a:t>
            </a:r>
            <a:r>
              <a:rPr lang="en-US" b="1" dirty="0"/>
              <a:t>(34%) </a:t>
            </a:r>
            <a:r>
              <a:rPr lang="en-US" dirty="0"/>
              <a:t>compared to those not using paperless billing </a:t>
            </a:r>
            <a:r>
              <a:rPr lang="en-US" b="1" dirty="0"/>
              <a:t>(16%).</a:t>
            </a:r>
          </a:p>
          <a:p>
            <a:pPr>
              <a:buFont typeface="Arial" panose="020B0604020202020204" pitchFamily="34" charset="0"/>
              <a:buChar char="•"/>
            </a:pPr>
            <a:endParaRPr lang="en-US" b="0" i="0" dirty="0">
              <a:effectLst/>
              <a:latin typeface="Inter"/>
            </a:endParaRPr>
          </a:p>
        </p:txBody>
      </p:sp>
      <p:cxnSp>
        <p:nvCxnSpPr>
          <p:cNvPr id="12" name="Straight Connector 11">
            <a:extLst>
              <a:ext uri="{FF2B5EF4-FFF2-40B4-BE49-F238E27FC236}">
                <a16:creationId xmlns:a16="http://schemas.microsoft.com/office/drawing/2014/main" id="{35CC40D0-14F6-45DC-8181-EE3968BD5B62}"/>
              </a:ext>
            </a:extLst>
          </p:cNvPr>
          <p:cNvCxnSpPr>
            <a:cxnSpLocks/>
          </p:cNvCxnSpPr>
          <p:nvPr/>
        </p:nvCxnSpPr>
        <p:spPr>
          <a:xfrm>
            <a:off x="6096000" y="866955"/>
            <a:ext cx="0" cy="3840480"/>
          </a:xfrm>
          <a:prstGeom prst="line">
            <a:avLst/>
          </a:prstGeom>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167A05EC-1872-48CE-A5E0-E2D774B64521}"/>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Paperless Billing Analysis</a:t>
            </a:r>
          </a:p>
        </p:txBody>
      </p:sp>
      <p:sp>
        <p:nvSpPr>
          <p:cNvPr id="10" name="TextBox 9">
            <a:extLst>
              <a:ext uri="{FF2B5EF4-FFF2-40B4-BE49-F238E27FC236}">
                <a16:creationId xmlns:a16="http://schemas.microsoft.com/office/drawing/2014/main" id="{8BE11BFA-E186-40A2-BC5C-3C63913BF01F}"/>
              </a:ext>
            </a:extLst>
          </p:cNvPr>
          <p:cNvSpPr txBox="1"/>
          <p:nvPr/>
        </p:nvSpPr>
        <p:spPr>
          <a:xfrm>
            <a:off x="458082" y="4965352"/>
            <a:ext cx="1404808" cy="369332"/>
          </a:xfrm>
          <a:prstGeom prst="rect">
            <a:avLst/>
          </a:prstGeom>
          <a:noFill/>
        </p:spPr>
        <p:txBody>
          <a:bodyPr wrap="none" rtlCol="0">
            <a:spAutoFit/>
          </a:bodyPr>
          <a:lstStyle/>
          <a:p>
            <a:r>
              <a:rPr lang="en-US" b="1" u="sng" dirty="0"/>
              <a:t>Key Insights: </a:t>
            </a:r>
          </a:p>
        </p:txBody>
      </p:sp>
      <p:grpSp>
        <p:nvGrpSpPr>
          <p:cNvPr id="11" name="Group 10">
            <a:extLst>
              <a:ext uri="{FF2B5EF4-FFF2-40B4-BE49-F238E27FC236}">
                <a16:creationId xmlns:a16="http://schemas.microsoft.com/office/drawing/2014/main" id="{5F15DF56-9981-4353-B88B-31B0D65D0F5B}"/>
              </a:ext>
            </a:extLst>
          </p:cNvPr>
          <p:cNvGrpSpPr/>
          <p:nvPr/>
        </p:nvGrpSpPr>
        <p:grpSpPr>
          <a:xfrm>
            <a:off x="113025" y="4917165"/>
            <a:ext cx="365760" cy="365760"/>
            <a:chOff x="4221163" y="1965325"/>
            <a:chExt cx="838200" cy="927101"/>
          </a:xfrm>
          <a:solidFill>
            <a:schemeClr val="accent1"/>
          </a:solidFill>
          <a:effectLst>
            <a:glow rad="127000">
              <a:schemeClr val="bg1">
                <a:alpha val="99000"/>
              </a:schemeClr>
            </a:glow>
          </a:effectLst>
        </p:grpSpPr>
        <p:sp>
          <p:nvSpPr>
            <p:cNvPr id="13" name="Freeform 16">
              <a:extLst>
                <a:ext uri="{FF2B5EF4-FFF2-40B4-BE49-F238E27FC236}">
                  <a16:creationId xmlns:a16="http://schemas.microsoft.com/office/drawing/2014/main" id="{EF9A65AC-5639-4339-B772-B64235BFB3CE}"/>
                </a:ext>
              </a:extLst>
            </p:cNvPr>
            <p:cNvSpPr>
              <a:spLocks noEditPoints="1"/>
            </p:cNvSpPr>
            <p:nvPr/>
          </p:nvSpPr>
          <p:spPr bwMode="auto">
            <a:xfrm>
              <a:off x="4359275" y="2106613"/>
              <a:ext cx="561975" cy="785813"/>
            </a:xfrm>
            <a:custGeom>
              <a:avLst/>
              <a:gdLst>
                <a:gd name="T0" fmla="*/ 136 w 273"/>
                <a:gd name="T1" fmla="*/ 0 h 381"/>
                <a:gd name="T2" fmla="*/ 0 w 273"/>
                <a:gd name="T3" fmla="*/ 132 h 381"/>
                <a:gd name="T4" fmla="*/ 33 w 273"/>
                <a:gd name="T5" fmla="*/ 229 h 381"/>
                <a:gd name="T6" fmla="*/ 47 w 273"/>
                <a:gd name="T7" fmla="*/ 257 h 381"/>
                <a:gd name="T8" fmla="*/ 72 w 273"/>
                <a:gd name="T9" fmla="*/ 302 h 381"/>
                <a:gd name="T10" fmla="*/ 74 w 273"/>
                <a:gd name="T11" fmla="*/ 337 h 381"/>
                <a:gd name="T12" fmla="*/ 74 w 273"/>
                <a:gd name="T13" fmla="*/ 337 h 381"/>
                <a:gd name="T14" fmla="*/ 102 w 273"/>
                <a:gd name="T15" fmla="*/ 367 h 381"/>
                <a:gd name="T16" fmla="*/ 114 w 273"/>
                <a:gd name="T17" fmla="*/ 378 h 381"/>
                <a:gd name="T18" fmla="*/ 123 w 273"/>
                <a:gd name="T19" fmla="*/ 381 h 381"/>
                <a:gd name="T20" fmla="*/ 150 w 273"/>
                <a:gd name="T21" fmla="*/ 381 h 381"/>
                <a:gd name="T22" fmla="*/ 159 w 273"/>
                <a:gd name="T23" fmla="*/ 378 h 381"/>
                <a:gd name="T24" fmla="*/ 171 w 273"/>
                <a:gd name="T25" fmla="*/ 367 h 381"/>
                <a:gd name="T26" fmla="*/ 199 w 273"/>
                <a:gd name="T27" fmla="*/ 337 h 381"/>
                <a:gd name="T28" fmla="*/ 201 w 273"/>
                <a:gd name="T29" fmla="*/ 302 h 381"/>
                <a:gd name="T30" fmla="*/ 226 w 273"/>
                <a:gd name="T31" fmla="*/ 257 h 381"/>
                <a:gd name="T32" fmla="*/ 240 w 273"/>
                <a:gd name="T33" fmla="*/ 228 h 381"/>
                <a:gd name="T34" fmla="*/ 273 w 273"/>
                <a:gd name="T35" fmla="*/ 132 h 381"/>
                <a:gd name="T36" fmla="*/ 136 w 273"/>
                <a:gd name="T37" fmla="*/ 0 h 381"/>
                <a:gd name="T38" fmla="*/ 211 w 273"/>
                <a:gd name="T39" fmla="*/ 209 h 381"/>
                <a:gd name="T40" fmla="*/ 192 w 273"/>
                <a:gd name="T41" fmla="*/ 257 h 381"/>
                <a:gd name="T42" fmla="*/ 179 w 273"/>
                <a:gd name="T43" fmla="*/ 275 h 381"/>
                <a:gd name="T44" fmla="*/ 94 w 273"/>
                <a:gd name="T45" fmla="*/ 275 h 381"/>
                <a:gd name="T46" fmla="*/ 81 w 273"/>
                <a:gd name="T47" fmla="*/ 257 h 381"/>
                <a:gd name="T48" fmla="*/ 61 w 273"/>
                <a:gd name="T49" fmla="*/ 209 h 381"/>
                <a:gd name="T50" fmla="*/ 34 w 273"/>
                <a:gd name="T51" fmla="*/ 132 h 381"/>
                <a:gd name="T52" fmla="*/ 136 w 273"/>
                <a:gd name="T53" fmla="*/ 35 h 381"/>
                <a:gd name="T54" fmla="*/ 239 w 273"/>
                <a:gd name="T55" fmla="*/ 132 h 381"/>
                <a:gd name="T56" fmla="*/ 211 w 273"/>
                <a:gd name="T57" fmla="*/ 209 h 381"/>
                <a:gd name="T58" fmla="*/ 211 w 273"/>
                <a:gd name="T59" fmla="*/ 209 h 381"/>
                <a:gd name="T60" fmla="*/ 211 w 273"/>
                <a:gd name="T61" fmla="*/ 20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3" h="381">
                  <a:moveTo>
                    <a:pt x="136" y="0"/>
                  </a:moveTo>
                  <a:cubicBezTo>
                    <a:pt x="61" y="0"/>
                    <a:pt x="0" y="59"/>
                    <a:pt x="0" y="132"/>
                  </a:cubicBezTo>
                  <a:cubicBezTo>
                    <a:pt x="0" y="180"/>
                    <a:pt x="19" y="208"/>
                    <a:pt x="33" y="229"/>
                  </a:cubicBezTo>
                  <a:cubicBezTo>
                    <a:pt x="42" y="241"/>
                    <a:pt x="47" y="249"/>
                    <a:pt x="47" y="257"/>
                  </a:cubicBezTo>
                  <a:cubicBezTo>
                    <a:pt x="47" y="274"/>
                    <a:pt x="56" y="290"/>
                    <a:pt x="72" y="302"/>
                  </a:cubicBezTo>
                  <a:cubicBezTo>
                    <a:pt x="73" y="312"/>
                    <a:pt x="74" y="337"/>
                    <a:pt x="74" y="337"/>
                  </a:cubicBezTo>
                  <a:cubicBezTo>
                    <a:pt x="74" y="337"/>
                    <a:pt x="74" y="337"/>
                    <a:pt x="74" y="337"/>
                  </a:cubicBezTo>
                  <a:cubicBezTo>
                    <a:pt x="74" y="344"/>
                    <a:pt x="78" y="359"/>
                    <a:pt x="102" y="367"/>
                  </a:cubicBezTo>
                  <a:cubicBezTo>
                    <a:pt x="105" y="371"/>
                    <a:pt x="109" y="375"/>
                    <a:pt x="114" y="378"/>
                  </a:cubicBezTo>
                  <a:cubicBezTo>
                    <a:pt x="116" y="380"/>
                    <a:pt x="120" y="381"/>
                    <a:pt x="123" y="381"/>
                  </a:cubicBezTo>
                  <a:cubicBezTo>
                    <a:pt x="150" y="381"/>
                    <a:pt x="150" y="381"/>
                    <a:pt x="150" y="381"/>
                  </a:cubicBezTo>
                  <a:cubicBezTo>
                    <a:pt x="153" y="381"/>
                    <a:pt x="157" y="380"/>
                    <a:pt x="159" y="378"/>
                  </a:cubicBezTo>
                  <a:cubicBezTo>
                    <a:pt x="164" y="375"/>
                    <a:pt x="168" y="371"/>
                    <a:pt x="171" y="367"/>
                  </a:cubicBezTo>
                  <a:cubicBezTo>
                    <a:pt x="195" y="359"/>
                    <a:pt x="199" y="344"/>
                    <a:pt x="199" y="337"/>
                  </a:cubicBezTo>
                  <a:cubicBezTo>
                    <a:pt x="199" y="337"/>
                    <a:pt x="200" y="312"/>
                    <a:pt x="201" y="302"/>
                  </a:cubicBezTo>
                  <a:cubicBezTo>
                    <a:pt x="217" y="290"/>
                    <a:pt x="226" y="274"/>
                    <a:pt x="226" y="257"/>
                  </a:cubicBezTo>
                  <a:cubicBezTo>
                    <a:pt x="226" y="249"/>
                    <a:pt x="231" y="241"/>
                    <a:pt x="240" y="228"/>
                  </a:cubicBezTo>
                  <a:cubicBezTo>
                    <a:pt x="254" y="208"/>
                    <a:pt x="273" y="180"/>
                    <a:pt x="273" y="132"/>
                  </a:cubicBezTo>
                  <a:cubicBezTo>
                    <a:pt x="273" y="59"/>
                    <a:pt x="212" y="0"/>
                    <a:pt x="136" y="0"/>
                  </a:cubicBezTo>
                  <a:close/>
                  <a:moveTo>
                    <a:pt x="211" y="209"/>
                  </a:moveTo>
                  <a:cubicBezTo>
                    <a:pt x="201" y="224"/>
                    <a:pt x="192" y="238"/>
                    <a:pt x="192" y="257"/>
                  </a:cubicBezTo>
                  <a:cubicBezTo>
                    <a:pt x="192" y="265"/>
                    <a:pt x="184" y="271"/>
                    <a:pt x="179" y="275"/>
                  </a:cubicBezTo>
                  <a:cubicBezTo>
                    <a:pt x="94" y="275"/>
                    <a:pt x="94" y="275"/>
                    <a:pt x="94" y="275"/>
                  </a:cubicBezTo>
                  <a:cubicBezTo>
                    <a:pt x="89" y="271"/>
                    <a:pt x="81" y="265"/>
                    <a:pt x="81" y="257"/>
                  </a:cubicBezTo>
                  <a:cubicBezTo>
                    <a:pt x="81" y="238"/>
                    <a:pt x="72" y="224"/>
                    <a:pt x="61" y="209"/>
                  </a:cubicBezTo>
                  <a:cubicBezTo>
                    <a:pt x="49" y="190"/>
                    <a:pt x="34" y="169"/>
                    <a:pt x="34" y="132"/>
                  </a:cubicBezTo>
                  <a:cubicBezTo>
                    <a:pt x="34" y="78"/>
                    <a:pt x="80" y="35"/>
                    <a:pt x="136" y="35"/>
                  </a:cubicBezTo>
                  <a:cubicBezTo>
                    <a:pt x="193" y="35"/>
                    <a:pt x="239" y="78"/>
                    <a:pt x="239" y="132"/>
                  </a:cubicBezTo>
                  <a:cubicBezTo>
                    <a:pt x="239" y="169"/>
                    <a:pt x="224" y="190"/>
                    <a:pt x="211" y="209"/>
                  </a:cubicBezTo>
                  <a:close/>
                  <a:moveTo>
                    <a:pt x="211" y="209"/>
                  </a:moveTo>
                  <a:cubicBezTo>
                    <a:pt x="211" y="209"/>
                    <a:pt x="211" y="209"/>
                    <a:pt x="211" y="20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 name="Freeform 17">
              <a:extLst>
                <a:ext uri="{FF2B5EF4-FFF2-40B4-BE49-F238E27FC236}">
                  <a16:creationId xmlns:a16="http://schemas.microsoft.com/office/drawing/2014/main" id="{95192BB3-CD32-4AB0-8E8D-DD94E932819C}"/>
                </a:ext>
              </a:extLst>
            </p:cNvPr>
            <p:cNvSpPr>
              <a:spLocks noEditPoints="1"/>
            </p:cNvSpPr>
            <p:nvPr/>
          </p:nvSpPr>
          <p:spPr bwMode="auto">
            <a:xfrm>
              <a:off x="4622800" y="1965325"/>
              <a:ext cx="34925" cy="88900"/>
            </a:xfrm>
            <a:custGeom>
              <a:avLst/>
              <a:gdLst>
                <a:gd name="T0" fmla="*/ 8 w 17"/>
                <a:gd name="T1" fmla="*/ 43 h 43"/>
                <a:gd name="T2" fmla="*/ 17 w 17"/>
                <a:gd name="T3" fmla="*/ 34 h 43"/>
                <a:gd name="T4" fmla="*/ 17 w 17"/>
                <a:gd name="T5" fmla="*/ 8 h 43"/>
                <a:gd name="T6" fmla="*/ 8 w 17"/>
                <a:gd name="T7" fmla="*/ 0 h 43"/>
                <a:gd name="T8" fmla="*/ 0 w 17"/>
                <a:gd name="T9" fmla="*/ 8 h 43"/>
                <a:gd name="T10" fmla="*/ 0 w 17"/>
                <a:gd name="T11" fmla="*/ 34 h 43"/>
                <a:gd name="T12" fmla="*/ 8 w 17"/>
                <a:gd name="T13" fmla="*/ 43 h 43"/>
                <a:gd name="T14" fmla="*/ 8 w 17"/>
                <a:gd name="T15" fmla="*/ 43 h 43"/>
                <a:gd name="T16" fmla="*/ 8 w 17"/>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43">
                  <a:moveTo>
                    <a:pt x="8" y="43"/>
                  </a:moveTo>
                  <a:cubicBezTo>
                    <a:pt x="13" y="43"/>
                    <a:pt x="17" y="39"/>
                    <a:pt x="17" y="34"/>
                  </a:cubicBezTo>
                  <a:cubicBezTo>
                    <a:pt x="17" y="8"/>
                    <a:pt x="17" y="8"/>
                    <a:pt x="17" y="8"/>
                  </a:cubicBezTo>
                  <a:cubicBezTo>
                    <a:pt x="17" y="4"/>
                    <a:pt x="13" y="0"/>
                    <a:pt x="8" y="0"/>
                  </a:cubicBezTo>
                  <a:cubicBezTo>
                    <a:pt x="4" y="0"/>
                    <a:pt x="0" y="4"/>
                    <a:pt x="0" y="8"/>
                  </a:cubicBezTo>
                  <a:cubicBezTo>
                    <a:pt x="0" y="34"/>
                    <a:pt x="0" y="34"/>
                    <a:pt x="0" y="34"/>
                  </a:cubicBezTo>
                  <a:cubicBezTo>
                    <a:pt x="0" y="39"/>
                    <a:pt x="4" y="43"/>
                    <a:pt x="8" y="43"/>
                  </a:cubicBezTo>
                  <a:close/>
                  <a:moveTo>
                    <a:pt x="8" y="43"/>
                  </a:moveTo>
                  <a:cubicBezTo>
                    <a:pt x="8" y="43"/>
                    <a:pt x="8" y="43"/>
                    <a:pt x="8" y="4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Freeform 18">
              <a:extLst>
                <a:ext uri="{FF2B5EF4-FFF2-40B4-BE49-F238E27FC236}">
                  <a16:creationId xmlns:a16="http://schemas.microsoft.com/office/drawing/2014/main" id="{8442EFC5-F913-4A09-9684-3D65A3CF6201}"/>
                </a:ext>
              </a:extLst>
            </p:cNvPr>
            <p:cNvSpPr>
              <a:spLocks noEditPoints="1"/>
            </p:cNvSpPr>
            <p:nvPr/>
          </p:nvSpPr>
          <p:spPr bwMode="auto">
            <a:xfrm>
              <a:off x="4419600" y="2016125"/>
              <a:ext cx="66675" cy="84138"/>
            </a:xfrm>
            <a:custGeom>
              <a:avLst/>
              <a:gdLst>
                <a:gd name="T0" fmla="*/ 16 w 33"/>
                <a:gd name="T1" fmla="*/ 36 h 41"/>
                <a:gd name="T2" fmla="*/ 23 w 33"/>
                <a:gd name="T3" fmla="*/ 41 h 41"/>
                <a:gd name="T4" fmla="*/ 27 w 33"/>
                <a:gd name="T5" fmla="*/ 39 h 41"/>
                <a:gd name="T6" fmla="*/ 31 w 33"/>
                <a:gd name="T7" fmla="*/ 28 h 41"/>
                <a:gd name="T8" fmla="*/ 18 w 33"/>
                <a:gd name="T9" fmla="*/ 5 h 41"/>
                <a:gd name="T10" fmla="*/ 6 w 33"/>
                <a:gd name="T11" fmla="*/ 2 h 41"/>
                <a:gd name="T12" fmla="*/ 3 w 33"/>
                <a:gd name="T13" fmla="*/ 14 h 41"/>
                <a:gd name="T14" fmla="*/ 16 w 33"/>
                <a:gd name="T15" fmla="*/ 36 h 41"/>
                <a:gd name="T16" fmla="*/ 16 w 33"/>
                <a:gd name="T17" fmla="*/ 36 h 41"/>
                <a:gd name="T18" fmla="*/ 16 w 33"/>
                <a:gd name="T19" fmla="*/ 3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16" y="36"/>
                  </a:moveTo>
                  <a:cubicBezTo>
                    <a:pt x="17" y="39"/>
                    <a:pt x="20" y="41"/>
                    <a:pt x="23" y="41"/>
                  </a:cubicBezTo>
                  <a:cubicBezTo>
                    <a:pt x="24" y="41"/>
                    <a:pt x="26" y="40"/>
                    <a:pt x="27" y="39"/>
                  </a:cubicBezTo>
                  <a:cubicBezTo>
                    <a:pt x="31" y="37"/>
                    <a:pt x="33" y="32"/>
                    <a:pt x="31" y="28"/>
                  </a:cubicBezTo>
                  <a:cubicBezTo>
                    <a:pt x="18" y="5"/>
                    <a:pt x="18" y="5"/>
                    <a:pt x="18" y="5"/>
                  </a:cubicBezTo>
                  <a:cubicBezTo>
                    <a:pt x="15" y="1"/>
                    <a:pt x="10" y="0"/>
                    <a:pt x="6" y="2"/>
                  </a:cubicBezTo>
                  <a:cubicBezTo>
                    <a:pt x="2" y="4"/>
                    <a:pt x="0" y="10"/>
                    <a:pt x="3" y="14"/>
                  </a:cubicBezTo>
                  <a:lnTo>
                    <a:pt x="16" y="36"/>
                  </a:lnTo>
                  <a:close/>
                  <a:moveTo>
                    <a:pt x="16" y="36"/>
                  </a:moveTo>
                  <a:cubicBezTo>
                    <a:pt x="16" y="36"/>
                    <a:pt x="16" y="36"/>
                    <a:pt x="16"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 name="Freeform 19">
              <a:extLst>
                <a:ext uri="{FF2B5EF4-FFF2-40B4-BE49-F238E27FC236}">
                  <a16:creationId xmlns:a16="http://schemas.microsoft.com/office/drawing/2014/main" id="{2AB648D3-E7A8-4A55-AAC1-444C3D5AE877}"/>
                </a:ext>
              </a:extLst>
            </p:cNvPr>
            <p:cNvSpPr>
              <a:spLocks noEditPoints="1"/>
            </p:cNvSpPr>
            <p:nvPr/>
          </p:nvSpPr>
          <p:spPr bwMode="auto">
            <a:xfrm>
              <a:off x="4273550" y="2162175"/>
              <a:ext cx="85725" cy="65088"/>
            </a:xfrm>
            <a:custGeom>
              <a:avLst/>
              <a:gdLst>
                <a:gd name="T0" fmla="*/ 37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7 w 42"/>
                <a:gd name="T15" fmla="*/ 15 h 31"/>
                <a:gd name="T16" fmla="*/ 37 w 42"/>
                <a:gd name="T17" fmla="*/ 15 h 31"/>
                <a:gd name="T18" fmla="*/ 37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7" y="15"/>
                  </a:moveTo>
                  <a:cubicBezTo>
                    <a:pt x="14" y="2"/>
                    <a:pt x="14" y="2"/>
                    <a:pt x="14" y="2"/>
                  </a:cubicBezTo>
                  <a:cubicBezTo>
                    <a:pt x="10" y="0"/>
                    <a:pt x="5" y="1"/>
                    <a:pt x="2" y="5"/>
                  </a:cubicBezTo>
                  <a:cubicBezTo>
                    <a:pt x="0" y="10"/>
                    <a:pt x="1" y="15"/>
                    <a:pt x="5" y="17"/>
                  </a:cubicBezTo>
                  <a:cubicBezTo>
                    <a:pt x="28" y="30"/>
                    <a:pt x="28" y="30"/>
                    <a:pt x="28" y="30"/>
                  </a:cubicBezTo>
                  <a:cubicBezTo>
                    <a:pt x="29" y="31"/>
                    <a:pt x="31" y="31"/>
                    <a:pt x="32" y="31"/>
                  </a:cubicBezTo>
                  <a:cubicBezTo>
                    <a:pt x="35" y="31"/>
                    <a:pt x="38" y="30"/>
                    <a:pt x="40" y="27"/>
                  </a:cubicBezTo>
                  <a:cubicBezTo>
                    <a:pt x="42" y="23"/>
                    <a:pt x="41" y="18"/>
                    <a:pt x="37" y="15"/>
                  </a:cubicBezTo>
                  <a:close/>
                  <a:moveTo>
                    <a:pt x="37" y="15"/>
                  </a:moveTo>
                  <a:cubicBezTo>
                    <a:pt x="37" y="15"/>
                    <a:pt x="37" y="15"/>
                    <a:pt x="37"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Freeform 20">
              <a:extLst>
                <a:ext uri="{FF2B5EF4-FFF2-40B4-BE49-F238E27FC236}">
                  <a16:creationId xmlns:a16="http://schemas.microsoft.com/office/drawing/2014/main" id="{1EB4E6E7-167A-4552-AC86-9620E9A9EA87}"/>
                </a:ext>
              </a:extLst>
            </p:cNvPr>
            <p:cNvSpPr>
              <a:spLocks noEditPoints="1"/>
            </p:cNvSpPr>
            <p:nvPr/>
          </p:nvSpPr>
          <p:spPr bwMode="auto">
            <a:xfrm>
              <a:off x="4221163" y="2366963"/>
              <a:ext cx="88900" cy="34925"/>
            </a:xfrm>
            <a:custGeom>
              <a:avLst/>
              <a:gdLst>
                <a:gd name="T0" fmla="*/ 43 w 43"/>
                <a:gd name="T1" fmla="*/ 8 h 17"/>
                <a:gd name="T2" fmla="*/ 35 w 43"/>
                <a:gd name="T3" fmla="*/ 0 h 17"/>
                <a:gd name="T4" fmla="*/ 9 w 43"/>
                <a:gd name="T5" fmla="*/ 0 h 17"/>
                <a:gd name="T6" fmla="*/ 0 w 43"/>
                <a:gd name="T7" fmla="*/ 8 h 17"/>
                <a:gd name="T8" fmla="*/ 9 w 43"/>
                <a:gd name="T9" fmla="*/ 17 h 17"/>
                <a:gd name="T10" fmla="*/ 35 w 43"/>
                <a:gd name="T11" fmla="*/ 17 h 17"/>
                <a:gd name="T12" fmla="*/ 43 w 43"/>
                <a:gd name="T13" fmla="*/ 8 h 17"/>
                <a:gd name="T14" fmla="*/ 43 w 43"/>
                <a:gd name="T15" fmla="*/ 8 h 17"/>
                <a:gd name="T16" fmla="*/ 43 w 43"/>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43" y="8"/>
                  </a:moveTo>
                  <a:cubicBezTo>
                    <a:pt x="43" y="3"/>
                    <a:pt x="39" y="0"/>
                    <a:pt x="35" y="0"/>
                  </a:cubicBezTo>
                  <a:cubicBezTo>
                    <a:pt x="9" y="0"/>
                    <a:pt x="9" y="0"/>
                    <a:pt x="9" y="0"/>
                  </a:cubicBezTo>
                  <a:cubicBezTo>
                    <a:pt x="4" y="0"/>
                    <a:pt x="0" y="3"/>
                    <a:pt x="0" y="8"/>
                  </a:cubicBezTo>
                  <a:cubicBezTo>
                    <a:pt x="0" y="13"/>
                    <a:pt x="4" y="17"/>
                    <a:pt x="9" y="17"/>
                  </a:cubicBezTo>
                  <a:cubicBezTo>
                    <a:pt x="35" y="17"/>
                    <a:pt x="35" y="17"/>
                    <a:pt x="35" y="17"/>
                  </a:cubicBezTo>
                  <a:cubicBezTo>
                    <a:pt x="39" y="17"/>
                    <a:pt x="43" y="13"/>
                    <a:pt x="43" y="8"/>
                  </a:cubicBezTo>
                  <a:close/>
                  <a:moveTo>
                    <a:pt x="43" y="8"/>
                  </a:moveTo>
                  <a:cubicBezTo>
                    <a:pt x="43" y="8"/>
                    <a:pt x="43" y="8"/>
                    <a:pt x="43"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Freeform 21">
              <a:extLst>
                <a:ext uri="{FF2B5EF4-FFF2-40B4-BE49-F238E27FC236}">
                  <a16:creationId xmlns:a16="http://schemas.microsoft.com/office/drawing/2014/main" id="{6FA77AA2-EF31-40C1-96A8-654DE460D8AA}"/>
                </a:ext>
              </a:extLst>
            </p:cNvPr>
            <p:cNvSpPr>
              <a:spLocks noEditPoints="1"/>
            </p:cNvSpPr>
            <p:nvPr/>
          </p:nvSpPr>
          <p:spPr bwMode="auto">
            <a:xfrm>
              <a:off x="4273550" y="2538413"/>
              <a:ext cx="85725" cy="63500"/>
            </a:xfrm>
            <a:custGeom>
              <a:avLst/>
              <a:gdLst>
                <a:gd name="T0" fmla="*/ 28 w 42"/>
                <a:gd name="T1" fmla="*/ 2 h 31"/>
                <a:gd name="T2" fmla="*/ 5 w 42"/>
                <a:gd name="T3" fmla="*/ 15 h 31"/>
                <a:gd name="T4" fmla="*/ 2 w 42"/>
                <a:gd name="T5" fmla="*/ 27 h 31"/>
                <a:gd name="T6" fmla="*/ 10 w 42"/>
                <a:gd name="T7" fmla="*/ 31 h 31"/>
                <a:gd name="T8" fmla="*/ 14 w 42"/>
                <a:gd name="T9" fmla="*/ 30 h 31"/>
                <a:gd name="T10" fmla="*/ 37 w 42"/>
                <a:gd name="T11" fmla="*/ 17 h 31"/>
                <a:gd name="T12" fmla="*/ 40 w 42"/>
                <a:gd name="T13" fmla="*/ 5 h 31"/>
                <a:gd name="T14" fmla="*/ 28 w 42"/>
                <a:gd name="T15" fmla="*/ 2 h 31"/>
                <a:gd name="T16" fmla="*/ 28 w 42"/>
                <a:gd name="T17" fmla="*/ 2 h 31"/>
                <a:gd name="T18" fmla="*/ 28 w 42"/>
                <a:gd name="T19"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28" y="2"/>
                  </a:moveTo>
                  <a:cubicBezTo>
                    <a:pt x="5" y="15"/>
                    <a:pt x="5" y="15"/>
                    <a:pt x="5" y="15"/>
                  </a:cubicBezTo>
                  <a:cubicBezTo>
                    <a:pt x="1" y="18"/>
                    <a:pt x="0" y="23"/>
                    <a:pt x="2" y="27"/>
                  </a:cubicBezTo>
                  <a:cubicBezTo>
                    <a:pt x="4" y="30"/>
                    <a:pt x="7" y="31"/>
                    <a:pt x="10" y="31"/>
                  </a:cubicBezTo>
                  <a:cubicBezTo>
                    <a:pt x="11" y="31"/>
                    <a:pt x="13" y="31"/>
                    <a:pt x="14" y="30"/>
                  </a:cubicBezTo>
                  <a:cubicBezTo>
                    <a:pt x="37" y="17"/>
                    <a:pt x="37" y="17"/>
                    <a:pt x="37" y="17"/>
                  </a:cubicBezTo>
                  <a:cubicBezTo>
                    <a:pt x="41" y="15"/>
                    <a:pt x="42" y="9"/>
                    <a:pt x="40" y="5"/>
                  </a:cubicBezTo>
                  <a:cubicBezTo>
                    <a:pt x="37" y="1"/>
                    <a:pt x="32" y="0"/>
                    <a:pt x="28" y="2"/>
                  </a:cubicBezTo>
                  <a:close/>
                  <a:moveTo>
                    <a:pt x="28" y="2"/>
                  </a:moveTo>
                  <a:cubicBezTo>
                    <a:pt x="28" y="2"/>
                    <a:pt x="28" y="2"/>
                    <a:pt x="28"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Freeform 22">
              <a:extLst>
                <a:ext uri="{FF2B5EF4-FFF2-40B4-BE49-F238E27FC236}">
                  <a16:creationId xmlns:a16="http://schemas.microsoft.com/office/drawing/2014/main" id="{780C04ED-0D06-4EA3-AC06-BFE599B05F2B}"/>
                </a:ext>
              </a:extLst>
            </p:cNvPr>
            <p:cNvSpPr>
              <a:spLocks noEditPoints="1"/>
            </p:cNvSpPr>
            <p:nvPr/>
          </p:nvSpPr>
          <p:spPr bwMode="auto">
            <a:xfrm>
              <a:off x="4921250" y="2538413"/>
              <a:ext cx="87313" cy="63500"/>
            </a:xfrm>
            <a:custGeom>
              <a:avLst/>
              <a:gdLst>
                <a:gd name="T0" fmla="*/ 36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6 w 42"/>
                <a:gd name="T15" fmla="*/ 15 h 31"/>
                <a:gd name="T16" fmla="*/ 36 w 42"/>
                <a:gd name="T17" fmla="*/ 15 h 31"/>
                <a:gd name="T18" fmla="*/ 36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6" y="15"/>
                  </a:moveTo>
                  <a:cubicBezTo>
                    <a:pt x="14" y="2"/>
                    <a:pt x="14" y="2"/>
                    <a:pt x="14" y="2"/>
                  </a:cubicBezTo>
                  <a:cubicBezTo>
                    <a:pt x="10" y="0"/>
                    <a:pt x="5" y="1"/>
                    <a:pt x="2" y="5"/>
                  </a:cubicBezTo>
                  <a:cubicBezTo>
                    <a:pt x="0" y="9"/>
                    <a:pt x="1" y="15"/>
                    <a:pt x="5" y="17"/>
                  </a:cubicBezTo>
                  <a:cubicBezTo>
                    <a:pt x="28" y="30"/>
                    <a:pt x="28" y="30"/>
                    <a:pt x="28" y="30"/>
                  </a:cubicBezTo>
                  <a:cubicBezTo>
                    <a:pt x="29" y="31"/>
                    <a:pt x="31" y="31"/>
                    <a:pt x="32" y="31"/>
                  </a:cubicBezTo>
                  <a:cubicBezTo>
                    <a:pt x="35" y="31"/>
                    <a:pt x="38" y="30"/>
                    <a:pt x="40" y="27"/>
                  </a:cubicBezTo>
                  <a:cubicBezTo>
                    <a:pt x="42" y="23"/>
                    <a:pt x="41" y="18"/>
                    <a:pt x="36" y="15"/>
                  </a:cubicBezTo>
                  <a:close/>
                  <a:moveTo>
                    <a:pt x="36" y="15"/>
                  </a:moveTo>
                  <a:cubicBezTo>
                    <a:pt x="36" y="15"/>
                    <a:pt x="36" y="15"/>
                    <a:pt x="36"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0" name="Freeform 23">
              <a:extLst>
                <a:ext uri="{FF2B5EF4-FFF2-40B4-BE49-F238E27FC236}">
                  <a16:creationId xmlns:a16="http://schemas.microsoft.com/office/drawing/2014/main" id="{81AE11F3-3CCE-4F7C-A483-D313EEBB7BBD}"/>
                </a:ext>
              </a:extLst>
            </p:cNvPr>
            <p:cNvSpPr>
              <a:spLocks noEditPoints="1"/>
            </p:cNvSpPr>
            <p:nvPr/>
          </p:nvSpPr>
          <p:spPr bwMode="auto">
            <a:xfrm>
              <a:off x="4970463" y="2366963"/>
              <a:ext cx="88900" cy="34925"/>
            </a:xfrm>
            <a:custGeom>
              <a:avLst/>
              <a:gdLst>
                <a:gd name="T0" fmla="*/ 34 w 43"/>
                <a:gd name="T1" fmla="*/ 0 h 17"/>
                <a:gd name="T2" fmla="*/ 8 w 43"/>
                <a:gd name="T3" fmla="*/ 0 h 17"/>
                <a:gd name="T4" fmla="*/ 0 w 43"/>
                <a:gd name="T5" fmla="*/ 8 h 17"/>
                <a:gd name="T6" fmla="*/ 8 w 43"/>
                <a:gd name="T7" fmla="*/ 17 h 17"/>
                <a:gd name="T8" fmla="*/ 34 w 43"/>
                <a:gd name="T9" fmla="*/ 17 h 17"/>
                <a:gd name="T10" fmla="*/ 43 w 43"/>
                <a:gd name="T11" fmla="*/ 8 h 17"/>
                <a:gd name="T12" fmla="*/ 34 w 43"/>
                <a:gd name="T13" fmla="*/ 0 h 17"/>
                <a:gd name="T14" fmla="*/ 34 w 43"/>
                <a:gd name="T15" fmla="*/ 0 h 17"/>
                <a:gd name="T16" fmla="*/ 34 w 43"/>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34" y="0"/>
                  </a:moveTo>
                  <a:cubicBezTo>
                    <a:pt x="8" y="0"/>
                    <a:pt x="8" y="0"/>
                    <a:pt x="8" y="0"/>
                  </a:cubicBezTo>
                  <a:cubicBezTo>
                    <a:pt x="4" y="0"/>
                    <a:pt x="0" y="3"/>
                    <a:pt x="0" y="8"/>
                  </a:cubicBezTo>
                  <a:cubicBezTo>
                    <a:pt x="0" y="13"/>
                    <a:pt x="4" y="17"/>
                    <a:pt x="8" y="17"/>
                  </a:cubicBezTo>
                  <a:cubicBezTo>
                    <a:pt x="34" y="17"/>
                    <a:pt x="34" y="17"/>
                    <a:pt x="34" y="17"/>
                  </a:cubicBezTo>
                  <a:cubicBezTo>
                    <a:pt x="39" y="17"/>
                    <a:pt x="43" y="13"/>
                    <a:pt x="43" y="8"/>
                  </a:cubicBezTo>
                  <a:cubicBezTo>
                    <a:pt x="43" y="3"/>
                    <a:pt x="39" y="0"/>
                    <a:pt x="34" y="0"/>
                  </a:cubicBezTo>
                  <a:close/>
                  <a:moveTo>
                    <a:pt x="34" y="0"/>
                  </a:moveTo>
                  <a:cubicBezTo>
                    <a:pt x="34" y="0"/>
                    <a:pt x="34" y="0"/>
                    <a:pt x="3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1" name="Freeform 24">
              <a:extLst>
                <a:ext uri="{FF2B5EF4-FFF2-40B4-BE49-F238E27FC236}">
                  <a16:creationId xmlns:a16="http://schemas.microsoft.com/office/drawing/2014/main" id="{0096C2B1-6F18-4E12-802F-47876E9B3FA3}"/>
                </a:ext>
              </a:extLst>
            </p:cNvPr>
            <p:cNvSpPr>
              <a:spLocks noEditPoints="1"/>
            </p:cNvSpPr>
            <p:nvPr/>
          </p:nvSpPr>
          <p:spPr bwMode="auto">
            <a:xfrm>
              <a:off x="4921250" y="2162175"/>
              <a:ext cx="87313" cy="65088"/>
            </a:xfrm>
            <a:custGeom>
              <a:avLst/>
              <a:gdLst>
                <a:gd name="T0" fmla="*/ 10 w 42"/>
                <a:gd name="T1" fmla="*/ 31 h 31"/>
                <a:gd name="T2" fmla="*/ 14 w 42"/>
                <a:gd name="T3" fmla="*/ 30 h 31"/>
                <a:gd name="T4" fmla="*/ 36 w 42"/>
                <a:gd name="T5" fmla="*/ 17 h 31"/>
                <a:gd name="T6" fmla="*/ 40 w 42"/>
                <a:gd name="T7" fmla="*/ 5 h 31"/>
                <a:gd name="T8" fmla="*/ 28 w 42"/>
                <a:gd name="T9" fmla="*/ 2 h 31"/>
                <a:gd name="T10" fmla="*/ 5 w 42"/>
                <a:gd name="T11" fmla="*/ 15 h 31"/>
                <a:gd name="T12" fmla="*/ 2 w 42"/>
                <a:gd name="T13" fmla="*/ 27 h 31"/>
                <a:gd name="T14" fmla="*/ 10 w 42"/>
                <a:gd name="T15" fmla="*/ 31 h 31"/>
                <a:gd name="T16" fmla="*/ 10 w 42"/>
                <a:gd name="T17" fmla="*/ 31 h 31"/>
                <a:gd name="T18" fmla="*/ 10 w 42"/>
                <a:gd name="T19"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10" y="31"/>
                  </a:moveTo>
                  <a:cubicBezTo>
                    <a:pt x="11" y="31"/>
                    <a:pt x="13" y="31"/>
                    <a:pt x="14" y="30"/>
                  </a:cubicBezTo>
                  <a:cubicBezTo>
                    <a:pt x="36" y="17"/>
                    <a:pt x="36" y="17"/>
                    <a:pt x="36" y="17"/>
                  </a:cubicBezTo>
                  <a:cubicBezTo>
                    <a:pt x="41" y="15"/>
                    <a:pt x="42" y="10"/>
                    <a:pt x="40" y="5"/>
                  </a:cubicBezTo>
                  <a:cubicBezTo>
                    <a:pt x="37" y="1"/>
                    <a:pt x="32" y="0"/>
                    <a:pt x="28" y="2"/>
                  </a:cubicBezTo>
                  <a:cubicBezTo>
                    <a:pt x="5" y="15"/>
                    <a:pt x="5" y="15"/>
                    <a:pt x="5" y="15"/>
                  </a:cubicBezTo>
                  <a:cubicBezTo>
                    <a:pt x="1" y="18"/>
                    <a:pt x="0" y="23"/>
                    <a:pt x="2" y="27"/>
                  </a:cubicBezTo>
                  <a:cubicBezTo>
                    <a:pt x="4" y="30"/>
                    <a:pt x="7" y="31"/>
                    <a:pt x="10" y="31"/>
                  </a:cubicBezTo>
                  <a:close/>
                  <a:moveTo>
                    <a:pt x="10" y="31"/>
                  </a:moveTo>
                  <a:cubicBezTo>
                    <a:pt x="10" y="31"/>
                    <a:pt x="10" y="31"/>
                    <a:pt x="10"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Freeform 25">
              <a:extLst>
                <a:ext uri="{FF2B5EF4-FFF2-40B4-BE49-F238E27FC236}">
                  <a16:creationId xmlns:a16="http://schemas.microsoft.com/office/drawing/2014/main" id="{93D5315C-616A-4E21-ACF4-113553382EE9}"/>
                </a:ext>
              </a:extLst>
            </p:cNvPr>
            <p:cNvSpPr>
              <a:spLocks noEditPoints="1"/>
            </p:cNvSpPr>
            <p:nvPr/>
          </p:nvSpPr>
          <p:spPr bwMode="auto">
            <a:xfrm>
              <a:off x="4794250" y="2016125"/>
              <a:ext cx="68263" cy="84138"/>
            </a:xfrm>
            <a:custGeom>
              <a:avLst/>
              <a:gdLst>
                <a:gd name="T0" fmla="*/ 6 w 33"/>
                <a:gd name="T1" fmla="*/ 39 h 41"/>
                <a:gd name="T2" fmla="*/ 10 w 33"/>
                <a:gd name="T3" fmla="*/ 41 h 41"/>
                <a:gd name="T4" fmla="*/ 17 w 33"/>
                <a:gd name="T5" fmla="*/ 36 h 41"/>
                <a:gd name="T6" fmla="*/ 30 w 33"/>
                <a:gd name="T7" fmla="*/ 14 h 41"/>
                <a:gd name="T8" fmla="*/ 27 w 33"/>
                <a:gd name="T9" fmla="*/ 2 h 41"/>
                <a:gd name="T10" fmla="*/ 15 w 33"/>
                <a:gd name="T11" fmla="*/ 5 h 41"/>
                <a:gd name="T12" fmla="*/ 2 w 33"/>
                <a:gd name="T13" fmla="*/ 28 h 41"/>
                <a:gd name="T14" fmla="*/ 6 w 33"/>
                <a:gd name="T15" fmla="*/ 39 h 41"/>
                <a:gd name="T16" fmla="*/ 6 w 33"/>
                <a:gd name="T17" fmla="*/ 39 h 41"/>
                <a:gd name="T18" fmla="*/ 6 w 33"/>
                <a:gd name="T1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6" y="39"/>
                  </a:moveTo>
                  <a:cubicBezTo>
                    <a:pt x="7" y="40"/>
                    <a:pt x="8" y="41"/>
                    <a:pt x="10" y="41"/>
                  </a:cubicBezTo>
                  <a:cubicBezTo>
                    <a:pt x="13" y="41"/>
                    <a:pt x="16" y="39"/>
                    <a:pt x="17" y="36"/>
                  </a:cubicBezTo>
                  <a:cubicBezTo>
                    <a:pt x="30" y="14"/>
                    <a:pt x="30" y="14"/>
                    <a:pt x="30" y="14"/>
                  </a:cubicBezTo>
                  <a:cubicBezTo>
                    <a:pt x="33" y="10"/>
                    <a:pt x="31" y="4"/>
                    <a:pt x="27" y="2"/>
                  </a:cubicBezTo>
                  <a:cubicBezTo>
                    <a:pt x="23" y="0"/>
                    <a:pt x="18" y="1"/>
                    <a:pt x="15" y="5"/>
                  </a:cubicBezTo>
                  <a:cubicBezTo>
                    <a:pt x="2" y="28"/>
                    <a:pt x="2" y="28"/>
                    <a:pt x="2" y="28"/>
                  </a:cubicBezTo>
                  <a:cubicBezTo>
                    <a:pt x="0" y="32"/>
                    <a:pt x="1" y="37"/>
                    <a:pt x="6" y="39"/>
                  </a:cubicBezTo>
                  <a:close/>
                  <a:moveTo>
                    <a:pt x="6" y="39"/>
                  </a:moveTo>
                  <a:cubicBezTo>
                    <a:pt x="6" y="39"/>
                    <a:pt x="6" y="39"/>
                    <a:pt x="6" y="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Freeform 26">
              <a:extLst>
                <a:ext uri="{FF2B5EF4-FFF2-40B4-BE49-F238E27FC236}">
                  <a16:creationId xmlns:a16="http://schemas.microsoft.com/office/drawing/2014/main" id="{DD2F8421-040B-4708-9EB9-408D528C6BCD}"/>
                </a:ext>
              </a:extLst>
            </p:cNvPr>
            <p:cNvSpPr>
              <a:spLocks noEditPoints="1"/>
            </p:cNvSpPr>
            <p:nvPr/>
          </p:nvSpPr>
          <p:spPr bwMode="auto">
            <a:xfrm>
              <a:off x="4598988" y="2233613"/>
              <a:ext cx="137117" cy="496578"/>
            </a:xfrm>
            <a:custGeom>
              <a:avLst/>
              <a:gdLst>
                <a:gd name="T0" fmla="*/ 9 w 41"/>
                <a:gd name="T1" fmla="*/ 125 h 135"/>
                <a:gd name="T2" fmla="*/ 20 w 41"/>
                <a:gd name="T3" fmla="*/ 135 h 135"/>
                <a:gd name="T4" fmla="*/ 32 w 41"/>
                <a:gd name="T5" fmla="*/ 125 h 135"/>
                <a:gd name="T6" fmla="*/ 40 w 41"/>
                <a:gd name="T7" fmla="*/ 64 h 135"/>
                <a:gd name="T8" fmla="*/ 41 w 41"/>
                <a:gd name="T9" fmla="*/ 51 h 135"/>
                <a:gd name="T10" fmla="*/ 41 w 41"/>
                <a:gd name="T11" fmla="*/ 21 h 135"/>
                <a:gd name="T12" fmla="*/ 20 w 41"/>
                <a:gd name="T13" fmla="*/ 0 h 135"/>
                <a:gd name="T14" fmla="*/ 0 w 41"/>
                <a:gd name="T15" fmla="*/ 21 h 135"/>
                <a:gd name="T16" fmla="*/ 0 w 41"/>
                <a:gd name="T17" fmla="*/ 51 h 135"/>
                <a:gd name="T18" fmla="*/ 1 w 41"/>
                <a:gd name="T19" fmla="*/ 64 h 135"/>
                <a:gd name="T20" fmla="*/ 9 w 41"/>
                <a:gd name="T21" fmla="*/ 125 h 135"/>
                <a:gd name="T22" fmla="*/ 9 w 41"/>
                <a:gd name="T23" fmla="*/ 125 h 135"/>
                <a:gd name="T24" fmla="*/ 9 w 41"/>
                <a:gd name="T25" fmla="*/ 12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135">
                  <a:moveTo>
                    <a:pt x="9" y="125"/>
                  </a:moveTo>
                  <a:cubicBezTo>
                    <a:pt x="10" y="133"/>
                    <a:pt x="14" y="135"/>
                    <a:pt x="20" y="135"/>
                  </a:cubicBezTo>
                  <a:cubicBezTo>
                    <a:pt x="27" y="135"/>
                    <a:pt x="31" y="133"/>
                    <a:pt x="32" y="125"/>
                  </a:cubicBezTo>
                  <a:cubicBezTo>
                    <a:pt x="40" y="64"/>
                    <a:pt x="40" y="64"/>
                    <a:pt x="40" y="64"/>
                  </a:cubicBezTo>
                  <a:cubicBezTo>
                    <a:pt x="41" y="60"/>
                    <a:pt x="41" y="55"/>
                    <a:pt x="41" y="51"/>
                  </a:cubicBezTo>
                  <a:cubicBezTo>
                    <a:pt x="41" y="21"/>
                    <a:pt x="41" y="21"/>
                    <a:pt x="41" y="21"/>
                  </a:cubicBezTo>
                  <a:cubicBezTo>
                    <a:pt x="41" y="7"/>
                    <a:pt x="34" y="0"/>
                    <a:pt x="20" y="0"/>
                  </a:cubicBezTo>
                  <a:cubicBezTo>
                    <a:pt x="7" y="0"/>
                    <a:pt x="0" y="7"/>
                    <a:pt x="0" y="21"/>
                  </a:cubicBezTo>
                  <a:cubicBezTo>
                    <a:pt x="0" y="51"/>
                    <a:pt x="0" y="51"/>
                    <a:pt x="0" y="51"/>
                  </a:cubicBezTo>
                  <a:cubicBezTo>
                    <a:pt x="0" y="55"/>
                    <a:pt x="0" y="60"/>
                    <a:pt x="1" y="64"/>
                  </a:cubicBezTo>
                  <a:lnTo>
                    <a:pt x="9" y="125"/>
                  </a:lnTo>
                  <a:close/>
                  <a:moveTo>
                    <a:pt x="9" y="125"/>
                  </a:moveTo>
                  <a:cubicBezTo>
                    <a:pt x="9" y="125"/>
                    <a:pt x="9" y="125"/>
                    <a:pt x="9" y="1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Freeform 27">
              <a:extLst>
                <a:ext uri="{FF2B5EF4-FFF2-40B4-BE49-F238E27FC236}">
                  <a16:creationId xmlns:a16="http://schemas.microsoft.com/office/drawing/2014/main" id="{B07E67F8-83EC-4EEC-90D2-BDDC367C453C}"/>
                </a:ext>
              </a:extLst>
            </p:cNvPr>
            <p:cNvSpPr>
              <a:spLocks noEditPoints="1"/>
            </p:cNvSpPr>
            <p:nvPr/>
          </p:nvSpPr>
          <p:spPr bwMode="auto">
            <a:xfrm>
              <a:off x="4595813" y="2546350"/>
              <a:ext cx="88900" cy="90488"/>
            </a:xfrm>
            <a:custGeom>
              <a:avLst/>
              <a:gdLst>
                <a:gd name="T0" fmla="*/ 21 w 43"/>
                <a:gd name="T1" fmla="*/ 0 h 44"/>
                <a:gd name="T2" fmla="*/ 0 w 43"/>
                <a:gd name="T3" fmla="*/ 22 h 44"/>
                <a:gd name="T4" fmla="*/ 21 w 43"/>
                <a:gd name="T5" fmla="*/ 44 h 44"/>
                <a:gd name="T6" fmla="*/ 43 w 43"/>
                <a:gd name="T7" fmla="*/ 22 h 44"/>
                <a:gd name="T8" fmla="*/ 21 w 43"/>
                <a:gd name="T9" fmla="*/ 0 h 44"/>
                <a:gd name="T10" fmla="*/ 21 w 43"/>
                <a:gd name="T11" fmla="*/ 0 h 44"/>
                <a:gd name="T12" fmla="*/ 21 w 43"/>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3" h="44">
                  <a:moveTo>
                    <a:pt x="21" y="0"/>
                  </a:moveTo>
                  <a:cubicBezTo>
                    <a:pt x="10" y="0"/>
                    <a:pt x="0" y="10"/>
                    <a:pt x="0" y="22"/>
                  </a:cubicBezTo>
                  <a:cubicBezTo>
                    <a:pt x="0" y="34"/>
                    <a:pt x="10" y="44"/>
                    <a:pt x="21" y="44"/>
                  </a:cubicBezTo>
                  <a:cubicBezTo>
                    <a:pt x="33" y="44"/>
                    <a:pt x="43" y="34"/>
                    <a:pt x="43" y="22"/>
                  </a:cubicBezTo>
                  <a:cubicBezTo>
                    <a:pt x="43" y="10"/>
                    <a:pt x="33" y="0"/>
                    <a:pt x="21" y="0"/>
                  </a:cubicBezTo>
                  <a:close/>
                  <a:moveTo>
                    <a:pt x="21" y="0"/>
                  </a:moveTo>
                  <a:cubicBezTo>
                    <a:pt x="21" y="0"/>
                    <a:pt x="21" y="0"/>
                    <a:pt x="2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69324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13EAA5-80FD-44DC-970F-14443A68C2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3803" y="866958"/>
            <a:ext cx="3840477" cy="3840477"/>
          </a:xfrm>
          <a:prstGeom prst="rect">
            <a:avLst/>
          </a:prstGeom>
        </p:spPr>
      </p:pic>
      <p:pic>
        <p:nvPicPr>
          <p:cNvPr id="5" name="Picture 4">
            <a:extLst>
              <a:ext uri="{FF2B5EF4-FFF2-40B4-BE49-F238E27FC236}">
                <a16:creationId xmlns:a16="http://schemas.microsoft.com/office/drawing/2014/main" id="{0B232804-70EE-4FA6-B515-FE73B4EB343F}"/>
              </a:ext>
            </a:extLst>
          </p:cNvPr>
          <p:cNvPicPr>
            <a:picLocks noChangeAspect="1"/>
          </p:cNvPicPr>
          <p:nvPr/>
        </p:nvPicPr>
        <p:blipFill rotWithShape="1">
          <a:blip r:embed="rId3">
            <a:extLst>
              <a:ext uri="{28A0092B-C50C-407E-A947-70E740481C1C}">
                <a14:useLocalDpi xmlns:a14="http://schemas.microsoft.com/office/drawing/2010/main" val="0"/>
              </a:ext>
            </a:extLst>
          </a:blip>
          <a:srcRect l="4482" t="5059" b="13396"/>
          <a:stretch/>
        </p:blipFill>
        <p:spPr>
          <a:xfrm>
            <a:off x="1064894" y="866955"/>
            <a:ext cx="4374501" cy="3734546"/>
          </a:xfrm>
          <a:prstGeom prst="rect">
            <a:avLst/>
          </a:prstGeom>
        </p:spPr>
      </p:pic>
      <p:sp>
        <p:nvSpPr>
          <p:cNvPr id="8" name="Rectangle 7">
            <a:extLst>
              <a:ext uri="{FF2B5EF4-FFF2-40B4-BE49-F238E27FC236}">
                <a16:creationId xmlns:a16="http://schemas.microsoft.com/office/drawing/2014/main" id="{6DB570B7-2960-4F61-B959-7A24E7B013F1}"/>
              </a:ext>
            </a:extLst>
          </p:cNvPr>
          <p:cNvSpPr/>
          <p:nvPr/>
        </p:nvSpPr>
        <p:spPr>
          <a:xfrm>
            <a:off x="164784" y="5380672"/>
            <a:ext cx="10549223" cy="1200329"/>
          </a:xfrm>
          <a:prstGeom prst="rect">
            <a:avLst/>
          </a:prstGeom>
        </p:spPr>
        <p:txBody>
          <a:bodyPr wrap="square">
            <a:spAutoFit/>
          </a:bodyPr>
          <a:lstStyle/>
          <a:p>
            <a:pPr marL="285750" indent="-285750">
              <a:buFont typeface="Arial" panose="020B0604020202020204" pitchFamily="34" charset="0"/>
              <a:buChar char="•"/>
            </a:pPr>
            <a:r>
              <a:rPr lang="en-US" dirty="0"/>
              <a:t>Electronic check is the most commonly used payment method </a:t>
            </a:r>
            <a:r>
              <a:rPr lang="en-US" b="1" dirty="0"/>
              <a:t>(34%), </a:t>
            </a:r>
            <a:r>
              <a:rPr lang="en-US" dirty="0"/>
              <a:t>followed closely by mailed check </a:t>
            </a:r>
            <a:r>
              <a:rPr lang="en-US" b="1" dirty="0"/>
              <a:t>(23%), </a:t>
            </a:r>
            <a:r>
              <a:rPr lang="en-US" dirty="0"/>
              <a:t>bank transfer </a:t>
            </a:r>
            <a:r>
              <a:rPr lang="en-US" b="1" dirty="0"/>
              <a:t>(22%), </a:t>
            </a:r>
            <a:r>
              <a:rPr lang="en-US" dirty="0"/>
              <a:t>and credit card </a:t>
            </a:r>
            <a:r>
              <a:rPr lang="en-US" b="1" dirty="0"/>
              <a:t>(22%).</a:t>
            </a:r>
          </a:p>
          <a:p>
            <a:pPr marL="285750" indent="-285750">
              <a:buFont typeface="Arial" panose="020B0604020202020204" pitchFamily="34" charset="0"/>
              <a:buChar char="•"/>
            </a:pPr>
            <a:r>
              <a:rPr lang="en-US" dirty="0"/>
              <a:t>customers using electronic checks have a significantly higher churn rate </a:t>
            </a:r>
            <a:r>
              <a:rPr lang="en-US" b="1" dirty="0"/>
              <a:t>(45%) </a:t>
            </a:r>
            <a:r>
              <a:rPr lang="en-US" dirty="0"/>
              <a:t>compared to those using other payment methods.</a:t>
            </a:r>
            <a:endParaRPr lang="en-US" b="0" i="0" dirty="0">
              <a:effectLst/>
              <a:latin typeface="Inter"/>
            </a:endParaRPr>
          </a:p>
        </p:txBody>
      </p:sp>
      <p:cxnSp>
        <p:nvCxnSpPr>
          <p:cNvPr id="12" name="Straight Connector 11">
            <a:extLst>
              <a:ext uri="{FF2B5EF4-FFF2-40B4-BE49-F238E27FC236}">
                <a16:creationId xmlns:a16="http://schemas.microsoft.com/office/drawing/2014/main" id="{F23F7C60-74A8-4BD5-94AA-B0870905F168}"/>
              </a:ext>
            </a:extLst>
          </p:cNvPr>
          <p:cNvCxnSpPr>
            <a:cxnSpLocks/>
          </p:cNvCxnSpPr>
          <p:nvPr/>
        </p:nvCxnSpPr>
        <p:spPr>
          <a:xfrm>
            <a:off x="6096000" y="866955"/>
            <a:ext cx="0" cy="3840480"/>
          </a:xfrm>
          <a:prstGeom prst="line">
            <a:avLst/>
          </a:prstGeom>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ABB315C5-5A95-4DC7-8DD3-1F1A5A63AC8E}"/>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Payment Method Analysis</a:t>
            </a:r>
          </a:p>
        </p:txBody>
      </p:sp>
      <p:sp>
        <p:nvSpPr>
          <p:cNvPr id="10" name="TextBox 9">
            <a:extLst>
              <a:ext uri="{FF2B5EF4-FFF2-40B4-BE49-F238E27FC236}">
                <a16:creationId xmlns:a16="http://schemas.microsoft.com/office/drawing/2014/main" id="{8F5E227B-A1DD-47C1-BD3A-60C2F4937EEF}"/>
              </a:ext>
            </a:extLst>
          </p:cNvPr>
          <p:cNvSpPr txBox="1"/>
          <p:nvPr/>
        </p:nvSpPr>
        <p:spPr>
          <a:xfrm>
            <a:off x="458082" y="4965352"/>
            <a:ext cx="1404808" cy="369332"/>
          </a:xfrm>
          <a:prstGeom prst="rect">
            <a:avLst/>
          </a:prstGeom>
          <a:noFill/>
        </p:spPr>
        <p:txBody>
          <a:bodyPr wrap="none" rtlCol="0">
            <a:spAutoFit/>
          </a:bodyPr>
          <a:lstStyle/>
          <a:p>
            <a:r>
              <a:rPr lang="en-US" b="1" u="sng" dirty="0"/>
              <a:t>Key Insights: </a:t>
            </a:r>
          </a:p>
        </p:txBody>
      </p:sp>
      <p:grpSp>
        <p:nvGrpSpPr>
          <p:cNvPr id="11" name="Group 10">
            <a:extLst>
              <a:ext uri="{FF2B5EF4-FFF2-40B4-BE49-F238E27FC236}">
                <a16:creationId xmlns:a16="http://schemas.microsoft.com/office/drawing/2014/main" id="{07E4A888-7D28-486F-8ADF-F32165CFD6D3}"/>
              </a:ext>
            </a:extLst>
          </p:cNvPr>
          <p:cNvGrpSpPr/>
          <p:nvPr/>
        </p:nvGrpSpPr>
        <p:grpSpPr>
          <a:xfrm>
            <a:off x="113025" y="4917165"/>
            <a:ext cx="365760" cy="365760"/>
            <a:chOff x="4221163" y="1965325"/>
            <a:chExt cx="838200" cy="927101"/>
          </a:xfrm>
          <a:solidFill>
            <a:schemeClr val="accent1"/>
          </a:solidFill>
          <a:effectLst>
            <a:glow rad="127000">
              <a:schemeClr val="bg1">
                <a:alpha val="99000"/>
              </a:schemeClr>
            </a:glow>
          </a:effectLst>
        </p:grpSpPr>
        <p:sp>
          <p:nvSpPr>
            <p:cNvPr id="13" name="Freeform 16">
              <a:extLst>
                <a:ext uri="{FF2B5EF4-FFF2-40B4-BE49-F238E27FC236}">
                  <a16:creationId xmlns:a16="http://schemas.microsoft.com/office/drawing/2014/main" id="{DBF09C17-0454-4683-8C46-9F3BCA87980A}"/>
                </a:ext>
              </a:extLst>
            </p:cNvPr>
            <p:cNvSpPr>
              <a:spLocks noEditPoints="1"/>
            </p:cNvSpPr>
            <p:nvPr/>
          </p:nvSpPr>
          <p:spPr bwMode="auto">
            <a:xfrm>
              <a:off x="4359275" y="2106613"/>
              <a:ext cx="561975" cy="785813"/>
            </a:xfrm>
            <a:custGeom>
              <a:avLst/>
              <a:gdLst>
                <a:gd name="T0" fmla="*/ 136 w 273"/>
                <a:gd name="T1" fmla="*/ 0 h 381"/>
                <a:gd name="T2" fmla="*/ 0 w 273"/>
                <a:gd name="T3" fmla="*/ 132 h 381"/>
                <a:gd name="T4" fmla="*/ 33 w 273"/>
                <a:gd name="T5" fmla="*/ 229 h 381"/>
                <a:gd name="T6" fmla="*/ 47 w 273"/>
                <a:gd name="T7" fmla="*/ 257 h 381"/>
                <a:gd name="T8" fmla="*/ 72 w 273"/>
                <a:gd name="T9" fmla="*/ 302 h 381"/>
                <a:gd name="T10" fmla="*/ 74 w 273"/>
                <a:gd name="T11" fmla="*/ 337 h 381"/>
                <a:gd name="T12" fmla="*/ 74 w 273"/>
                <a:gd name="T13" fmla="*/ 337 h 381"/>
                <a:gd name="T14" fmla="*/ 102 w 273"/>
                <a:gd name="T15" fmla="*/ 367 h 381"/>
                <a:gd name="T16" fmla="*/ 114 w 273"/>
                <a:gd name="T17" fmla="*/ 378 h 381"/>
                <a:gd name="T18" fmla="*/ 123 w 273"/>
                <a:gd name="T19" fmla="*/ 381 h 381"/>
                <a:gd name="T20" fmla="*/ 150 w 273"/>
                <a:gd name="T21" fmla="*/ 381 h 381"/>
                <a:gd name="T22" fmla="*/ 159 w 273"/>
                <a:gd name="T23" fmla="*/ 378 h 381"/>
                <a:gd name="T24" fmla="*/ 171 w 273"/>
                <a:gd name="T25" fmla="*/ 367 h 381"/>
                <a:gd name="T26" fmla="*/ 199 w 273"/>
                <a:gd name="T27" fmla="*/ 337 h 381"/>
                <a:gd name="T28" fmla="*/ 201 w 273"/>
                <a:gd name="T29" fmla="*/ 302 h 381"/>
                <a:gd name="T30" fmla="*/ 226 w 273"/>
                <a:gd name="T31" fmla="*/ 257 h 381"/>
                <a:gd name="T32" fmla="*/ 240 w 273"/>
                <a:gd name="T33" fmla="*/ 228 h 381"/>
                <a:gd name="T34" fmla="*/ 273 w 273"/>
                <a:gd name="T35" fmla="*/ 132 h 381"/>
                <a:gd name="T36" fmla="*/ 136 w 273"/>
                <a:gd name="T37" fmla="*/ 0 h 381"/>
                <a:gd name="T38" fmla="*/ 211 w 273"/>
                <a:gd name="T39" fmla="*/ 209 h 381"/>
                <a:gd name="T40" fmla="*/ 192 w 273"/>
                <a:gd name="T41" fmla="*/ 257 h 381"/>
                <a:gd name="T42" fmla="*/ 179 w 273"/>
                <a:gd name="T43" fmla="*/ 275 h 381"/>
                <a:gd name="T44" fmla="*/ 94 w 273"/>
                <a:gd name="T45" fmla="*/ 275 h 381"/>
                <a:gd name="T46" fmla="*/ 81 w 273"/>
                <a:gd name="T47" fmla="*/ 257 h 381"/>
                <a:gd name="T48" fmla="*/ 61 w 273"/>
                <a:gd name="T49" fmla="*/ 209 h 381"/>
                <a:gd name="T50" fmla="*/ 34 w 273"/>
                <a:gd name="T51" fmla="*/ 132 h 381"/>
                <a:gd name="T52" fmla="*/ 136 w 273"/>
                <a:gd name="T53" fmla="*/ 35 h 381"/>
                <a:gd name="T54" fmla="*/ 239 w 273"/>
                <a:gd name="T55" fmla="*/ 132 h 381"/>
                <a:gd name="T56" fmla="*/ 211 w 273"/>
                <a:gd name="T57" fmla="*/ 209 h 381"/>
                <a:gd name="T58" fmla="*/ 211 w 273"/>
                <a:gd name="T59" fmla="*/ 209 h 381"/>
                <a:gd name="T60" fmla="*/ 211 w 273"/>
                <a:gd name="T61" fmla="*/ 20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3" h="381">
                  <a:moveTo>
                    <a:pt x="136" y="0"/>
                  </a:moveTo>
                  <a:cubicBezTo>
                    <a:pt x="61" y="0"/>
                    <a:pt x="0" y="59"/>
                    <a:pt x="0" y="132"/>
                  </a:cubicBezTo>
                  <a:cubicBezTo>
                    <a:pt x="0" y="180"/>
                    <a:pt x="19" y="208"/>
                    <a:pt x="33" y="229"/>
                  </a:cubicBezTo>
                  <a:cubicBezTo>
                    <a:pt x="42" y="241"/>
                    <a:pt x="47" y="249"/>
                    <a:pt x="47" y="257"/>
                  </a:cubicBezTo>
                  <a:cubicBezTo>
                    <a:pt x="47" y="274"/>
                    <a:pt x="56" y="290"/>
                    <a:pt x="72" y="302"/>
                  </a:cubicBezTo>
                  <a:cubicBezTo>
                    <a:pt x="73" y="312"/>
                    <a:pt x="74" y="337"/>
                    <a:pt x="74" y="337"/>
                  </a:cubicBezTo>
                  <a:cubicBezTo>
                    <a:pt x="74" y="337"/>
                    <a:pt x="74" y="337"/>
                    <a:pt x="74" y="337"/>
                  </a:cubicBezTo>
                  <a:cubicBezTo>
                    <a:pt x="74" y="344"/>
                    <a:pt x="78" y="359"/>
                    <a:pt x="102" y="367"/>
                  </a:cubicBezTo>
                  <a:cubicBezTo>
                    <a:pt x="105" y="371"/>
                    <a:pt x="109" y="375"/>
                    <a:pt x="114" y="378"/>
                  </a:cubicBezTo>
                  <a:cubicBezTo>
                    <a:pt x="116" y="380"/>
                    <a:pt x="120" y="381"/>
                    <a:pt x="123" y="381"/>
                  </a:cubicBezTo>
                  <a:cubicBezTo>
                    <a:pt x="150" y="381"/>
                    <a:pt x="150" y="381"/>
                    <a:pt x="150" y="381"/>
                  </a:cubicBezTo>
                  <a:cubicBezTo>
                    <a:pt x="153" y="381"/>
                    <a:pt x="157" y="380"/>
                    <a:pt x="159" y="378"/>
                  </a:cubicBezTo>
                  <a:cubicBezTo>
                    <a:pt x="164" y="375"/>
                    <a:pt x="168" y="371"/>
                    <a:pt x="171" y="367"/>
                  </a:cubicBezTo>
                  <a:cubicBezTo>
                    <a:pt x="195" y="359"/>
                    <a:pt x="199" y="344"/>
                    <a:pt x="199" y="337"/>
                  </a:cubicBezTo>
                  <a:cubicBezTo>
                    <a:pt x="199" y="337"/>
                    <a:pt x="200" y="312"/>
                    <a:pt x="201" y="302"/>
                  </a:cubicBezTo>
                  <a:cubicBezTo>
                    <a:pt x="217" y="290"/>
                    <a:pt x="226" y="274"/>
                    <a:pt x="226" y="257"/>
                  </a:cubicBezTo>
                  <a:cubicBezTo>
                    <a:pt x="226" y="249"/>
                    <a:pt x="231" y="241"/>
                    <a:pt x="240" y="228"/>
                  </a:cubicBezTo>
                  <a:cubicBezTo>
                    <a:pt x="254" y="208"/>
                    <a:pt x="273" y="180"/>
                    <a:pt x="273" y="132"/>
                  </a:cubicBezTo>
                  <a:cubicBezTo>
                    <a:pt x="273" y="59"/>
                    <a:pt x="212" y="0"/>
                    <a:pt x="136" y="0"/>
                  </a:cubicBezTo>
                  <a:close/>
                  <a:moveTo>
                    <a:pt x="211" y="209"/>
                  </a:moveTo>
                  <a:cubicBezTo>
                    <a:pt x="201" y="224"/>
                    <a:pt x="192" y="238"/>
                    <a:pt x="192" y="257"/>
                  </a:cubicBezTo>
                  <a:cubicBezTo>
                    <a:pt x="192" y="265"/>
                    <a:pt x="184" y="271"/>
                    <a:pt x="179" y="275"/>
                  </a:cubicBezTo>
                  <a:cubicBezTo>
                    <a:pt x="94" y="275"/>
                    <a:pt x="94" y="275"/>
                    <a:pt x="94" y="275"/>
                  </a:cubicBezTo>
                  <a:cubicBezTo>
                    <a:pt x="89" y="271"/>
                    <a:pt x="81" y="265"/>
                    <a:pt x="81" y="257"/>
                  </a:cubicBezTo>
                  <a:cubicBezTo>
                    <a:pt x="81" y="238"/>
                    <a:pt x="72" y="224"/>
                    <a:pt x="61" y="209"/>
                  </a:cubicBezTo>
                  <a:cubicBezTo>
                    <a:pt x="49" y="190"/>
                    <a:pt x="34" y="169"/>
                    <a:pt x="34" y="132"/>
                  </a:cubicBezTo>
                  <a:cubicBezTo>
                    <a:pt x="34" y="78"/>
                    <a:pt x="80" y="35"/>
                    <a:pt x="136" y="35"/>
                  </a:cubicBezTo>
                  <a:cubicBezTo>
                    <a:pt x="193" y="35"/>
                    <a:pt x="239" y="78"/>
                    <a:pt x="239" y="132"/>
                  </a:cubicBezTo>
                  <a:cubicBezTo>
                    <a:pt x="239" y="169"/>
                    <a:pt x="224" y="190"/>
                    <a:pt x="211" y="209"/>
                  </a:cubicBezTo>
                  <a:close/>
                  <a:moveTo>
                    <a:pt x="211" y="209"/>
                  </a:moveTo>
                  <a:cubicBezTo>
                    <a:pt x="211" y="209"/>
                    <a:pt x="211" y="209"/>
                    <a:pt x="211" y="20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 name="Freeform 17">
              <a:extLst>
                <a:ext uri="{FF2B5EF4-FFF2-40B4-BE49-F238E27FC236}">
                  <a16:creationId xmlns:a16="http://schemas.microsoft.com/office/drawing/2014/main" id="{1D516CF2-9FA1-45F4-9257-809BDE7CA05C}"/>
                </a:ext>
              </a:extLst>
            </p:cNvPr>
            <p:cNvSpPr>
              <a:spLocks noEditPoints="1"/>
            </p:cNvSpPr>
            <p:nvPr/>
          </p:nvSpPr>
          <p:spPr bwMode="auto">
            <a:xfrm>
              <a:off x="4622800" y="1965325"/>
              <a:ext cx="34925" cy="88900"/>
            </a:xfrm>
            <a:custGeom>
              <a:avLst/>
              <a:gdLst>
                <a:gd name="T0" fmla="*/ 8 w 17"/>
                <a:gd name="T1" fmla="*/ 43 h 43"/>
                <a:gd name="T2" fmla="*/ 17 w 17"/>
                <a:gd name="T3" fmla="*/ 34 h 43"/>
                <a:gd name="T4" fmla="*/ 17 w 17"/>
                <a:gd name="T5" fmla="*/ 8 h 43"/>
                <a:gd name="T6" fmla="*/ 8 w 17"/>
                <a:gd name="T7" fmla="*/ 0 h 43"/>
                <a:gd name="T8" fmla="*/ 0 w 17"/>
                <a:gd name="T9" fmla="*/ 8 h 43"/>
                <a:gd name="T10" fmla="*/ 0 w 17"/>
                <a:gd name="T11" fmla="*/ 34 h 43"/>
                <a:gd name="T12" fmla="*/ 8 w 17"/>
                <a:gd name="T13" fmla="*/ 43 h 43"/>
                <a:gd name="T14" fmla="*/ 8 w 17"/>
                <a:gd name="T15" fmla="*/ 43 h 43"/>
                <a:gd name="T16" fmla="*/ 8 w 17"/>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43">
                  <a:moveTo>
                    <a:pt x="8" y="43"/>
                  </a:moveTo>
                  <a:cubicBezTo>
                    <a:pt x="13" y="43"/>
                    <a:pt x="17" y="39"/>
                    <a:pt x="17" y="34"/>
                  </a:cubicBezTo>
                  <a:cubicBezTo>
                    <a:pt x="17" y="8"/>
                    <a:pt x="17" y="8"/>
                    <a:pt x="17" y="8"/>
                  </a:cubicBezTo>
                  <a:cubicBezTo>
                    <a:pt x="17" y="4"/>
                    <a:pt x="13" y="0"/>
                    <a:pt x="8" y="0"/>
                  </a:cubicBezTo>
                  <a:cubicBezTo>
                    <a:pt x="4" y="0"/>
                    <a:pt x="0" y="4"/>
                    <a:pt x="0" y="8"/>
                  </a:cubicBezTo>
                  <a:cubicBezTo>
                    <a:pt x="0" y="34"/>
                    <a:pt x="0" y="34"/>
                    <a:pt x="0" y="34"/>
                  </a:cubicBezTo>
                  <a:cubicBezTo>
                    <a:pt x="0" y="39"/>
                    <a:pt x="4" y="43"/>
                    <a:pt x="8" y="43"/>
                  </a:cubicBezTo>
                  <a:close/>
                  <a:moveTo>
                    <a:pt x="8" y="43"/>
                  </a:moveTo>
                  <a:cubicBezTo>
                    <a:pt x="8" y="43"/>
                    <a:pt x="8" y="43"/>
                    <a:pt x="8" y="4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Freeform 18">
              <a:extLst>
                <a:ext uri="{FF2B5EF4-FFF2-40B4-BE49-F238E27FC236}">
                  <a16:creationId xmlns:a16="http://schemas.microsoft.com/office/drawing/2014/main" id="{174230ED-0366-4913-B201-E73E61410B7D}"/>
                </a:ext>
              </a:extLst>
            </p:cNvPr>
            <p:cNvSpPr>
              <a:spLocks noEditPoints="1"/>
            </p:cNvSpPr>
            <p:nvPr/>
          </p:nvSpPr>
          <p:spPr bwMode="auto">
            <a:xfrm>
              <a:off x="4419600" y="2016125"/>
              <a:ext cx="66675" cy="84138"/>
            </a:xfrm>
            <a:custGeom>
              <a:avLst/>
              <a:gdLst>
                <a:gd name="T0" fmla="*/ 16 w 33"/>
                <a:gd name="T1" fmla="*/ 36 h 41"/>
                <a:gd name="T2" fmla="*/ 23 w 33"/>
                <a:gd name="T3" fmla="*/ 41 h 41"/>
                <a:gd name="T4" fmla="*/ 27 w 33"/>
                <a:gd name="T5" fmla="*/ 39 h 41"/>
                <a:gd name="T6" fmla="*/ 31 w 33"/>
                <a:gd name="T7" fmla="*/ 28 h 41"/>
                <a:gd name="T8" fmla="*/ 18 w 33"/>
                <a:gd name="T9" fmla="*/ 5 h 41"/>
                <a:gd name="T10" fmla="*/ 6 w 33"/>
                <a:gd name="T11" fmla="*/ 2 h 41"/>
                <a:gd name="T12" fmla="*/ 3 w 33"/>
                <a:gd name="T13" fmla="*/ 14 h 41"/>
                <a:gd name="T14" fmla="*/ 16 w 33"/>
                <a:gd name="T15" fmla="*/ 36 h 41"/>
                <a:gd name="T16" fmla="*/ 16 w 33"/>
                <a:gd name="T17" fmla="*/ 36 h 41"/>
                <a:gd name="T18" fmla="*/ 16 w 33"/>
                <a:gd name="T19" fmla="*/ 3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16" y="36"/>
                  </a:moveTo>
                  <a:cubicBezTo>
                    <a:pt x="17" y="39"/>
                    <a:pt x="20" y="41"/>
                    <a:pt x="23" y="41"/>
                  </a:cubicBezTo>
                  <a:cubicBezTo>
                    <a:pt x="24" y="41"/>
                    <a:pt x="26" y="40"/>
                    <a:pt x="27" y="39"/>
                  </a:cubicBezTo>
                  <a:cubicBezTo>
                    <a:pt x="31" y="37"/>
                    <a:pt x="33" y="32"/>
                    <a:pt x="31" y="28"/>
                  </a:cubicBezTo>
                  <a:cubicBezTo>
                    <a:pt x="18" y="5"/>
                    <a:pt x="18" y="5"/>
                    <a:pt x="18" y="5"/>
                  </a:cubicBezTo>
                  <a:cubicBezTo>
                    <a:pt x="15" y="1"/>
                    <a:pt x="10" y="0"/>
                    <a:pt x="6" y="2"/>
                  </a:cubicBezTo>
                  <a:cubicBezTo>
                    <a:pt x="2" y="4"/>
                    <a:pt x="0" y="10"/>
                    <a:pt x="3" y="14"/>
                  </a:cubicBezTo>
                  <a:lnTo>
                    <a:pt x="16" y="36"/>
                  </a:lnTo>
                  <a:close/>
                  <a:moveTo>
                    <a:pt x="16" y="36"/>
                  </a:moveTo>
                  <a:cubicBezTo>
                    <a:pt x="16" y="36"/>
                    <a:pt x="16" y="36"/>
                    <a:pt x="16"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 name="Freeform 19">
              <a:extLst>
                <a:ext uri="{FF2B5EF4-FFF2-40B4-BE49-F238E27FC236}">
                  <a16:creationId xmlns:a16="http://schemas.microsoft.com/office/drawing/2014/main" id="{945677BE-EA5F-4D7E-B382-2DFDB3A0C222}"/>
                </a:ext>
              </a:extLst>
            </p:cNvPr>
            <p:cNvSpPr>
              <a:spLocks noEditPoints="1"/>
            </p:cNvSpPr>
            <p:nvPr/>
          </p:nvSpPr>
          <p:spPr bwMode="auto">
            <a:xfrm>
              <a:off x="4273550" y="2162175"/>
              <a:ext cx="85725" cy="65088"/>
            </a:xfrm>
            <a:custGeom>
              <a:avLst/>
              <a:gdLst>
                <a:gd name="T0" fmla="*/ 37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7 w 42"/>
                <a:gd name="T15" fmla="*/ 15 h 31"/>
                <a:gd name="T16" fmla="*/ 37 w 42"/>
                <a:gd name="T17" fmla="*/ 15 h 31"/>
                <a:gd name="T18" fmla="*/ 37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7" y="15"/>
                  </a:moveTo>
                  <a:cubicBezTo>
                    <a:pt x="14" y="2"/>
                    <a:pt x="14" y="2"/>
                    <a:pt x="14" y="2"/>
                  </a:cubicBezTo>
                  <a:cubicBezTo>
                    <a:pt x="10" y="0"/>
                    <a:pt x="5" y="1"/>
                    <a:pt x="2" y="5"/>
                  </a:cubicBezTo>
                  <a:cubicBezTo>
                    <a:pt x="0" y="10"/>
                    <a:pt x="1" y="15"/>
                    <a:pt x="5" y="17"/>
                  </a:cubicBezTo>
                  <a:cubicBezTo>
                    <a:pt x="28" y="30"/>
                    <a:pt x="28" y="30"/>
                    <a:pt x="28" y="30"/>
                  </a:cubicBezTo>
                  <a:cubicBezTo>
                    <a:pt x="29" y="31"/>
                    <a:pt x="31" y="31"/>
                    <a:pt x="32" y="31"/>
                  </a:cubicBezTo>
                  <a:cubicBezTo>
                    <a:pt x="35" y="31"/>
                    <a:pt x="38" y="30"/>
                    <a:pt x="40" y="27"/>
                  </a:cubicBezTo>
                  <a:cubicBezTo>
                    <a:pt x="42" y="23"/>
                    <a:pt x="41" y="18"/>
                    <a:pt x="37" y="15"/>
                  </a:cubicBezTo>
                  <a:close/>
                  <a:moveTo>
                    <a:pt x="37" y="15"/>
                  </a:moveTo>
                  <a:cubicBezTo>
                    <a:pt x="37" y="15"/>
                    <a:pt x="37" y="15"/>
                    <a:pt x="37"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Freeform 20">
              <a:extLst>
                <a:ext uri="{FF2B5EF4-FFF2-40B4-BE49-F238E27FC236}">
                  <a16:creationId xmlns:a16="http://schemas.microsoft.com/office/drawing/2014/main" id="{381BD633-68DF-4B17-B339-88536AE20837}"/>
                </a:ext>
              </a:extLst>
            </p:cNvPr>
            <p:cNvSpPr>
              <a:spLocks noEditPoints="1"/>
            </p:cNvSpPr>
            <p:nvPr/>
          </p:nvSpPr>
          <p:spPr bwMode="auto">
            <a:xfrm>
              <a:off x="4221163" y="2366963"/>
              <a:ext cx="88900" cy="34925"/>
            </a:xfrm>
            <a:custGeom>
              <a:avLst/>
              <a:gdLst>
                <a:gd name="T0" fmla="*/ 43 w 43"/>
                <a:gd name="T1" fmla="*/ 8 h 17"/>
                <a:gd name="T2" fmla="*/ 35 w 43"/>
                <a:gd name="T3" fmla="*/ 0 h 17"/>
                <a:gd name="T4" fmla="*/ 9 w 43"/>
                <a:gd name="T5" fmla="*/ 0 h 17"/>
                <a:gd name="T6" fmla="*/ 0 w 43"/>
                <a:gd name="T7" fmla="*/ 8 h 17"/>
                <a:gd name="T8" fmla="*/ 9 w 43"/>
                <a:gd name="T9" fmla="*/ 17 h 17"/>
                <a:gd name="T10" fmla="*/ 35 w 43"/>
                <a:gd name="T11" fmla="*/ 17 h 17"/>
                <a:gd name="T12" fmla="*/ 43 w 43"/>
                <a:gd name="T13" fmla="*/ 8 h 17"/>
                <a:gd name="T14" fmla="*/ 43 w 43"/>
                <a:gd name="T15" fmla="*/ 8 h 17"/>
                <a:gd name="T16" fmla="*/ 43 w 43"/>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43" y="8"/>
                  </a:moveTo>
                  <a:cubicBezTo>
                    <a:pt x="43" y="3"/>
                    <a:pt x="39" y="0"/>
                    <a:pt x="35" y="0"/>
                  </a:cubicBezTo>
                  <a:cubicBezTo>
                    <a:pt x="9" y="0"/>
                    <a:pt x="9" y="0"/>
                    <a:pt x="9" y="0"/>
                  </a:cubicBezTo>
                  <a:cubicBezTo>
                    <a:pt x="4" y="0"/>
                    <a:pt x="0" y="3"/>
                    <a:pt x="0" y="8"/>
                  </a:cubicBezTo>
                  <a:cubicBezTo>
                    <a:pt x="0" y="13"/>
                    <a:pt x="4" y="17"/>
                    <a:pt x="9" y="17"/>
                  </a:cubicBezTo>
                  <a:cubicBezTo>
                    <a:pt x="35" y="17"/>
                    <a:pt x="35" y="17"/>
                    <a:pt x="35" y="17"/>
                  </a:cubicBezTo>
                  <a:cubicBezTo>
                    <a:pt x="39" y="17"/>
                    <a:pt x="43" y="13"/>
                    <a:pt x="43" y="8"/>
                  </a:cubicBezTo>
                  <a:close/>
                  <a:moveTo>
                    <a:pt x="43" y="8"/>
                  </a:moveTo>
                  <a:cubicBezTo>
                    <a:pt x="43" y="8"/>
                    <a:pt x="43" y="8"/>
                    <a:pt x="43"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Freeform 21">
              <a:extLst>
                <a:ext uri="{FF2B5EF4-FFF2-40B4-BE49-F238E27FC236}">
                  <a16:creationId xmlns:a16="http://schemas.microsoft.com/office/drawing/2014/main" id="{02AA1FB1-D5CB-432D-B006-C28EC7C3D341}"/>
                </a:ext>
              </a:extLst>
            </p:cNvPr>
            <p:cNvSpPr>
              <a:spLocks noEditPoints="1"/>
            </p:cNvSpPr>
            <p:nvPr/>
          </p:nvSpPr>
          <p:spPr bwMode="auto">
            <a:xfrm>
              <a:off x="4273550" y="2538413"/>
              <a:ext cx="85725" cy="63500"/>
            </a:xfrm>
            <a:custGeom>
              <a:avLst/>
              <a:gdLst>
                <a:gd name="T0" fmla="*/ 28 w 42"/>
                <a:gd name="T1" fmla="*/ 2 h 31"/>
                <a:gd name="T2" fmla="*/ 5 w 42"/>
                <a:gd name="T3" fmla="*/ 15 h 31"/>
                <a:gd name="T4" fmla="*/ 2 w 42"/>
                <a:gd name="T5" fmla="*/ 27 h 31"/>
                <a:gd name="T6" fmla="*/ 10 w 42"/>
                <a:gd name="T7" fmla="*/ 31 h 31"/>
                <a:gd name="T8" fmla="*/ 14 w 42"/>
                <a:gd name="T9" fmla="*/ 30 h 31"/>
                <a:gd name="T10" fmla="*/ 37 w 42"/>
                <a:gd name="T11" fmla="*/ 17 h 31"/>
                <a:gd name="T12" fmla="*/ 40 w 42"/>
                <a:gd name="T13" fmla="*/ 5 h 31"/>
                <a:gd name="T14" fmla="*/ 28 w 42"/>
                <a:gd name="T15" fmla="*/ 2 h 31"/>
                <a:gd name="T16" fmla="*/ 28 w 42"/>
                <a:gd name="T17" fmla="*/ 2 h 31"/>
                <a:gd name="T18" fmla="*/ 28 w 42"/>
                <a:gd name="T19"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28" y="2"/>
                  </a:moveTo>
                  <a:cubicBezTo>
                    <a:pt x="5" y="15"/>
                    <a:pt x="5" y="15"/>
                    <a:pt x="5" y="15"/>
                  </a:cubicBezTo>
                  <a:cubicBezTo>
                    <a:pt x="1" y="18"/>
                    <a:pt x="0" y="23"/>
                    <a:pt x="2" y="27"/>
                  </a:cubicBezTo>
                  <a:cubicBezTo>
                    <a:pt x="4" y="30"/>
                    <a:pt x="7" y="31"/>
                    <a:pt x="10" y="31"/>
                  </a:cubicBezTo>
                  <a:cubicBezTo>
                    <a:pt x="11" y="31"/>
                    <a:pt x="13" y="31"/>
                    <a:pt x="14" y="30"/>
                  </a:cubicBezTo>
                  <a:cubicBezTo>
                    <a:pt x="37" y="17"/>
                    <a:pt x="37" y="17"/>
                    <a:pt x="37" y="17"/>
                  </a:cubicBezTo>
                  <a:cubicBezTo>
                    <a:pt x="41" y="15"/>
                    <a:pt x="42" y="9"/>
                    <a:pt x="40" y="5"/>
                  </a:cubicBezTo>
                  <a:cubicBezTo>
                    <a:pt x="37" y="1"/>
                    <a:pt x="32" y="0"/>
                    <a:pt x="28" y="2"/>
                  </a:cubicBezTo>
                  <a:close/>
                  <a:moveTo>
                    <a:pt x="28" y="2"/>
                  </a:moveTo>
                  <a:cubicBezTo>
                    <a:pt x="28" y="2"/>
                    <a:pt x="28" y="2"/>
                    <a:pt x="28"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Freeform 22">
              <a:extLst>
                <a:ext uri="{FF2B5EF4-FFF2-40B4-BE49-F238E27FC236}">
                  <a16:creationId xmlns:a16="http://schemas.microsoft.com/office/drawing/2014/main" id="{4857E40F-39C7-4F86-A528-38DD2D68459E}"/>
                </a:ext>
              </a:extLst>
            </p:cNvPr>
            <p:cNvSpPr>
              <a:spLocks noEditPoints="1"/>
            </p:cNvSpPr>
            <p:nvPr/>
          </p:nvSpPr>
          <p:spPr bwMode="auto">
            <a:xfrm>
              <a:off x="4921250" y="2538413"/>
              <a:ext cx="87313" cy="63500"/>
            </a:xfrm>
            <a:custGeom>
              <a:avLst/>
              <a:gdLst>
                <a:gd name="T0" fmla="*/ 36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6 w 42"/>
                <a:gd name="T15" fmla="*/ 15 h 31"/>
                <a:gd name="T16" fmla="*/ 36 w 42"/>
                <a:gd name="T17" fmla="*/ 15 h 31"/>
                <a:gd name="T18" fmla="*/ 36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6" y="15"/>
                  </a:moveTo>
                  <a:cubicBezTo>
                    <a:pt x="14" y="2"/>
                    <a:pt x="14" y="2"/>
                    <a:pt x="14" y="2"/>
                  </a:cubicBezTo>
                  <a:cubicBezTo>
                    <a:pt x="10" y="0"/>
                    <a:pt x="5" y="1"/>
                    <a:pt x="2" y="5"/>
                  </a:cubicBezTo>
                  <a:cubicBezTo>
                    <a:pt x="0" y="9"/>
                    <a:pt x="1" y="15"/>
                    <a:pt x="5" y="17"/>
                  </a:cubicBezTo>
                  <a:cubicBezTo>
                    <a:pt x="28" y="30"/>
                    <a:pt x="28" y="30"/>
                    <a:pt x="28" y="30"/>
                  </a:cubicBezTo>
                  <a:cubicBezTo>
                    <a:pt x="29" y="31"/>
                    <a:pt x="31" y="31"/>
                    <a:pt x="32" y="31"/>
                  </a:cubicBezTo>
                  <a:cubicBezTo>
                    <a:pt x="35" y="31"/>
                    <a:pt x="38" y="30"/>
                    <a:pt x="40" y="27"/>
                  </a:cubicBezTo>
                  <a:cubicBezTo>
                    <a:pt x="42" y="23"/>
                    <a:pt x="41" y="18"/>
                    <a:pt x="36" y="15"/>
                  </a:cubicBezTo>
                  <a:close/>
                  <a:moveTo>
                    <a:pt x="36" y="15"/>
                  </a:moveTo>
                  <a:cubicBezTo>
                    <a:pt x="36" y="15"/>
                    <a:pt x="36" y="15"/>
                    <a:pt x="36"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0" name="Freeform 23">
              <a:extLst>
                <a:ext uri="{FF2B5EF4-FFF2-40B4-BE49-F238E27FC236}">
                  <a16:creationId xmlns:a16="http://schemas.microsoft.com/office/drawing/2014/main" id="{F987A963-C777-44DB-936E-374FF6490255}"/>
                </a:ext>
              </a:extLst>
            </p:cNvPr>
            <p:cNvSpPr>
              <a:spLocks noEditPoints="1"/>
            </p:cNvSpPr>
            <p:nvPr/>
          </p:nvSpPr>
          <p:spPr bwMode="auto">
            <a:xfrm>
              <a:off x="4970463" y="2366963"/>
              <a:ext cx="88900" cy="34925"/>
            </a:xfrm>
            <a:custGeom>
              <a:avLst/>
              <a:gdLst>
                <a:gd name="T0" fmla="*/ 34 w 43"/>
                <a:gd name="T1" fmla="*/ 0 h 17"/>
                <a:gd name="T2" fmla="*/ 8 w 43"/>
                <a:gd name="T3" fmla="*/ 0 h 17"/>
                <a:gd name="T4" fmla="*/ 0 w 43"/>
                <a:gd name="T5" fmla="*/ 8 h 17"/>
                <a:gd name="T6" fmla="*/ 8 w 43"/>
                <a:gd name="T7" fmla="*/ 17 h 17"/>
                <a:gd name="T8" fmla="*/ 34 w 43"/>
                <a:gd name="T9" fmla="*/ 17 h 17"/>
                <a:gd name="T10" fmla="*/ 43 w 43"/>
                <a:gd name="T11" fmla="*/ 8 h 17"/>
                <a:gd name="T12" fmla="*/ 34 w 43"/>
                <a:gd name="T13" fmla="*/ 0 h 17"/>
                <a:gd name="T14" fmla="*/ 34 w 43"/>
                <a:gd name="T15" fmla="*/ 0 h 17"/>
                <a:gd name="T16" fmla="*/ 34 w 43"/>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34" y="0"/>
                  </a:moveTo>
                  <a:cubicBezTo>
                    <a:pt x="8" y="0"/>
                    <a:pt x="8" y="0"/>
                    <a:pt x="8" y="0"/>
                  </a:cubicBezTo>
                  <a:cubicBezTo>
                    <a:pt x="4" y="0"/>
                    <a:pt x="0" y="3"/>
                    <a:pt x="0" y="8"/>
                  </a:cubicBezTo>
                  <a:cubicBezTo>
                    <a:pt x="0" y="13"/>
                    <a:pt x="4" y="17"/>
                    <a:pt x="8" y="17"/>
                  </a:cubicBezTo>
                  <a:cubicBezTo>
                    <a:pt x="34" y="17"/>
                    <a:pt x="34" y="17"/>
                    <a:pt x="34" y="17"/>
                  </a:cubicBezTo>
                  <a:cubicBezTo>
                    <a:pt x="39" y="17"/>
                    <a:pt x="43" y="13"/>
                    <a:pt x="43" y="8"/>
                  </a:cubicBezTo>
                  <a:cubicBezTo>
                    <a:pt x="43" y="3"/>
                    <a:pt x="39" y="0"/>
                    <a:pt x="34" y="0"/>
                  </a:cubicBezTo>
                  <a:close/>
                  <a:moveTo>
                    <a:pt x="34" y="0"/>
                  </a:moveTo>
                  <a:cubicBezTo>
                    <a:pt x="34" y="0"/>
                    <a:pt x="34" y="0"/>
                    <a:pt x="3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1" name="Freeform 24">
              <a:extLst>
                <a:ext uri="{FF2B5EF4-FFF2-40B4-BE49-F238E27FC236}">
                  <a16:creationId xmlns:a16="http://schemas.microsoft.com/office/drawing/2014/main" id="{598C01F9-6D12-4894-8DA0-735AD7EA7642}"/>
                </a:ext>
              </a:extLst>
            </p:cNvPr>
            <p:cNvSpPr>
              <a:spLocks noEditPoints="1"/>
            </p:cNvSpPr>
            <p:nvPr/>
          </p:nvSpPr>
          <p:spPr bwMode="auto">
            <a:xfrm>
              <a:off x="4921250" y="2162175"/>
              <a:ext cx="87313" cy="65088"/>
            </a:xfrm>
            <a:custGeom>
              <a:avLst/>
              <a:gdLst>
                <a:gd name="T0" fmla="*/ 10 w 42"/>
                <a:gd name="T1" fmla="*/ 31 h 31"/>
                <a:gd name="T2" fmla="*/ 14 w 42"/>
                <a:gd name="T3" fmla="*/ 30 h 31"/>
                <a:gd name="T4" fmla="*/ 36 w 42"/>
                <a:gd name="T5" fmla="*/ 17 h 31"/>
                <a:gd name="T6" fmla="*/ 40 w 42"/>
                <a:gd name="T7" fmla="*/ 5 h 31"/>
                <a:gd name="T8" fmla="*/ 28 w 42"/>
                <a:gd name="T9" fmla="*/ 2 h 31"/>
                <a:gd name="T10" fmla="*/ 5 w 42"/>
                <a:gd name="T11" fmla="*/ 15 h 31"/>
                <a:gd name="T12" fmla="*/ 2 w 42"/>
                <a:gd name="T13" fmla="*/ 27 h 31"/>
                <a:gd name="T14" fmla="*/ 10 w 42"/>
                <a:gd name="T15" fmla="*/ 31 h 31"/>
                <a:gd name="T16" fmla="*/ 10 w 42"/>
                <a:gd name="T17" fmla="*/ 31 h 31"/>
                <a:gd name="T18" fmla="*/ 10 w 42"/>
                <a:gd name="T19"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10" y="31"/>
                  </a:moveTo>
                  <a:cubicBezTo>
                    <a:pt x="11" y="31"/>
                    <a:pt x="13" y="31"/>
                    <a:pt x="14" y="30"/>
                  </a:cubicBezTo>
                  <a:cubicBezTo>
                    <a:pt x="36" y="17"/>
                    <a:pt x="36" y="17"/>
                    <a:pt x="36" y="17"/>
                  </a:cubicBezTo>
                  <a:cubicBezTo>
                    <a:pt x="41" y="15"/>
                    <a:pt x="42" y="10"/>
                    <a:pt x="40" y="5"/>
                  </a:cubicBezTo>
                  <a:cubicBezTo>
                    <a:pt x="37" y="1"/>
                    <a:pt x="32" y="0"/>
                    <a:pt x="28" y="2"/>
                  </a:cubicBezTo>
                  <a:cubicBezTo>
                    <a:pt x="5" y="15"/>
                    <a:pt x="5" y="15"/>
                    <a:pt x="5" y="15"/>
                  </a:cubicBezTo>
                  <a:cubicBezTo>
                    <a:pt x="1" y="18"/>
                    <a:pt x="0" y="23"/>
                    <a:pt x="2" y="27"/>
                  </a:cubicBezTo>
                  <a:cubicBezTo>
                    <a:pt x="4" y="30"/>
                    <a:pt x="7" y="31"/>
                    <a:pt x="10" y="31"/>
                  </a:cubicBezTo>
                  <a:close/>
                  <a:moveTo>
                    <a:pt x="10" y="31"/>
                  </a:moveTo>
                  <a:cubicBezTo>
                    <a:pt x="10" y="31"/>
                    <a:pt x="10" y="31"/>
                    <a:pt x="10"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Freeform 25">
              <a:extLst>
                <a:ext uri="{FF2B5EF4-FFF2-40B4-BE49-F238E27FC236}">
                  <a16:creationId xmlns:a16="http://schemas.microsoft.com/office/drawing/2014/main" id="{6DA2F687-D94E-4C1D-A159-DF3B8CA68870}"/>
                </a:ext>
              </a:extLst>
            </p:cNvPr>
            <p:cNvSpPr>
              <a:spLocks noEditPoints="1"/>
            </p:cNvSpPr>
            <p:nvPr/>
          </p:nvSpPr>
          <p:spPr bwMode="auto">
            <a:xfrm>
              <a:off x="4794250" y="2016125"/>
              <a:ext cx="68263" cy="84138"/>
            </a:xfrm>
            <a:custGeom>
              <a:avLst/>
              <a:gdLst>
                <a:gd name="T0" fmla="*/ 6 w 33"/>
                <a:gd name="T1" fmla="*/ 39 h 41"/>
                <a:gd name="T2" fmla="*/ 10 w 33"/>
                <a:gd name="T3" fmla="*/ 41 h 41"/>
                <a:gd name="T4" fmla="*/ 17 w 33"/>
                <a:gd name="T5" fmla="*/ 36 h 41"/>
                <a:gd name="T6" fmla="*/ 30 w 33"/>
                <a:gd name="T7" fmla="*/ 14 h 41"/>
                <a:gd name="T8" fmla="*/ 27 w 33"/>
                <a:gd name="T9" fmla="*/ 2 h 41"/>
                <a:gd name="T10" fmla="*/ 15 w 33"/>
                <a:gd name="T11" fmla="*/ 5 h 41"/>
                <a:gd name="T12" fmla="*/ 2 w 33"/>
                <a:gd name="T13" fmla="*/ 28 h 41"/>
                <a:gd name="T14" fmla="*/ 6 w 33"/>
                <a:gd name="T15" fmla="*/ 39 h 41"/>
                <a:gd name="T16" fmla="*/ 6 w 33"/>
                <a:gd name="T17" fmla="*/ 39 h 41"/>
                <a:gd name="T18" fmla="*/ 6 w 33"/>
                <a:gd name="T1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6" y="39"/>
                  </a:moveTo>
                  <a:cubicBezTo>
                    <a:pt x="7" y="40"/>
                    <a:pt x="8" y="41"/>
                    <a:pt x="10" y="41"/>
                  </a:cubicBezTo>
                  <a:cubicBezTo>
                    <a:pt x="13" y="41"/>
                    <a:pt x="16" y="39"/>
                    <a:pt x="17" y="36"/>
                  </a:cubicBezTo>
                  <a:cubicBezTo>
                    <a:pt x="30" y="14"/>
                    <a:pt x="30" y="14"/>
                    <a:pt x="30" y="14"/>
                  </a:cubicBezTo>
                  <a:cubicBezTo>
                    <a:pt x="33" y="10"/>
                    <a:pt x="31" y="4"/>
                    <a:pt x="27" y="2"/>
                  </a:cubicBezTo>
                  <a:cubicBezTo>
                    <a:pt x="23" y="0"/>
                    <a:pt x="18" y="1"/>
                    <a:pt x="15" y="5"/>
                  </a:cubicBezTo>
                  <a:cubicBezTo>
                    <a:pt x="2" y="28"/>
                    <a:pt x="2" y="28"/>
                    <a:pt x="2" y="28"/>
                  </a:cubicBezTo>
                  <a:cubicBezTo>
                    <a:pt x="0" y="32"/>
                    <a:pt x="1" y="37"/>
                    <a:pt x="6" y="39"/>
                  </a:cubicBezTo>
                  <a:close/>
                  <a:moveTo>
                    <a:pt x="6" y="39"/>
                  </a:moveTo>
                  <a:cubicBezTo>
                    <a:pt x="6" y="39"/>
                    <a:pt x="6" y="39"/>
                    <a:pt x="6" y="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Freeform 26">
              <a:extLst>
                <a:ext uri="{FF2B5EF4-FFF2-40B4-BE49-F238E27FC236}">
                  <a16:creationId xmlns:a16="http://schemas.microsoft.com/office/drawing/2014/main" id="{C9C7986D-B8AE-4CAC-8C51-09AEA47E2F27}"/>
                </a:ext>
              </a:extLst>
            </p:cNvPr>
            <p:cNvSpPr>
              <a:spLocks noEditPoints="1"/>
            </p:cNvSpPr>
            <p:nvPr/>
          </p:nvSpPr>
          <p:spPr bwMode="auto">
            <a:xfrm>
              <a:off x="4598988" y="2233613"/>
              <a:ext cx="137117" cy="496578"/>
            </a:xfrm>
            <a:custGeom>
              <a:avLst/>
              <a:gdLst>
                <a:gd name="T0" fmla="*/ 9 w 41"/>
                <a:gd name="T1" fmla="*/ 125 h 135"/>
                <a:gd name="T2" fmla="*/ 20 w 41"/>
                <a:gd name="T3" fmla="*/ 135 h 135"/>
                <a:gd name="T4" fmla="*/ 32 w 41"/>
                <a:gd name="T5" fmla="*/ 125 h 135"/>
                <a:gd name="T6" fmla="*/ 40 w 41"/>
                <a:gd name="T7" fmla="*/ 64 h 135"/>
                <a:gd name="T8" fmla="*/ 41 w 41"/>
                <a:gd name="T9" fmla="*/ 51 h 135"/>
                <a:gd name="T10" fmla="*/ 41 w 41"/>
                <a:gd name="T11" fmla="*/ 21 h 135"/>
                <a:gd name="T12" fmla="*/ 20 w 41"/>
                <a:gd name="T13" fmla="*/ 0 h 135"/>
                <a:gd name="T14" fmla="*/ 0 w 41"/>
                <a:gd name="T15" fmla="*/ 21 h 135"/>
                <a:gd name="T16" fmla="*/ 0 w 41"/>
                <a:gd name="T17" fmla="*/ 51 h 135"/>
                <a:gd name="T18" fmla="*/ 1 w 41"/>
                <a:gd name="T19" fmla="*/ 64 h 135"/>
                <a:gd name="T20" fmla="*/ 9 w 41"/>
                <a:gd name="T21" fmla="*/ 125 h 135"/>
                <a:gd name="T22" fmla="*/ 9 w 41"/>
                <a:gd name="T23" fmla="*/ 125 h 135"/>
                <a:gd name="T24" fmla="*/ 9 w 41"/>
                <a:gd name="T25" fmla="*/ 12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135">
                  <a:moveTo>
                    <a:pt x="9" y="125"/>
                  </a:moveTo>
                  <a:cubicBezTo>
                    <a:pt x="10" y="133"/>
                    <a:pt x="14" y="135"/>
                    <a:pt x="20" y="135"/>
                  </a:cubicBezTo>
                  <a:cubicBezTo>
                    <a:pt x="27" y="135"/>
                    <a:pt x="31" y="133"/>
                    <a:pt x="32" y="125"/>
                  </a:cubicBezTo>
                  <a:cubicBezTo>
                    <a:pt x="40" y="64"/>
                    <a:pt x="40" y="64"/>
                    <a:pt x="40" y="64"/>
                  </a:cubicBezTo>
                  <a:cubicBezTo>
                    <a:pt x="41" y="60"/>
                    <a:pt x="41" y="55"/>
                    <a:pt x="41" y="51"/>
                  </a:cubicBezTo>
                  <a:cubicBezTo>
                    <a:pt x="41" y="21"/>
                    <a:pt x="41" y="21"/>
                    <a:pt x="41" y="21"/>
                  </a:cubicBezTo>
                  <a:cubicBezTo>
                    <a:pt x="41" y="7"/>
                    <a:pt x="34" y="0"/>
                    <a:pt x="20" y="0"/>
                  </a:cubicBezTo>
                  <a:cubicBezTo>
                    <a:pt x="7" y="0"/>
                    <a:pt x="0" y="7"/>
                    <a:pt x="0" y="21"/>
                  </a:cubicBezTo>
                  <a:cubicBezTo>
                    <a:pt x="0" y="51"/>
                    <a:pt x="0" y="51"/>
                    <a:pt x="0" y="51"/>
                  </a:cubicBezTo>
                  <a:cubicBezTo>
                    <a:pt x="0" y="55"/>
                    <a:pt x="0" y="60"/>
                    <a:pt x="1" y="64"/>
                  </a:cubicBezTo>
                  <a:lnTo>
                    <a:pt x="9" y="125"/>
                  </a:lnTo>
                  <a:close/>
                  <a:moveTo>
                    <a:pt x="9" y="125"/>
                  </a:moveTo>
                  <a:cubicBezTo>
                    <a:pt x="9" y="125"/>
                    <a:pt x="9" y="125"/>
                    <a:pt x="9" y="1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Freeform 27">
              <a:extLst>
                <a:ext uri="{FF2B5EF4-FFF2-40B4-BE49-F238E27FC236}">
                  <a16:creationId xmlns:a16="http://schemas.microsoft.com/office/drawing/2014/main" id="{096A68CC-0F52-4F5F-B116-10043956FB41}"/>
                </a:ext>
              </a:extLst>
            </p:cNvPr>
            <p:cNvSpPr>
              <a:spLocks noEditPoints="1"/>
            </p:cNvSpPr>
            <p:nvPr/>
          </p:nvSpPr>
          <p:spPr bwMode="auto">
            <a:xfrm>
              <a:off x="4595813" y="2546350"/>
              <a:ext cx="88900" cy="90488"/>
            </a:xfrm>
            <a:custGeom>
              <a:avLst/>
              <a:gdLst>
                <a:gd name="T0" fmla="*/ 21 w 43"/>
                <a:gd name="T1" fmla="*/ 0 h 44"/>
                <a:gd name="T2" fmla="*/ 0 w 43"/>
                <a:gd name="T3" fmla="*/ 22 h 44"/>
                <a:gd name="T4" fmla="*/ 21 w 43"/>
                <a:gd name="T5" fmla="*/ 44 h 44"/>
                <a:gd name="T6" fmla="*/ 43 w 43"/>
                <a:gd name="T7" fmla="*/ 22 h 44"/>
                <a:gd name="T8" fmla="*/ 21 w 43"/>
                <a:gd name="T9" fmla="*/ 0 h 44"/>
                <a:gd name="T10" fmla="*/ 21 w 43"/>
                <a:gd name="T11" fmla="*/ 0 h 44"/>
                <a:gd name="T12" fmla="*/ 21 w 43"/>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3" h="44">
                  <a:moveTo>
                    <a:pt x="21" y="0"/>
                  </a:moveTo>
                  <a:cubicBezTo>
                    <a:pt x="10" y="0"/>
                    <a:pt x="0" y="10"/>
                    <a:pt x="0" y="22"/>
                  </a:cubicBezTo>
                  <a:cubicBezTo>
                    <a:pt x="0" y="34"/>
                    <a:pt x="10" y="44"/>
                    <a:pt x="21" y="44"/>
                  </a:cubicBezTo>
                  <a:cubicBezTo>
                    <a:pt x="33" y="44"/>
                    <a:pt x="43" y="34"/>
                    <a:pt x="43" y="22"/>
                  </a:cubicBezTo>
                  <a:cubicBezTo>
                    <a:pt x="43" y="10"/>
                    <a:pt x="33" y="0"/>
                    <a:pt x="21" y="0"/>
                  </a:cubicBezTo>
                  <a:close/>
                  <a:moveTo>
                    <a:pt x="21" y="0"/>
                  </a:moveTo>
                  <a:cubicBezTo>
                    <a:pt x="21" y="0"/>
                    <a:pt x="21" y="0"/>
                    <a:pt x="2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840815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51494A-6BE0-46F2-B4C9-7BD8F7D3B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719" y="1023236"/>
            <a:ext cx="3641745" cy="3641745"/>
          </a:xfrm>
          <a:prstGeom prst="rect">
            <a:avLst/>
          </a:prstGeom>
        </p:spPr>
      </p:pic>
      <p:pic>
        <p:nvPicPr>
          <p:cNvPr id="5" name="Picture 4">
            <a:extLst>
              <a:ext uri="{FF2B5EF4-FFF2-40B4-BE49-F238E27FC236}">
                <a16:creationId xmlns:a16="http://schemas.microsoft.com/office/drawing/2014/main" id="{15345327-BF56-4A53-A28C-D09C72A5D4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9216" y="1023236"/>
            <a:ext cx="3641745" cy="3641745"/>
          </a:xfrm>
          <a:prstGeom prst="rect">
            <a:avLst/>
          </a:prstGeom>
        </p:spPr>
      </p:pic>
      <p:pic>
        <p:nvPicPr>
          <p:cNvPr id="7" name="Picture 6">
            <a:extLst>
              <a:ext uri="{FF2B5EF4-FFF2-40B4-BE49-F238E27FC236}">
                <a16:creationId xmlns:a16="http://schemas.microsoft.com/office/drawing/2014/main" id="{92D26312-510D-4D26-B726-84BF5A7C2C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9821" y="1023236"/>
            <a:ext cx="3641745" cy="3641745"/>
          </a:xfrm>
          <a:prstGeom prst="rect">
            <a:avLst/>
          </a:prstGeom>
        </p:spPr>
      </p:pic>
      <p:sp>
        <p:nvSpPr>
          <p:cNvPr id="8" name="Rectangle 7">
            <a:extLst>
              <a:ext uri="{FF2B5EF4-FFF2-40B4-BE49-F238E27FC236}">
                <a16:creationId xmlns:a16="http://schemas.microsoft.com/office/drawing/2014/main" id="{772232B0-B066-46E7-9A08-2CDC901C272B}"/>
              </a:ext>
            </a:extLst>
          </p:cNvPr>
          <p:cNvSpPr/>
          <p:nvPr/>
        </p:nvSpPr>
        <p:spPr>
          <a:xfrm>
            <a:off x="164784" y="5380672"/>
            <a:ext cx="10549223" cy="1200329"/>
          </a:xfrm>
          <a:prstGeom prst="rect">
            <a:avLst/>
          </a:prstGeom>
        </p:spPr>
        <p:txBody>
          <a:bodyPr wrap="square">
            <a:spAutoFit/>
          </a:bodyPr>
          <a:lstStyle/>
          <a:p>
            <a:pPr marL="285750" indent="-285750">
              <a:buFont typeface="Arial" panose="020B0604020202020204" pitchFamily="34" charset="0"/>
              <a:buChar char="•"/>
            </a:pPr>
            <a:r>
              <a:rPr lang="en-US" dirty="0"/>
              <a:t>Customers with shorter tenures are more likely to churn, as indicated by a higher proportion of "Yes" in the churn category.</a:t>
            </a:r>
          </a:p>
          <a:p>
            <a:pPr marL="285750" indent="-285750">
              <a:buFont typeface="Arial" panose="020B0604020202020204" pitchFamily="34" charset="0"/>
              <a:buChar char="•"/>
            </a:pPr>
            <a:r>
              <a:rPr lang="en-US" dirty="0"/>
              <a:t>Customers with longer tenures are less likely to churn, as indicated by a higher proportion of "No" in the churn category.</a:t>
            </a:r>
          </a:p>
        </p:txBody>
      </p:sp>
      <p:sp>
        <p:nvSpPr>
          <p:cNvPr id="13" name="TextBox 12">
            <a:extLst>
              <a:ext uri="{FF2B5EF4-FFF2-40B4-BE49-F238E27FC236}">
                <a16:creationId xmlns:a16="http://schemas.microsoft.com/office/drawing/2014/main" id="{913395B8-5B17-41F8-8FAB-C102DF158BB5}"/>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err="1">
                <a:latin typeface="Poppins" pitchFamily="2" charset="77"/>
                <a:ea typeface="League Spartan" charset="0"/>
                <a:cs typeface="Poppins" pitchFamily="2" charset="77"/>
              </a:rPr>
              <a:t>Tenture</a:t>
            </a:r>
            <a:r>
              <a:rPr lang="en-US" sz="2400" b="1" dirty="0">
                <a:latin typeface="Poppins" pitchFamily="2" charset="77"/>
                <a:ea typeface="League Spartan" charset="0"/>
                <a:cs typeface="Poppins" pitchFamily="2" charset="77"/>
              </a:rPr>
              <a:t> Analysis</a:t>
            </a:r>
          </a:p>
        </p:txBody>
      </p:sp>
      <p:sp>
        <p:nvSpPr>
          <p:cNvPr id="10" name="TextBox 9">
            <a:extLst>
              <a:ext uri="{FF2B5EF4-FFF2-40B4-BE49-F238E27FC236}">
                <a16:creationId xmlns:a16="http://schemas.microsoft.com/office/drawing/2014/main" id="{A42A263E-4E43-400F-A03B-DEC454D57360}"/>
              </a:ext>
            </a:extLst>
          </p:cNvPr>
          <p:cNvSpPr txBox="1"/>
          <p:nvPr/>
        </p:nvSpPr>
        <p:spPr>
          <a:xfrm>
            <a:off x="458082" y="4965352"/>
            <a:ext cx="1404808" cy="369332"/>
          </a:xfrm>
          <a:prstGeom prst="rect">
            <a:avLst/>
          </a:prstGeom>
          <a:noFill/>
        </p:spPr>
        <p:txBody>
          <a:bodyPr wrap="none" rtlCol="0">
            <a:spAutoFit/>
          </a:bodyPr>
          <a:lstStyle/>
          <a:p>
            <a:r>
              <a:rPr lang="en-US" b="1" u="sng" dirty="0"/>
              <a:t>Key Insights: </a:t>
            </a:r>
          </a:p>
        </p:txBody>
      </p:sp>
      <p:grpSp>
        <p:nvGrpSpPr>
          <p:cNvPr id="11" name="Group 10">
            <a:extLst>
              <a:ext uri="{FF2B5EF4-FFF2-40B4-BE49-F238E27FC236}">
                <a16:creationId xmlns:a16="http://schemas.microsoft.com/office/drawing/2014/main" id="{5809BFC0-995E-4105-98A5-9FC0C2AFB317}"/>
              </a:ext>
            </a:extLst>
          </p:cNvPr>
          <p:cNvGrpSpPr/>
          <p:nvPr/>
        </p:nvGrpSpPr>
        <p:grpSpPr>
          <a:xfrm>
            <a:off x="113025" y="4917165"/>
            <a:ext cx="365760" cy="365760"/>
            <a:chOff x="4221163" y="1965325"/>
            <a:chExt cx="838200" cy="927101"/>
          </a:xfrm>
          <a:solidFill>
            <a:schemeClr val="accent1"/>
          </a:solidFill>
          <a:effectLst>
            <a:glow rad="127000">
              <a:schemeClr val="bg1">
                <a:alpha val="99000"/>
              </a:schemeClr>
            </a:glow>
          </a:effectLst>
        </p:grpSpPr>
        <p:sp>
          <p:nvSpPr>
            <p:cNvPr id="12" name="Freeform 16">
              <a:extLst>
                <a:ext uri="{FF2B5EF4-FFF2-40B4-BE49-F238E27FC236}">
                  <a16:creationId xmlns:a16="http://schemas.microsoft.com/office/drawing/2014/main" id="{42F36D54-24F6-40C9-A895-1814A977231F}"/>
                </a:ext>
              </a:extLst>
            </p:cNvPr>
            <p:cNvSpPr>
              <a:spLocks noEditPoints="1"/>
            </p:cNvSpPr>
            <p:nvPr/>
          </p:nvSpPr>
          <p:spPr bwMode="auto">
            <a:xfrm>
              <a:off x="4359275" y="2106613"/>
              <a:ext cx="561975" cy="785813"/>
            </a:xfrm>
            <a:custGeom>
              <a:avLst/>
              <a:gdLst>
                <a:gd name="T0" fmla="*/ 136 w 273"/>
                <a:gd name="T1" fmla="*/ 0 h 381"/>
                <a:gd name="T2" fmla="*/ 0 w 273"/>
                <a:gd name="T3" fmla="*/ 132 h 381"/>
                <a:gd name="T4" fmla="*/ 33 w 273"/>
                <a:gd name="T5" fmla="*/ 229 h 381"/>
                <a:gd name="T6" fmla="*/ 47 w 273"/>
                <a:gd name="T7" fmla="*/ 257 h 381"/>
                <a:gd name="T8" fmla="*/ 72 w 273"/>
                <a:gd name="T9" fmla="*/ 302 h 381"/>
                <a:gd name="T10" fmla="*/ 74 w 273"/>
                <a:gd name="T11" fmla="*/ 337 h 381"/>
                <a:gd name="T12" fmla="*/ 74 w 273"/>
                <a:gd name="T13" fmla="*/ 337 h 381"/>
                <a:gd name="T14" fmla="*/ 102 w 273"/>
                <a:gd name="T15" fmla="*/ 367 h 381"/>
                <a:gd name="T16" fmla="*/ 114 w 273"/>
                <a:gd name="T17" fmla="*/ 378 h 381"/>
                <a:gd name="T18" fmla="*/ 123 w 273"/>
                <a:gd name="T19" fmla="*/ 381 h 381"/>
                <a:gd name="T20" fmla="*/ 150 w 273"/>
                <a:gd name="T21" fmla="*/ 381 h 381"/>
                <a:gd name="T22" fmla="*/ 159 w 273"/>
                <a:gd name="T23" fmla="*/ 378 h 381"/>
                <a:gd name="T24" fmla="*/ 171 w 273"/>
                <a:gd name="T25" fmla="*/ 367 h 381"/>
                <a:gd name="T26" fmla="*/ 199 w 273"/>
                <a:gd name="T27" fmla="*/ 337 h 381"/>
                <a:gd name="T28" fmla="*/ 201 w 273"/>
                <a:gd name="T29" fmla="*/ 302 h 381"/>
                <a:gd name="T30" fmla="*/ 226 w 273"/>
                <a:gd name="T31" fmla="*/ 257 h 381"/>
                <a:gd name="T32" fmla="*/ 240 w 273"/>
                <a:gd name="T33" fmla="*/ 228 h 381"/>
                <a:gd name="T34" fmla="*/ 273 w 273"/>
                <a:gd name="T35" fmla="*/ 132 h 381"/>
                <a:gd name="T36" fmla="*/ 136 w 273"/>
                <a:gd name="T37" fmla="*/ 0 h 381"/>
                <a:gd name="T38" fmla="*/ 211 w 273"/>
                <a:gd name="T39" fmla="*/ 209 h 381"/>
                <a:gd name="T40" fmla="*/ 192 w 273"/>
                <a:gd name="T41" fmla="*/ 257 h 381"/>
                <a:gd name="T42" fmla="*/ 179 w 273"/>
                <a:gd name="T43" fmla="*/ 275 h 381"/>
                <a:gd name="T44" fmla="*/ 94 w 273"/>
                <a:gd name="T45" fmla="*/ 275 h 381"/>
                <a:gd name="T46" fmla="*/ 81 w 273"/>
                <a:gd name="T47" fmla="*/ 257 h 381"/>
                <a:gd name="T48" fmla="*/ 61 w 273"/>
                <a:gd name="T49" fmla="*/ 209 h 381"/>
                <a:gd name="T50" fmla="*/ 34 w 273"/>
                <a:gd name="T51" fmla="*/ 132 h 381"/>
                <a:gd name="T52" fmla="*/ 136 w 273"/>
                <a:gd name="T53" fmla="*/ 35 h 381"/>
                <a:gd name="T54" fmla="*/ 239 w 273"/>
                <a:gd name="T55" fmla="*/ 132 h 381"/>
                <a:gd name="T56" fmla="*/ 211 w 273"/>
                <a:gd name="T57" fmla="*/ 209 h 381"/>
                <a:gd name="T58" fmla="*/ 211 w 273"/>
                <a:gd name="T59" fmla="*/ 209 h 381"/>
                <a:gd name="T60" fmla="*/ 211 w 273"/>
                <a:gd name="T61" fmla="*/ 20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3" h="381">
                  <a:moveTo>
                    <a:pt x="136" y="0"/>
                  </a:moveTo>
                  <a:cubicBezTo>
                    <a:pt x="61" y="0"/>
                    <a:pt x="0" y="59"/>
                    <a:pt x="0" y="132"/>
                  </a:cubicBezTo>
                  <a:cubicBezTo>
                    <a:pt x="0" y="180"/>
                    <a:pt x="19" y="208"/>
                    <a:pt x="33" y="229"/>
                  </a:cubicBezTo>
                  <a:cubicBezTo>
                    <a:pt x="42" y="241"/>
                    <a:pt x="47" y="249"/>
                    <a:pt x="47" y="257"/>
                  </a:cubicBezTo>
                  <a:cubicBezTo>
                    <a:pt x="47" y="274"/>
                    <a:pt x="56" y="290"/>
                    <a:pt x="72" y="302"/>
                  </a:cubicBezTo>
                  <a:cubicBezTo>
                    <a:pt x="73" y="312"/>
                    <a:pt x="74" y="337"/>
                    <a:pt x="74" y="337"/>
                  </a:cubicBezTo>
                  <a:cubicBezTo>
                    <a:pt x="74" y="337"/>
                    <a:pt x="74" y="337"/>
                    <a:pt x="74" y="337"/>
                  </a:cubicBezTo>
                  <a:cubicBezTo>
                    <a:pt x="74" y="344"/>
                    <a:pt x="78" y="359"/>
                    <a:pt x="102" y="367"/>
                  </a:cubicBezTo>
                  <a:cubicBezTo>
                    <a:pt x="105" y="371"/>
                    <a:pt x="109" y="375"/>
                    <a:pt x="114" y="378"/>
                  </a:cubicBezTo>
                  <a:cubicBezTo>
                    <a:pt x="116" y="380"/>
                    <a:pt x="120" y="381"/>
                    <a:pt x="123" y="381"/>
                  </a:cubicBezTo>
                  <a:cubicBezTo>
                    <a:pt x="150" y="381"/>
                    <a:pt x="150" y="381"/>
                    <a:pt x="150" y="381"/>
                  </a:cubicBezTo>
                  <a:cubicBezTo>
                    <a:pt x="153" y="381"/>
                    <a:pt x="157" y="380"/>
                    <a:pt x="159" y="378"/>
                  </a:cubicBezTo>
                  <a:cubicBezTo>
                    <a:pt x="164" y="375"/>
                    <a:pt x="168" y="371"/>
                    <a:pt x="171" y="367"/>
                  </a:cubicBezTo>
                  <a:cubicBezTo>
                    <a:pt x="195" y="359"/>
                    <a:pt x="199" y="344"/>
                    <a:pt x="199" y="337"/>
                  </a:cubicBezTo>
                  <a:cubicBezTo>
                    <a:pt x="199" y="337"/>
                    <a:pt x="200" y="312"/>
                    <a:pt x="201" y="302"/>
                  </a:cubicBezTo>
                  <a:cubicBezTo>
                    <a:pt x="217" y="290"/>
                    <a:pt x="226" y="274"/>
                    <a:pt x="226" y="257"/>
                  </a:cubicBezTo>
                  <a:cubicBezTo>
                    <a:pt x="226" y="249"/>
                    <a:pt x="231" y="241"/>
                    <a:pt x="240" y="228"/>
                  </a:cubicBezTo>
                  <a:cubicBezTo>
                    <a:pt x="254" y="208"/>
                    <a:pt x="273" y="180"/>
                    <a:pt x="273" y="132"/>
                  </a:cubicBezTo>
                  <a:cubicBezTo>
                    <a:pt x="273" y="59"/>
                    <a:pt x="212" y="0"/>
                    <a:pt x="136" y="0"/>
                  </a:cubicBezTo>
                  <a:close/>
                  <a:moveTo>
                    <a:pt x="211" y="209"/>
                  </a:moveTo>
                  <a:cubicBezTo>
                    <a:pt x="201" y="224"/>
                    <a:pt x="192" y="238"/>
                    <a:pt x="192" y="257"/>
                  </a:cubicBezTo>
                  <a:cubicBezTo>
                    <a:pt x="192" y="265"/>
                    <a:pt x="184" y="271"/>
                    <a:pt x="179" y="275"/>
                  </a:cubicBezTo>
                  <a:cubicBezTo>
                    <a:pt x="94" y="275"/>
                    <a:pt x="94" y="275"/>
                    <a:pt x="94" y="275"/>
                  </a:cubicBezTo>
                  <a:cubicBezTo>
                    <a:pt x="89" y="271"/>
                    <a:pt x="81" y="265"/>
                    <a:pt x="81" y="257"/>
                  </a:cubicBezTo>
                  <a:cubicBezTo>
                    <a:pt x="81" y="238"/>
                    <a:pt x="72" y="224"/>
                    <a:pt x="61" y="209"/>
                  </a:cubicBezTo>
                  <a:cubicBezTo>
                    <a:pt x="49" y="190"/>
                    <a:pt x="34" y="169"/>
                    <a:pt x="34" y="132"/>
                  </a:cubicBezTo>
                  <a:cubicBezTo>
                    <a:pt x="34" y="78"/>
                    <a:pt x="80" y="35"/>
                    <a:pt x="136" y="35"/>
                  </a:cubicBezTo>
                  <a:cubicBezTo>
                    <a:pt x="193" y="35"/>
                    <a:pt x="239" y="78"/>
                    <a:pt x="239" y="132"/>
                  </a:cubicBezTo>
                  <a:cubicBezTo>
                    <a:pt x="239" y="169"/>
                    <a:pt x="224" y="190"/>
                    <a:pt x="211" y="209"/>
                  </a:cubicBezTo>
                  <a:close/>
                  <a:moveTo>
                    <a:pt x="211" y="209"/>
                  </a:moveTo>
                  <a:cubicBezTo>
                    <a:pt x="211" y="209"/>
                    <a:pt x="211" y="209"/>
                    <a:pt x="211" y="20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 name="Freeform 17">
              <a:extLst>
                <a:ext uri="{FF2B5EF4-FFF2-40B4-BE49-F238E27FC236}">
                  <a16:creationId xmlns:a16="http://schemas.microsoft.com/office/drawing/2014/main" id="{05A72BE0-B83C-4C56-8A17-C12BE2DE0E4B}"/>
                </a:ext>
              </a:extLst>
            </p:cNvPr>
            <p:cNvSpPr>
              <a:spLocks noEditPoints="1"/>
            </p:cNvSpPr>
            <p:nvPr/>
          </p:nvSpPr>
          <p:spPr bwMode="auto">
            <a:xfrm>
              <a:off x="4622800" y="1965325"/>
              <a:ext cx="34925" cy="88900"/>
            </a:xfrm>
            <a:custGeom>
              <a:avLst/>
              <a:gdLst>
                <a:gd name="T0" fmla="*/ 8 w 17"/>
                <a:gd name="T1" fmla="*/ 43 h 43"/>
                <a:gd name="T2" fmla="*/ 17 w 17"/>
                <a:gd name="T3" fmla="*/ 34 h 43"/>
                <a:gd name="T4" fmla="*/ 17 w 17"/>
                <a:gd name="T5" fmla="*/ 8 h 43"/>
                <a:gd name="T6" fmla="*/ 8 w 17"/>
                <a:gd name="T7" fmla="*/ 0 h 43"/>
                <a:gd name="T8" fmla="*/ 0 w 17"/>
                <a:gd name="T9" fmla="*/ 8 h 43"/>
                <a:gd name="T10" fmla="*/ 0 w 17"/>
                <a:gd name="T11" fmla="*/ 34 h 43"/>
                <a:gd name="T12" fmla="*/ 8 w 17"/>
                <a:gd name="T13" fmla="*/ 43 h 43"/>
                <a:gd name="T14" fmla="*/ 8 w 17"/>
                <a:gd name="T15" fmla="*/ 43 h 43"/>
                <a:gd name="T16" fmla="*/ 8 w 17"/>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43">
                  <a:moveTo>
                    <a:pt x="8" y="43"/>
                  </a:moveTo>
                  <a:cubicBezTo>
                    <a:pt x="13" y="43"/>
                    <a:pt x="17" y="39"/>
                    <a:pt x="17" y="34"/>
                  </a:cubicBezTo>
                  <a:cubicBezTo>
                    <a:pt x="17" y="8"/>
                    <a:pt x="17" y="8"/>
                    <a:pt x="17" y="8"/>
                  </a:cubicBezTo>
                  <a:cubicBezTo>
                    <a:pt x="17" y="4"/>
                    <a:pt x="13" y="0"/>
                    <a:pt x="8" y="0"/>
                  </a:cubicBezTo>
                  <a:cubicBezTo>
                    <a:pt x="4" y="0"/>
                    <a:pt x="0" y="4"/>
                    <a:pt x="0" y="8"/>
                  </a:cubicBezTo>
                  <a:cubicBezTo>
                    <a:pt x="0" y="34"/>
                    <a:pt x="0" y="34"/>
                    <a:pt x="0" y="34"/>
                  </a:cubicBezTo>
                  <a:cubicBezTo>
                    <a:pt x="0" y="39"/>
                    <a:pt x="4" y="43"/>
                    <a:pt x="8" y="43"/>
                  </a:cubicBezTo>
                  <a:close/>
                  <a:moveTo>
                    <a:pt x="8" y="43"/>
                  </a:moveTo>
                  <a:cubicBezTo>
                    <a:pt x="8" y="43"/>
                    <a:pt x="8" y="43"/>
                    <a:pt x="8" y="4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5" name="Freeform 18">
              <a:extLst>
                <a:ext uri="{FF2B5EF4-FFF2-40B4-BE49-F238E27FC236}">
                  <a16:creationId xmlns:a16="http://schemas.microsoft.com/office/drawing/2014/main" id="{66B0A295-E44F-4986-BCB5-5731EB723DA3}"/>
                </a:ext>
              </a:extLst>
            </p:cNvPr>
            <p:cNvSpPr>
              <a:spLocks noEditPoints="1"/>
            </p:cNvSpPr>
            <p:nvPr/>
          </p:nvSpPr>
          <p:spPr bwMode="auto">
            <a:xfrm>
              <a:off x="4419600" y="2016125"/>
              <a:ext cx="66675" cy="84138"/>
            </a:xfrm>
            <a:custGeom>
              <a:avLst/>
              <a:gdLst>
                <a:gd name="T0" fmla="*/ 16 w 33"/>
                <a:gd name="T1" fmla="*/ 36 h 41"/>
                <a:gd name="T2" fmla="*/ 23 w 33"/>
                <a:gd name="T3" fmla="*/ 41 h 41"/>
                <a:gd name="T4" fmla="*/ 27 w 33"/>
                <a:gd name="T5" fmla="*/ 39 h 41"/>
                <a:gd name="T6" fmla="*/ 31 w 33"/>
                <a:gd name="T7" fmla="*/ 28 h 41"/>
                <a:gd name="T8" fmla="*/ 18 w 33"/>
                <a:gd name="T9" fmla="*/ 5 h 41"/>
                <a:gd name="T10" fmla="*/ 6 w 33"/>
                <a:gd name="T11" fmla="*/ 2 h 41"/>
                <a:gd name="T12" fmla="*/ 3 w 33"/>
                <a:gd name="T13" fmla="*/ 14 h 41"/>
                <a:gd name="T14" fmla="*/ 16 w 33"/>
                <a:gd name="T15" fmla="*/ 36 h 41"/>
                <a:gd name="T16" fmla="*/ 16 w 33"/>
                <a:gd name="T17" fmla="*/ 36 h 41"/>
                <a:gd name="T18" fmla="*/ 16 w 33"/>
                <a:gd name="T19" fmla="*/ 3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16" y="36"/>
                  </a:moveTo>
                  <a:cubicBezTo>
                    <a:pt x="17" y="39"/>
                    <a:pt x="20" y="41"/>
                    <a:pt x="23" y="41"/>
                  </a:cubicBezTo>
                  <a:cubicBezTo>
                    <a:pt x="24" y="41"/>
                    <a:pt x="26" y="40"/>
                    <a:pt x="27" y="39"/>
                  </a:cubicBezTo>
                  <a:cubicBezTo>
                    <a:pt x="31" y="37"/>
                    <a:pt x="33" y="32"/>
                    <a:pt x="31" y="28"/>
                  </a:cubicBezTo>
                  <a:cubicBezTo>
                    <a:pt x="18" y="5"/>
                    <a:pt x="18" y="5"/>
                    <a:pt x="18" y="5"/>
                  </a:cubicBezTo>
                  <a:cubicBezTo>
                    <a:pt x="15" y="1"/>
                    <a:pt x="10" y="0"/>
                    <a:pt x="6" y="2"/>
                  </a:cubicBezTo>
                  <a:cubicBezTo>
                    <a:pt x="2" y="4"/>
                    <a:pt x="0" y="10"/>
                    <a:pt x="3" y="14"/>
                  </a:cubicBezTo>
                  <a:lnTo>
                    <a:pt x="16" y="36"/>
                  </a:lnTo>
                  <a:close/>
                  <a:moveTo>
                    <a:pt x="16" y="36"/>
                  </a:moveTo>
                  <a:cubicBezTo>
                    <a:pt x="16" y="36"/>
                    <a:pt x="16" y="36"/>
                    <a:pt x="16"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6" name="Freeform 19">
              <a:extLst>
                <a:ext uri="{FF2B5EF4-FFF2-40B4-BE49-F238E27FC236}">
                  <a16:creationId xmlns:a16="http://schemas.microsoft.com/office/drawing/2014/main" id="{D0736C66-DACD-443D-88A8-E7CF4A377E00}"/>
                </a:ext>
              </a:extLst>
            </p:cNvPr>
            <p:cNvSpPr>
              <a:spLocks noEditPoints="1"/>
            </p:cNvSpPr>
            <p:nvPr/>
          </p:nvSpPr>
          <p:spPr bwMode="auto">
            <a:xfrm>
              <a:off x="4273550" y="2162175"/>
              <a:ext cx="85725" cy="65088"/>
            </a:xfrm>
            <a:custGeom>
              <a:avLst/>
              <a:gdLst>
                <a:gd name="T0" fmla="*/ 37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7 w 42"/>
                <a:gd name="T15" fmla="*/ 15 h 31"/>
                <a:gd name="T16" fmla="*/ 37 w 42"/>
                <a:gd name="T17" fmla="*/ 15 h 31"/>
                <a:gd name="T18" fmla="*/ 37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7" y="15"/>
                  </a:moveTo>
                  <a:cubicBezTo>
                    <a:pt x="14" y="2"/>
                    <a:pt x="14" y="2"/>
                    <a:pt x="14" y="2"/>
                  </a:cubicBezTo>
                  <a:cubicBezTo>
                    <a:pt x="10" y="0"/>
                    <a:pt x="5" y="1"/>
                    <a:pt x="2" y="5"/>
                  </a:cubicBezTo>
                  <a:cubicBezTo>
                    <a:pt x="0" y="10"/>
                    <a:pt x="1" y="15"/>
                    <a:pt x="5" y="17"/>
                  </a:cubicBezTo>
                  <a:cubicBezTo>
                    <a:pt x="28" y="30"/>
                    <a:pt x="28" y="30"/>
                    <a:pt x="28" y="30"/>
                  </a:cubicBezTo>
                  <a:cubicBezTo>
                    <a:pt x="29" y="31"/>
                    <a:pt x="31" y="31"/>
                    <a:pt x="32" y="31"/>
                  </a:cubicBezTo>
                  <a:cubicBezTo>
                    <a:pt x="35" y="31"/>
                    <a:pt x="38" y="30"/>
                    <a:pt x="40" y="27"/>
                  </a:cubicBezTo>
                  <a:cubicBezTo>
                    <a:pt x="42" y="23"/>
                    <a:pt x="41" y="18"/>
                    <a:pt x="37" y="15"/>
                  </a:cubicBezTo>
                  <a:close/>
                  <a:moveTo>
                    <a:pt x="37" y="15"/>
                  </a:moveTo>
                  <a:cubicBezTo>
                    <a:pt x="37" y="15"/>
                    <a:pt x="37" y="15"/>
                    <a:pt x="37"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Freeform 20">
              <a:extLst>
                <a:ext uri="{FF2B5EF4-FFF2-40B4-BE49-F238E27FC236}">
                  <a16:creationId xmlns:a16="http://schemas.microsoft.com/office/drawing/2014/main" id="{13FB11E7-3D65-4638-A01A-1358013691D6}"/>
                </a:ext>
              </a:extLst>
            </p:cNvPr>
            <p:cNvSpPr>
              <a:spLocks noEditPoints="1"/>
            </p:cNvSpPr>
            <p:nvPr/>
          </p:nvSpPr>
          <p:spPr bwMode="auto">
            <a:xfrm>
              <a:off x="4221163" y="2366963"/>
              <a:ext cx="88900" cy="34925"/>
            </a:xfrm>
            <a:custGeom>
              <a:avLst/>
              <a:gdLst>
                <a:gd name="T0" fmla="*/ 43 w 43"/>
                <a:gd name="T1" fmla="*/ 8 h 17"/>
                <a:gd name="T2" fmla="*/ 35 w 43"/>
                <a:gd name="T3" fmla="*/ 0 h 17"/>
                <a:gd name="T4" fmla="*/ 9 w 43"/>
                <a:gd name="T5" fmla="*/ 0 h 17"/>
                <a:gd name="T6" fmla="*/ 0 w 43"/>
                <a:gd name="T7" fmla="*/ 8 h 17"/>
                <a:gd name="T8" fmla="*/ 9 w 43"/>
                <a:gd name="T9" fmla="*/ 17 h 17"/>
                <a:gd name="T10" fmla="*/ 35 w 43"/>
                <a:gd name="T11" fmla="*/ 17 h 17"/>
                <a:gd name="T12" fmla="*/ 43 w 43"/>
                <a:gd name="T13" fmla="*/ 8 h 17"/>
                <a:gd name="T14" fmla="*/ 43 w 43"/>
                <a:gd name="T15" fmla="*/ 8 h 17"/>
                <a:gd name="T16" fmla="*/ 43 w 43"/>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43" y="8"/>
                  </a:moveTo>
                  <a:cubicBezTo>
                    <a:pt x="43" y="3"/>
                    <a:pt x="39" y="0"/>
                    <a:pt x="35" y="0"/>
                  </a:cubicBezTo>
                  <a:cubicBezTo>
                    <a:pt x="9" y="0"/>
                    <a:pt x="9" y="0"/>
                    <a:pt x="9" y="0"/>
                  </a:cubicBezTo>
                  <a:cubicBezTo>
                    <a:pt x="4" y="0"/>
                    <a:pt x="0" y="3"/>
                    <a:pt x="0" y="8"/>
                  </a:cubicBezTo>
                  <a:cubicBezTo>
                    <a:pt x="0" y="13"/>
                    <a:pt x="4" y="17"/>
                    <a:pt x="9" y="17"/>
                  </a:cubicBezTo>
                  <a:cubicBezTo>
                    <a:pt x="35" y="17"/>
                    <a:pt x="35" y="17"/>
                    <a:pt x="35" y="17"/>
                  </a:cubicBezTo>
                  <a:cubicBezTo>
                    <a:pt x="39" y="17"/>
                    <a:pt x="43" y="13"/>
                    <a:pt x="43" y="8"/>
                  </a:cubicBezTo>
                  <a:close/>
                  <a:moveTo>
                    <a:pt x="43" y="8"/>
                  </a:moveTo>
                  <a:cubicBezTo>
                    <a:pt x="43" y="8"/>
                    <a:pt x="43" y="8"/>
                    <a:pt x="43"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Freeform 21">
              <a:extLst>
                <a:ext uri="{FF2B5EF4-FFF2-40B4-BE49-F238E27FC236}">
                  <a16:creationId xmlns:a16="http://schemas.microsoft.com/office/drawing/2014/main" id="{37CDB7DA-3BFF-4417-A556-2073C3317DDA}"/>
                </a:ext>
              </a:extLst>
            </p:cNvPr>
            <p:cNvSpPr>
              <a:spLocks noEditPoints="1"/>
            </p:cNvSpPr>
            <p:nvPr/>
          </p:nvSpPr>
          <p:spPr bwMode="auto">
            <a:xfrm>
              <a:off x="4273550" y="2538413"/>
              <a:ext cx="85725" cy="63500"/>
            </a:xfrm>
            <a:custGeom>
              <a:avLst/>
              <a:gdLst>
                <a:gd name="T0" fmla="*/ 28 w 42"/>
                <a:gd name="T1" fmla="*/ 2 h 31"/>
                <a:gd name="T2" fmla="*/ 5 w 42"/>
                <a:gd name="T3" fmla="*/ 15 h 31"/>
                <a:gd name="T4" fmla="*/ 2 w 42"/>
                <a:gd name="T5" fmla="*/ 27 h 31"/>
                <a:gd name="T6" fmla="*/ 10 w 42"/>
                <a:gd name="T7" fmla="*/ 31 h 31"/>
                <a:gd name="T8" fmla="*/ 14 w 42"/>
                <a:gd name="T9" fmla="*/ 30 h 31"/>
                <a:gd name="T10" fmla="*/ 37 w 42"/>
                <a:gd name="T11" fmla="*/ 17 h 31"/>
                <a:gd name="T12" fmla="*/ 40 w 42"/>
                <a:gd name="T13" fmla="*/ 5 h 31"/>
                <a:gd name="T14" fmla="*/ 28 w 42"/>
                <a:gd name="T15" fmla="*/ 2 h 31"/>
                <a:gd name="T16" fmla="*/ 28 w 42"/>
                <a:gd name="T17" fmla="*/ 2 h 31"/>
                <a:gd name="T18" fmla="*/ 28 w 42"/>
                <a:gd name="T19"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28" y="2"/>
                  </a:moveTo>
                  <a:cubicBezTo>
                    <a:pt x="5" y="15"/>
                    <a:pt x="5" y="15"/>
                    <a:pt x="5" y="15"/>
                  </a:cubicBezTo>
                  <a:cubicBezTo>
                    <a:pt x="1" y="18"/>
                    <a:pt x="0" y="23"/>
                    <a:pt x="2" y="27"/>
                  </a:cubicBezTo>
                  <a:cubicBezTo>
                    <a:pt x="4" y="30"/>
                    <a:pt x="7" y="31"/>
                    <a:pt x="10" y="31"/>
                  </a:cubicBezTo>
                  <a:cubicBezTo>
                    <a:pt x="11" y="31"/>
                    <a:pt x="13" y="31"/>
                    <a:pt x="14" y="30"/>
                  </a:cubicBezTo>
                  <a:cubicBezTo>
                    <a:pt x="37" y="17"/>
                    <a:pt x="37" y="17"/>
                    <a:pt x="37" y="17"/>
                  </a:cubicBezTo>
                  <a:cubicBezTo>
                    <a:pt x="41" y="15"/>
                    <a:pt x="42" y="9"/>
                    <a:pt x="40" y="5"/>
                  </a:cubicBezTo>
                  <a:cubicBezTo>
                    <a:pt x="37" y="1"/>
                    <a:pt x="32" y="0"/>
                    <a:pt x="28" y="2"/>
                  </a:cubicBezTo>
                  <a:close/>
                  <a:moveTo>
                    <a:pt x="28" y="2"/>
                  </a:moveTo>
                  <a:cubicBezTo>
                    <a:pt x="28" y="2"/>
                    <a:pt x="28" y="2"/>
                    <a:pt x="28"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Freeform 22">
              <a:extLst>
                <a:ext uri="{FF2B5EF4-FFF2-40B4-BE49-F238E27FC236}">
                  <a16:creationId xmlns:a16="http://schemas.microsoft.com/office/drawing/2014/main" id="{7BC9B94B-3739-4E39-BE95-B0D1AE97A18E}"/>
                </a:ext>
              </a:extLst>
            </p:cNvPr>
            <p:cNvSpPr>
              <a:spLocks noEditPoints="1"/>
            </p:cNvSpPr>
            <p:nvPr/>
          </p:nvSpPr>
          <p:spPr bwMode="auto">
            <a:xfrm>
              <a:off x="4921250" y="2538413"/>
              <a:ext cx="87313" cy="63500"/>
            </a:xfrm>
            <a:custGeom>
              <a:avLst/>
              <a:gdLst>
                <a:gd name="T0" fmla="*/ 36 w 42"/>
                <a:gd name="T1" fmla="*/ 15 h 31"/>
                <a:gd name="T2" fmla="*/ 14 w 42"/>
                <a:gd name="T3" fmla="*/ 2 h 31"/>
                <a:gd name="T4" fmla="*/ 2 w 42"/>
                <a:gd name="T5" fmla="*/ 5 h 31"/>
                <a:gd name="T6" fmla="*/ 5 w 42"/>
                <a:gd name="T7" fmla="*/ 17 h 31"/>
                <a:gd name="T8" fmla="*/ 28 w 42"/>
                <a:gd name="T9" fmla="*/ 30 h 31"/>
                <a:gd name="T10" fmla="*/ 32 w 42"/>
                <a:gd name="T11" fmla="*/ 31 h 31"/>
                <a:gd name="T12" fmla="*/ 40 w 42"/>
                <a:gd name="T13" fmla="*/ 27 h 31"/>
                <a:gd name="T14" fmla="*/ 36 w 42"/>
                <a:gd name="T15" fmla="*/ 15 h 31"/>
                <a:gd name="T16" fmla="*/ 36 w 42"/>
                <a:gd name="T17" fmla="*/ 15 h 31"/>
                <a:gd name="T18" fmla="*/ 36 w 42"/>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36" y="15"/>
                  </a:moveTo>
                  <a:cubicBezTo>
                    <a:pt x="14" y="2"/>
                    <a:pt x="14" y="2"/>
                    <a:pt x="14" y="2"/>
                  </a:cubicBezTo>
                  <a:cubicBezTo>
                    <a:pt x="10" y="0"/>
                    <a:pt x="5" y="1"/>
                    <a:pt x="2" y="5"/>
                  </a:cubicBezTo>
                  <a:cubicBezTo>
                    <a:pt x="0" y="9"/>
                    <a:pt x="1" y="15"/>
                    <a:pt x="5" y="17"/>
                  </a:cubicBezTo>
                  <a:cubicBezTo>
                    <a:pt x="28" y="30"/>
                    <a:pt x="28" y="30"/>
                    <a:pt x="28" y="30"/>
                  </a:cubicBezTo>
                  <a:cubicBezTo>
                    <a:pt x="29" y="31"/>
                    <a:pt x="31" y="31"/>
                    <a:pt x="32" y="31"/>
                  </a:cubicBezTo>
                  <a:cubicBezTo>
                    <a:pt x="35" y="31"/>
                    <a:pt x="38" y="30"/>
                    <a:pt x="40" y="27"/>
                  </a:cubicBezTo>
                  <a:cubicBezTo>
                    <a:pt x="42" y="23"/>
                    <a:pt x="41" y="18"/>
                    <a:pt x="36" y="15"/>
                  </a:cubicBezTo>
                  <a:close/>
                  <a:moveTo>
                    <a:pt x="36" y="15"/>
                  </a:moveTo>
                  <a:cubicBezTo>
                    <a:pt x="36" y="15"/>
                    <a:pt x="36" y="15"/>
                    <a:pt x="36" y="1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0" name="Freeform 23">
              <a:extLst>
                <a:ext uri="{FF2B5EF4-FFF2-40B4-BE49-F238E27FC236}">
                  <a16:creationId xmlns:a16="http://schemas.microsoft.com/office/drawing/2014/main" id="{33A86720-5020-456E-A294-655FEEA5D875}"/>
                </a:ext>
              </a:extLst>
            </p:cNvPr>
            <p:cNvSpPr>
              <a:spLocks noEditPoints="1"/>
            </p:cNvSpPr>
            <p:nvPr/>
          </p:nvSpPr>
          <p:spPr bwMode="auto">
            <a:xfrm>
              <a:off x="4970463" y="2366963"/>
              <a:ext cx="88900" cy="34925"/>
            </a:xfrm>
            <a:custGeom>
              <a:avLst/>
              <a:gdLst>
                <a:gd name="T0" fmla="*/ 34 w 43"/>
                <a:gd name="T1" fmla="*/ 0 h 17"/>
                <a:gd name="T2" fmla="*/ 8 w 43"/>
                <a:gd name="T3" fmla="*/ 0 h 17"/>
                <a:gd name="T4" fmla="*/ 0 w 43"/>
                <a:gd name="T5" fmla="*/ 8 h 17"/>
                <a:gd name="T6" fmla="*/ 8 w 43"/>
                <a:gd name="T7" fmla="*/ 17 h 17"/>
                <a:gd name="T8" fmla="*/ 34 w 43"/>
                <a:gd name="T9" fmla="*/ 17 h 17"/>
                <a:gd name="T10" fmla="*/ 43 w 43"/>
                <a:gd name="T11" fmla="*/ 8 h 17"/>
                <a:gd name="T12" fmla="*/ 34 w 43"/>
                <a:gd name="T13" fmla="*/ 0 h 17"/>
                <a:gd name="T14" fmla="*/ 34 w 43"/>
                <a:gd name="T15" fmla="*/ 0 h 17"/>
                <a:gd name="T16" fmla="*/ 34 w 43"/>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17">
                  <a:moveTo>
                    <a:pt x="34" y="0"/>
                  </a:moveTo>
                  <a:cubicBezTo>
                    <a:pt x="8" y="0"/>
                    <a:pt x="8" y="0"/>
                    <a:pt x="8" y="0"/>
                  </a:cubicBezTo>
                  <a:cubicBezTo>
                    <a:pt x="4" y="0"/>
                    <a:pt x="0" y="3"/>
                    <a:pt x="0" y="8"/>
                  </a:cubicBezTo>
                  <a:cubicBezTo>
                    <a:pt x="0" y="13"/>
                    <a:pt x="4" y="17"/>
                    <a:pt x="8" y="17"/>
                  </a:cubicBezTo>
                  <a:cubicBezTo>
                    <a:pt x="34" y="17"/>
                    <a:pt x="34" y="17"/>
                    <a:pt x="34" y="17"/>
                  </a:cubicBezTo>
                  <a:cubicBezTo>
                    <a:pt x="39" y="17"/>
                    <a:pt x="43" y="13"/>
                    <a:pt x="43" y="8"/>
                  </a:cubicBezTo>
                  <a:cubicBezTo>
                    <a:pt x="43" y="3"/>
                    <a:pt x="39" y="0"/>
                    <a:pt x="34" y="0"/>
                  </a:cubicBezTo>
                  <a:close/>
                  <a:moveTo>
                    <a:pt x="34" y="0"/>
                  </a:moveTo>
                  <a:cubicBezTo>
                    <a:pt x="34" y="0"/>
                    <a:pt x="34" y="0"/>
                    <a:pt x="3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1" name="Freeform 24">
              <a:extLst>
                <a:ext uri="{FF2B5EF4-FFF2-40B4-BE49-F238E27FC236}">
                  <a16:creationId xmlns:a16="http://schemas.microsoft.com/office/drawing/2014/main" id="{642BC677-089D-4F0B-A497-6786C8E2C168}"/>
                </a:ext>
              </a:extLst>
            </p:cNvPr>
            <p:cNvSpPr>
              <a:spLocks noEditPoints="1"/>
            </p:cNvSpPr>
            <p:nvPr/>
          </p:nvSpPr>
          <p:spPr bwMode="auto">
            <a:xfrm>
              <a:off x="4921250" y="2162175"/>
              <a:ext cx="87313" cy="65088"/>
            </a:xfrm>
            <a:custGeom>
              <a:avLst/>
              <a:gdLst>
                <a:gd name="T0" fmla="*/ 10 w 42"/>
                <a:gd name="T1" fmla="*/ 31 h 31"/>
                <a:gd name="T2" fmla="*/ 14 w 42"/>
                <a:gd name="T3" fmla="*/ 30 h 31"/>
                <a:gd name="T4" fmla="*/ 36 w 42"/>
                <a:gd name="T5" fmla="*/ 17 h 31"/>
                <a:gd name="T6" fmla="*/ 40 w 42"/>
                <a:gd name="T7" fmla="*/ 5 h 31"/>
                <a:gd name="T8" fmla="*/ 28 w 42"/>
                <a:gd name="T9" fmla="*/ 2 h 31"/>
                <a:gd name="T10" fmla="*/ 5 w 42"/>
                <a:gd name="T11" fmla="*/ 15 h 31"/>
                <a:gd name="T12" fmla="*/ 2 w 42"/>
                <a:gd name="T13" fmla="*/ 27 h 31"/>
                <a:gd name="T14" fmla="*/ 10 w 42"/>
                <a:gd name="T15" fmla="*/ 31 h 31"/>
                <a:gd name="T16" fmla="*/ 10 w 42"/>
                <a:gd name="T17" fmla="*/ 31 h 31"/>
                <a:gd name="T18" fmla="*/ 10 w 42"/>
                <a:gd name="T19"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31">
                  <a:moveTo>
                    <a:pt x="10" y="31"/>
                  </a:moveTo>
                  <a:cubicBezTo>
                    <a:pt x="11" y="31"/>
                    <a:pt x="13" y="31"/>
                    <a:pt x="14" y="30"/>
                  </a:cubicBezTo>
                  <a:cubicBezTo>
                    <a:pt x="36" y="17"/>
                    <a:pt x="36" y="17"/>
                    <a:pt x="36" y="17"/>
                  </a:cubicBezTo>
                  <a:cubicBezTo>
                    <a:pt x="41" y="15"/>
                    <a:pt x="42" y="10"/>
                    <a:pt x="40" y="5"/>
                  </a:cubicBezTo>
                  <a:cubicBezTo>
                    <a:pt x="37" y="1"/>
                    <a:pt x="32" y="0"/>
                    <a:pt x="28" y="2"/>
                  </a:cubicBezTo>
                  <a:cubicBezTo>
                    <a:pt x="5" y="15"/>
                    <a:pt x="5" y="15"/>
                    <a:pt x="5" y="15"/>
                  </a:cubicBezTo>
                  <a:cubicBezTo>
                    <a:pt x="1" y="18"/>
                    <a:pt x="0" y="23"/>
                    <a:pt x="2" y="27"/>
                  </a:cubicBezTo>
                  <a:cubicBezTo>
                    <a:pt x="4" y="30"/>
                    <a:pt x="7" y="31"/>
                    <a:pt x="10" y="31"/>
                  </a:cubicBezTo>
                  <a:close/>
                  <a:moveTo>
                    <a:pt x="10" y="31"/>
                  </a:moveTo>
                  <a:cubicBezTo>
                    <a:pt x="10" y="31"/>
                    <a:pt x="10" y="31"/>
                    <a:pt x="10"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Freeform 25">
              <a:extLst>
                <a:ext uri="{FF2B5EF4-FFF2-40B4-BE49-F238E27FC236}">
                  <a16:creationId xmlns:a16="http://schemas.microsoft.com/office/drawing/2014/main" id="{07C691BA-FF0C-4417-B92C-99FE3AEE25E9}"/>
                </a:ext>
              </a:extLst>
            </p:cNvPr>
            <p:cNvSpPr>
              <a:spLocks noEditPoints="1"/>
            </p:cNvSpPr>
            <p:nvPr/>
          </p:nvSpPr>
          <p:spPr bwMode="auto">
            <a:xfrm>
              <a:off x="4794250" y="2016125"/>
              <a:ext cx="68263" cy="84138"/>
            </a:xfrm>
            <a:custGeom>
              <a:avLst/>
              <a:gdLst>
                <a:gd name="T0" fmla="*/ 6 w 33"/>
                <a:gd name="T1" fmla="*/ 39 h 41"/>
                <a:gd name="T2" fmla="*/ 10 w 33"/>
                <a:gd name="T3" fmla="*/ 41 h 41"/>
                <a:gd name="T4" fmla="*/ 17 w 33"/>
                <a:gd name="T5" fmla="*/ 36 h 41"/>
                <a:gd name="T6" fmla="*/ 30 w 33"/>
                <a:gd name="T7" fmla="*/ 14 h 41"/>
                <a:gd name="T8" fmla="*/ 27 w 33"/>
                <a:gd name="T9" fmla="*/ 2 h 41"/>
                <a:gd name="T10" fmla="*/ 15 w 33"/>
                <a:gd name="T11" fmla="*/ 5 h 41"/>
                <a:gd name="T12" fmla="*/ 2 w 33"/>
                <a:gd name="T13" fmla="*/ 28 h 41"/>
                <a:gd name="T14" fmla="*/ 6 w 33"/>
                <a:gd name="T15" fmla="*/ 39 h 41"/>
                <a:gd name="T16" fmla="*/ 6 w 33"/>
                <a:gd name="T17" fmla="*/ 39 h 41"/>
                <a:gd name="T18" fmla="*/ 6 w 33"/>
                <a:gd name="T1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1">
                  <a:moveTo>
                    <a:pt x="6" y="39"/>
                  </a:moveTo>
                  <a:cubicBezTo>
                    <a:pt x="7" y="40"/>
                    <a:pt x="8" y="41"/>
                    <a:pt x="10" y="41"/>
                  </a:cubicBezTo>
                  <a:cubicBezTo>
                    <a:pt x="13" y="41"/>
                    <a:pt x="16" y="39"/>
                    <a:pt x="17" y="36"/>
                  </a:cubicBezTo>
                  <a:cubicBezTo>
                    <a:pt x="30" y="14"/>
                    <a:pt x="30" y="14"/>
                    <a:pt x="30" y="14"/>
                  </a:cubicBezTo>
                  <a:cubicBezTo>
                    <a:pt x="33" y="10"/>
                    <a:pt x="31" y="4"/>
                    <a:pt x="27" y="2"/>
                  </a:cubicBezTo>
                  <a:cubicBezTo>
                    <a:pt x="23" y="0"/>
                    <a:pt x="18" y="1"/>
                    <a:pt x="15" y="5"/>
                  </a:cubicBezTo>
                  <a:cubicBezTo>
                    <a:pt x="2" y="28"/>
                    <a:pt x="2" y="28"/>
                    <a:pt x="2" y="28"/>
                  </a:cubicBezTo>
                  <a:cubicBezTo>
                    <a:pt x="0" y="32"/>
                    <a:pt x="1" y="37"/>
                    <a:pt x="6" y="39"/>
                  </a:cubicBezTo>
                  <a:close/>
                  <a:moveTo>
                    <a:pt x="6" y="39"/>
                  </a:moveTo>
                  <a:cubicBezTo>
                    <a:pt x="6" y="39"/>
                    <a:pt x="6" y="39"/>
                    <a:pt x="6" y="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Freeform 26">
              <a:extLst>
                <a:ext uri="{FF2B5EF4-FFF2-40B4-BE49-F238E27FC236}">
                  <a16:creationId xmlns:a16="http://schemas.microsoft.com/office/drawing/2014/main" id="{2384875D-A957-4A96-BF46-763D45F55F9E}"/>
                </a:ext>
              </a:extLst>
            </p:cNvPr>
            <p:cNvSpPr>
              <a:spLocks noEditPoints="1"/>
            </p:cNvSpPr>
            <p:nvPr/>
          </p:nvSpPr>
          <p:spPr bwMode="auto">
            <a:xfrm>
              <a:off x="4598988" y="2233613"/>
              <a:ext cx="137117" cy="496578"/>
            </a:xfrm>
            <a:custGeom>
              <a:avLst/>
              <a:gdLst>
                <a:gd name="T0" fmla="*/ 9 w 41"/>
                <a:gd name="T1" fmla="*/ 125 h 135"/>
                <a:gd name="T2" fmla="*/ 20 w 41"/>
                <a:gd name="T3" fmla="*/ 135 h 135"/>
                <a:gd name="T4" fmla="*/ 32 w 41"/>
                <a:gd name="T5" fmla="*/ 125 h 135"/>
                <a:gd name="T6" fmla="*/ 40 w 41"/>
                <a:gd name="T7" fmla="*/ 64 h 135"/>
                <a:gd name="T8" fmla="*/ 41 w 41"/>
                <a:gd name="T9" fmla="*/ 51 h 135"/>
                <a:gd name="T10" fmla="*/ 41 w 41"/>
                <a:gd name="T11" fmla="*/ 21 h 135"/>
                <a:gd name="T12" fmla="*/ 20 w 41"/>
                <a:gd name="T13" fmla="*/ 0 h 135"/>
                <a:gd name="T14" fmla="*/ 0 w 41"/>
                <a:gd name="T15" fmla="*/ 21 h 135"/>
                <a:gd name="T16" fmla="*/ 0 w 41"/>
                <a:gd name="T17" fmla="*/ 51 h 135"/>
                <a:gd name="T18" fmla="*/ 1 w 41"/>
                <a:gd name="T19" fmla="*/ 64 h 135"/>
                <a:gd name="T20" fmla="*/ 9 w 41"/>
                <a:gd name="T21" fmla="*/ 125 h 135"/>
                <a:gd name="T22" fmla="*/ 9 w 41"/>
                <a:gd name="T23" fmla="*/ 125 h 135"/>
                <a:gd name="T24" fmla="*/ 9 w 41"/>
                <a:gd name="T25" fmla="*/ 12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135">
                  <a:moveTo>
                    <a:pt x="9" y="125"/>
                  </a:moveTo>
                  <a:cubicBezTo>
                    <a:pt x="10" y="133"/>
                    <a:pt x="14" y="135"/>
                    <a:pt x="20" y="135"/>
                  </a:cubicBezTo>
                  <a:cubicBezTo>
                    <a:pt x="27" y="135"/>
                    <a:pt x="31" y="133"/>
                    <a:pt x="32" y="125"/>
                  </a:cubicBezTo>
                  <a:cubicBezTo>
                    <a:pt x="40" y="64"/>
                    <a:pt x="40" y="64"/>
                    <a:pt x="40" y="64"/>
                  </a:cubicBezTo>
                  <a:cubicBezTo>
                    <a:pt x="41" y="60"/>
                    <a:pt x="41" y="55"/>
                    <a:pt x="41" y="51"/>
                  </a:cubicBezTo>
                  <a:cubicBezTo>
                    <a:pt x="41" y="21"/>
                    <a:pt x="41" y="21"/>
                    <a:pt x="41" y="21"/>
                  </a:cubicBezTo>
                  <a:cubicBezTo>
                    <a:pt x="41" y="7"/>
                    <a:pt x="34" y="0"/>
                    <a:pt x="20" y="0"/>
                  </a:cubicBezTo>
                  <a:cubicBezTo>
                    <a:pt x="7" y="0"/>
                    <a:pt x="0" y="7"/>
                    <a:pt x="0" y="21"/>
                  </a:cubicBezTo>
                  <a:cubicBezTo>
                    <a:pt x="0" y="51"/>
                    <a:pt x="0" y="51"/>
                    <a:pt x="0" y="51"/>
                  </a:cubicBezTo>
                  <a:cubicBezTo>
                    <a:pt x="0" y="55"/>
                    <a:pt x="0" y="60"/>
                    <a:pt x="1" y="64"/>
                  </a:cubicBezTo>
                  <a:lnTo>
                    <a:pt x="9" y="125"/>
                  </a:lnTo>
                  <a:close/>
                  <a:moveTo>
                    <a:pt x="9" y="125"/>
                  </a:moveTo>
                  <a:cubicBezTo>
                    <a:pt x="9" y="125"/>
                    <a:pt x="9" y="125"/>
                    <a:pt x="9" y="1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Freeform 27">
              <a:extLst>
                <a:ext uri="{FF2B5EF4-FFF2-40B4-BE49-F238E27FC236}">
                  <a16:creationId xmlns:a16="http://schemas.microsoft.com/office/drawing/2014/main" id="{D6D87F43-5CD4-40B4-B6A4-A57ECC63FF46}"/>
                </a:ext>
              </a:extLst>
            </p:cNvPr>
            <p:cNvSpPr>
              <a:spLocks noEditPoints="1"/>
            </p:cNvSpPr>
            <p:nvPr/>
          </p:nvSpPr>
          <p:spPr bwMode="auto">
            <a:xfrm>
              <a:off x="4595813" y="2546350"/>
              <a:ext cx="88900" cy="90488"/>
            </a:xfrm>
            <a:custGeom>
              <a:avLst/>
              <a:gdLst>
                <a:gd name="T0" fmla="*/ 21 w 43"/>
                <a:gd name="T1" fmla="*/ 0 h 44"/>
                <a:gd name="T2" fmla="*/ 0 w 43"/>
                <a:gd name="T3" fmla="*/ 22 h 44"/>
                <a:gd name="T4" fmla="*/ 21 w 43"/>
                <a:gd name="T5" fmla="*/ 44 h 44"/>
                <a:gd name="T6" fmla="*/ 43 w 43"/>
                <a:gd name="T7" fmla="*/ 22 h 44"/>
                <a:gd name="T8" fmla="*/ 21 w 43"/>
                <a:gd name="T9" fmla="*/ 0 h 44"/>
                <a:gd name="T10" fmla="*/ 21 w 43"/>
                <a:gd name="T11" fmla="*/ 0 h 44"/>
                <a:gd name="T12" fmla="*/ 21 w 43"/>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3" h="44">
                  <a:moveTo>
                    <a:pt x="21" y="0"/>
                  </a:moveTo>
                  <a:cubicBezTo>
                    <a:pt x="10" y="0"/>
                    <a:pt x="0" y="10"/>
                    <a:pt x="0" y="22"/>
                  </a:cubicBezTo>
                  <a:cubicBezTo>
                    <a:pt x="0" y="34"/>
                    <a:pt x="10" y="44"/>
                    <a:pt x="21" y="44"/>
                  </a:cubicBezTo>
                  <a:cubicBezTo>
                    <a:pt x="33" y="44"/>
                    <a:pt x="43" y="34"/>
                    <a:pt x="43" y="22"/>
                  </a:cubicBezTo>
                  <a:cubicBezTo>
                    <a:pt x="43" y="10"/>
                    <a:pt x="33" y="0"/>
                    <a:pt x="21" y="0"/>
                  </a:cubicBezTo>
                  <a:close/>
                  <a:moveTo>
                    <a:pt x="21" y="0"/>
                  </a:moveTo>
                  <a:cubicBezTo>
                    <a:pt x="21" y="0"/>
                    <a:pt x="21" y="0"/>
                    <a:pt x="2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436034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Placeholder 43">
            <a:extLst>
              <a:ext uri="{FF2B5EF4-FFF2-40B4-BE49-F238E27FC236}">
                <a16:creationId xmlns:a16="http://schemas.microsoft.com/office/drawing/2014/main" id="{17587D1B-4629-4E4C-8DD3-806F2BC46332}"/>
              </a:ext>
            </a:extLst>
          </p:cNvPr>
          <p:cNvPicPr>
            <a:picLocks noGrp="1" noChangeAspect="1"/>
          </p:cNvPicPr>
          <p:nvPr>
            <p:ph type="pic" sz="quarter" idx="10"/>
          </p:nvPr>
        </p:nvPicPr>
        <p:blipFill rotWithShape="1">
          <a:blip r:embed="rId2" cstate="hqprint">
            <a:extLst>
              <a:ext uri="{28A0092B-C50C-407E-A947-70E740481C1C}">
                <a14:useLocalDpi xmlns:a14="http://schemas.microsoft.com/office/drawing/2010/main"/>
              </a:ext>
            </a:extLst>
          </a:blip>
          <a:srcRect/>
          <a:stretch/>
        </p:blipFill>
        <p:spPr>
          <a:xfrm>
            <a:off x="1588" y="0"/>
            <a:ext cx="12188825" cy="3429000"/>
          </a:xfrm>
        </p:spPr>
      </p:pic>
      <p:sp>
        <p:nvSpPr>
          <p:cNvPr id="45" name="Rectangle 44">
            <a:extLst>
              <a:ext uri="{FF2B5EF4-FFF2-40B4-BE49-F238E27FC236}">
                <a16:creationId xmlns:a16="http://schemas.microsoft.com/office/drawing/2014/main" id="{CCCFD0A8-C5D2-B34A-9F96-2B7A7A7C947D}"/>
              </a:ext>
            </a:extLst>
          </p:cNvPr>
          <p:cNvSpPr/>
          <p:nvPr/>
        </p:nvSpPr>
        <p:spPr>
          <a:xfrm>
            <a:off x="1588" y="0"/>
            <a:ext cx="12188825" cy="3429000"/>
          </a:xfrm>
          <a:prstGeom prst="rect">
            <a:avLst/>
          </a:prstGeom>
          <a:solidFill>
            <a:schemeClr val="accent6">
              <a:lumMod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riangle 7">
            <a:extLst>
              <a:ext uri="{FF2B5EF4-FFF2-40B4-BE49-F238E27FC236}">
                <a16:creationId xmlns:a16="http://schemas.microsoft.com/office/drawing/2014/main" id="{536E6AD0-D15E-45D3-AE37-FA992E418B9C}"/>
              </a:ext>
            </a:extLst>
          </p:cNvPr>
          <p:cNvSpPr/>
          <p:nvPr/>
        </p:nvSpPr>
        <p:spPr>
          <a:xfrm rot="10800000">
            <a:off x="1381614" y="3007380"/>
            <a:ext cx="1322173" cy="1139805"/>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5" name="Triangle 8">
            <a:extLst>
              <a:ext uri="{FF2B5EF4-FFF2-40B4-BE49-F238E27FC236}">
                <a16:creationId xmlns:a16="http://schemas.microsoft.com/office/drawing/2014/main" id="{D70B49B9-E9CC-7F76-EA8D-83786FF63E41}"/>
              </a:ext>
            </a:extLst>
          </p:cNvPr>
          <p:cNvSpPr/>
          <p:nvPr/>
        </p:nvSpPr>
        <p:spPr>
          <a:xfrm rot="10800000">
            <a:off x="4083814" y="3007380"/>
            <a:ext cx="1322173" cy="1139805"/>
          </a:xfrm>
          <a:prstGeom prst="triangle">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7" name="Triangle 9">
            <a:extLst>
              <a:ext uri="{FF2B5EF4-FFF2-40B4-BE49-F238E27FC236}">
                <a16:creationId xmlns:a16="http://schemas.microsoft.com/office/drawing/2014/main" id="{B298F853-DCF6-C650-BC89-E5E205929EAF}"/>
              </a:ext>
            </a:extLst>
          </p:cNvPr>
          <p:cNvSpPr/>
          <p:nvPr/>
        </p:nvSpPr>
        <p:spPr>
          <a:xfrm rot="10800000">
            <a:off x="6786013" y="3007380"/>
            <a:ext cx="1322173" cy="1139805"/>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Triangle 10">
            <a:extLst>
              <a:ext uri="{FF2B5EF4-FFF2-40B4-BE49-F238E27FC236}">
                <a16:creationId xmlns:a16="http://schemas.microsoft.com/office/drawing/2014/main" id="{7B1BDB59-5B04-2648-1D93-A721C11C6E90}"/>
              </a:ext>
            </a:extLst>
          </p:cNvPr>
          <p:cNvSpPr/>
          <p:nvPr/>
        </p:nvSpPr>
        <p:spPr>
          <a:xfrm rot="10800000">
            <a:off x="9488213" y="3007380"/>
            <a:ext cx="1322173" cy="1139805"/>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TextBox 18">
            <a:extLst>
              <a:ext uri="{FF2B5EF4-FFF2-40B4-BE49-F238E27FC236}">
                <a16:creationId xmlns:a16="http://schemas.microsoft.com/office/drawing/2014/main" id="{A01E1554-0781-5DC3-D950-981DFD63AA78}"/>
              </a:ext>
            </a:extLst>
          </p:cNvPr>
          <p:cNvSpPr txBox="1"/>
          <p:nvPr/>
        </p:nvSpPr>
        <p:spPr>
          <a:xfrm>
            <a:off x="1854989"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1</a:t>
            </a:r>
          </a:p>
        </p:txBody>
      </p:sp>
      <p:sp>
        <p:nvSpPr>
          <p:cNvPr id="20" name="TextBox 19">
            <a:extLst>
              <a:ext uri="{FF2B5EF4-FFF2-40B4-BE49-F238E27FC236}">
                <a16:creationId xmlns:a16="http://schemas.microsoft.com/office/drawing/2014/main" id="{23FFD3C1-2BA0-0CD4-B90D-93F9012E6EB8}"/>
              </a:ext>
            </a:extLst>
          </p:cNvPr>
          <p:cNvSpPr txBox="1"/>
          <p:nvPr/>
        </p:nvSpPr>
        <p:spPr>
          <a:xfrm>
            <a:off x="4557188"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2</a:t>
            </a:r>
          </a:p>
        </p:txBody>
      </p:sp>
      <p:sp>
        <p:nvSpPr>
          <p:cNvPr id="21" name="TextBox 20">
            <a:extLst>
              <a:ext uri="{FF2B5EF4-FFF2-40B4-BE49-F238E27FC236}">
                <a16:creationId xmlns:a16="http://schemas.microsoft.com/office/drawing/2014/main" id="{3B1D5EFC-363B-FE80-BF73-C2F689712E42}"/>
              </a:ext>
            </a:extLst>
          </p:cNvPr>
          <p:cNvSpPr txBox="1"/>
          <p:nvPr/>
        </p:nvSpPr>
        <p:spPr>
          <a:xfrm>
            <a:off x="7259388"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3</a:t>
            </a:r>
          </a:p>
        </p:txBody>
      </p:sp>
      <p:sp>
        <p:nvSpPr>
          <p:cNvPr id="26" name="TextBox 25">
            <a:extLst>
              <a:ext uri="{FF2B5EF4-FFF2-40B4-BE49-F238E27FC236}">
                <a16:creationId xmlns:a16="http://schemas.microsoft.com/office/drawing/2014/main" id="{D8E12B1D-91D6-E91D-F99B-62287F3ADB0E}"/>
              </a:ext>
            </a:extLst>
          </p:cNvPr>
          <p:cNvSpPr txBox="1"/>
          <p:nvPr/>
        </p:nvSpPr>
        <p:spPr>
          <a:xfrm>
            <a:off x="9961587"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4</a:t>
            </a:r>
          </a:p>
        </p:txBody>
      </p:sp>
      <p:sp>
        <p:nvSpPr>
          <p:cNvPr id="27" name="TextBox 26">
            <a:extLst>
              <a:ext uri="{FF2B5EF4-FFF2-40B4-BE49-F238E27FC236}">
                <a16:creationId xmlns:a16="http://schemas.microsoft.com/office/drawing/2014/main" id="{27C049F2-902E-0409-7FD9-8A17452EC8FA}"/>
              </a:ext>
            </a:extLst>
          </p:cNvPr>
          <p:cNvSpPr txBox="1"/>
          <p:nvPr/>
        </p:nvSpPr>
        <p:spPr>
          <a:xfrm>
            <a:off x="1380261" y="4504682"/>
            <a:ext cx="1500732" cy="338554"/>
          </a:xfrm>
          <a:prstGeom prst="rect">
            <a:avLst/>
          </a:prstGeom>
          <a:noFill/>
        </p:spPr>
        <p:txBody>
          <a:bodyPr wrap="none" rtlCol="0" anchor="b" anchorCtr="0">
            <a:spAutoFit/>
          </a:bodyPr>
          <a:lstStyle/>
          <a:p>
            <a:r>
              <a:rPr lang="en-US" sz="1600" b="1" dirty="0">
                <a:solidFill>
                  <a:schemeClr val="bg1">
                    <a:lumMod val="75000"/>
                  </a:schemeClr>
                </a:solidFill>
                <a:latin typeface="Poppins" pitchFamily="2" charset="77"/>
                <a:cs typeface="Poppins" pitchFamily="2" charset="77"/>
              </a:rPr>
              <a:t>Introduction</a:t>
            </a:r>
          </a:p>
        </p:txBody>
      </p:sp>
      <p:sp>
        <p:nvSpPr>
          <p:cNvPr id="28" name="TextBox 27">
            <a:extLst>
              <a:ext uri="{FF2B5EF4-FFF2-40B4-BE49-F238E27FC236}">
                <a16:creationId xmlns:a16="http://schemas.microsoft.com/office/drawing/2014/main" id="{F1BEB867-06A2-FA4E-125B-33B34E8D95C7}"/>
              </a:ext>
            </a:extLst>
          </p:cNvPr>
          <p:cNvSpPr txBox="1"/>
          <p:nvPr/>
        </p:nvSpPr>
        <p:spPr>
          <a:xfrm>
            <a:off x="4077089" y="4524275"/>
            <a:ext cx="1335622" cy="338554"/>
          </a:xfrm>
          <a:prstGeom prst="rect">
            <a:avLst/>
          </a:prstGeom>
          <a:noFill/>
        </p:spPr>
        <p:txBody>
          <a:bodyPr wrap="none" rtlCol="0" anchor="b" anchorCtr="0">
            <a:spAutoFit/>
          </a:bodyPr>
          <a:lstStyle/>
          <a:p>
            <a:r>
              <a:rPr lang="en-US" sz="1600" b="1" dirty="0">
                <a:solidFill>
                  <a:schemeClr val="bg1">
                    <a:lumMod val="75000"/>
                  </a:schemeClr>
                </a:solidFill>
                <a:latin typeface="Poppins" pitchFamily="2" charset="77"/>
                <a:cs typeface="Poppins" pitchFamily="2" charset="77"/>
              </a:rPr>
              <a:t>Milestone 1</a:t>
            </a:r>
          </a:p>
        </p:txBody>
      </p:sp>
      <p:sp>
        <p:nvSpPr>
          <p:cNvPr id="29" name="TextBox 28">
            <a:extLst>
              <a:ext uri="{FF2B5EF4-FFF2-40B4-BE49-F238E27FC236}">
                <a16:creationId xmlns:a16="http://schemas.microsoft.com/office/drawing/2014/main" id="{A20DA557-4AF2-8B6F-B799-E1854E75DA94}"/>
              </a:ext>
            </a:extLst>
          </p:cNvPr>
          <p:cNvSpPr txBox="1"/>
          <p:nvPr/>
        </p:nvSpPr>
        <p:spPr>
          <a:xfrm>
            <a:off x="6732488" y="4524275"/>
            <a:ext cx="1375698" cy="338554"/>
          </a:xfrm>
          <a:prstGeom prst="rect">
            <a:avLst/>
          </a:prstGeom>
          <a:noFill/>
        </p:spPr>
        <p:txBody>
          <a:bodyPr wrap="none" rtlCol="0" anchor="b" anchorCtr="0">
            <a:spAutoFit/>
          </a:bodyPr>
          <a:lstStyle/>
          <a:p>
            <a:r>
              <a:rPr lang="en-US" sz="1600" b="1" dirty="0">
                <a:latin typeface="Poppins" pitchFamily="2" charset="77"/>
              </a:rPr>
              <a:t>Milestone 2</a:t>
            </a:r>
          </a:p>
        </p:txBody>
      </p:sp>
      <p:sp>
        <p:nvSpPr>
          <p:cNvPr id="30" name="TextBox 29">
            <a:extLst>
              <a:ext uri="{FF2B5EF4-FFF2-40B4-BE49-F238E27FC236}">
                <a16:creationId xmlns:a16="http://schemas.microsoft.com/office/drawing/2014/main" id="{149E4863-E01D-642F-1A94-562363764C9F}"/>
              </a:ext>
            </a:extLst>
          </p:cNvPr>
          <p:cNvSpPr txBox="1"/>
          <p:nvPr/>
        </p:nvSpPr>
        <p:spPr>
          <a:xfrm>
            <a:off x="9376504" y="4524275"/>
            <a:ext cx="1382110" cy="338554"/>
          </a:xfrm>
          <a:prstGeom prst="rect">
            <a:avLst/>
          </a:prstGeom>
          <a:noFill/>
        </p:spPr>
        <p:txBody>
          <a:bodyPr wrap="none" rtlCol="0" anchor="b" anchorCtr="0">
            <a:spAutoFit/>
          </a:bodyPr>
          <a:lstStyle/>
          <a:p>
            <a:r>
              <a:rPr lang="en-US" sz="1600" b="1" dirty="0">
                <a:solidFill>
                  <a:schemeClr val="bg1">
                    <a:lumMod val="75000"/>
                  </a:schemeClr>
                </a:solidFill>
                <a:latin typeface="Poppins" pitchFamily="2" charset="77"/>
                <a:cs typeface="Poppins" pitchFamily="2" charset="77"/>
              </a:rPr>
              <a:t>Milestone 3</a:t>
            </a:r>
          </a:p>
        </p:txBody>
      </p:sp>
      <p:sp>
        <p:nvSpPr>
          <p:cNvPr id="31" name="TextBox 30">
            <a:extLst>
              <a:ext uri="{FF2B5EF4-FFF2-40B4-BE49-F238E27FC236}">
                <a16:creationId xmlns:a16="http://schemas.microsoft.com/office/drawing/2014/main" id="{C8FC1538-5748-7B63-4CA2-E57C9AE770A4}"/>
              </a:ext>
            </a:extLst>
          </p:cNvPr>
          <p:cNvSpPr txBox="1"/>
          <p:nvPr/>
        </p:nvSpPr>
        <p:spPr>
          <a:xfrm>
            <a:off x="-540628" y="795143"/>
            <a:ext cx="13273255" cy="1569660"/>
          </a:xfrm>
          <a:prstGeom prst="rect">
            <a:avLst/>
          </a:prstGeom>
          <a:noFill/>
        </p:spPr>
        <p:txBody>
          <a:bodyPr wrap="square" rtlCol="0">
            <a:spAutoFit/>
          </a:bodyPr>
          <a:lstStyle/>
          <a:p>
            <a:pPr algn="ctr"/>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Advanced Data Analysis and Feature Engineering </a:t>
            </a:r>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17556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3F342-7B5B-07A2-DD11-C74A12541AA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4D9A663-3E21-BB2F-B7E5-CA06EBA46FD7}"/>
              </a:ext>
            </a:extLst>
          </p:cNvPr>
          <p:cNvSpPr/>
          <p:nvPr/>
        </p:nvSpPr>
        <p:spPr>
          <a:xfrm>
            <a:off x="362309" y="292930"/>
            <a:ext cx="11646522" cy="584775"/>
          </a:xfrm>
          <a:prstGeom prst="rect">
            <a:avLst/>
          </a:prstGeom>
        </p:spPr>
        <p:txBody>
          <a:bodyPr wrap="none">
            <a:spAutoFit/>
          </a:bodyPr>
          <a:lstStyle/>
          <a:p>
            <a:r>
              <a:rPr lang="en-US" altLang="en-US" sz="3200" dirty="0">
                <a:solidFill>
                  <a:srgbClr val="535353"/>
                </a:solidFill>
                <a:latin typeface="Tahoma" panose="020B0604030504040204" pitchFamily="34" charset="0"/>
                <a:ea typeface="Tahoma" panose="020B0604030504040204" pitchFamily="34" charset="0"/>
                <a:cs typeface="Tahoma" panose="020B0604030504040204" pitchFamily="34" charset="0"/>
              </a:rPr>
              <a:t>Milestone 2 : </a:t>
            </a:r>
            <a:r>
              <a:rPr lang="en-US" sz="3200" dirty="0">
                <a:solidFill>
                  <a:srgbClr val="535353"/>
                </a:solidFill>
                <a:latin typeface="Tahoma" panose="020B0604030504040204" pitchFamily="34" charset="0"/>
                <a:ea typeface="Tahoma" panose="020B0604030504040204" pitchFamily="34" charset="0"/>
                <a:cs typeface="Tahoma" panose="020B0604030504040204" pitchFamily="34" charset="0"/>
              </a:rPr>
              <a:t>Advanced Data Analysis and Feature Engineering </a:t>
            </a:r>
          </a:p>
        </p:txBody>
      </p:sp>
      <p:sp>
        <p:nvSpPr>
          <p:cNvPr id="5" name="TextBox 4">
            <a:extLst>
              <a:ext uri="{FF2B5EF4-FFF2-40B4-BE49-F238E27FC236}">
                <a16:creationId xmlns:a16="http://schemas.microsoft.com/office/drawing/2014/main" id="{7A2ABCEB-7B35-7C95-61F5-E626B6E7FE3D}"/>
              </a:ext>
            </a:extLst>
          </p:cNvPr>
          <p:cNvSpPr txBox="1"/>
          <p:nvPr/>
        </p:nvSpPr>
        <p:spPr>
          <a:xfrm>
            <a:off x="496019" y="1049432"/>
            <a:ext cx="6098874" cy="5632311"/>
          </a:xfrm>
          <a:prstGeom prst="rect">
            <a:avLst/>
          </a:prstGeom>
          <a:noFill/>
        </p:spPr>
        <p:txBody>
          <a:bodyPr wrap="square">
            <a:spAutoFit/>
          </a:bodyPr>
          <a:lstStyle/>
          <a:p>
            <a:pPr>
              <a:buNone/>
            </a:pPr>
            <a:r>
              <a:rPr lang="en-US" b="1" dirty="0"/>
              <a:t>Statistical Tests Performed </a:t>
            </a:r>
          </a:p>
          <a:p>
            <a:pPr>
              <a:buNone/>
            </a:pPr>
            <a:endParaRPr lang="en-US" b="1" dirty="0"/>
          </a:p>
          <a:p>
            <a:pPr>
              <a:buNone/>
            </a:pPr>
            <a:r>
              <a:rPr lang="en-US" b="1" dirty="0"/>
              <a:t>T-Tests </a:t>
            </a:r>
            <a:r>
              <a:rPr lang="en-US" dirty="0"/>
              <a:t>Applied on:</a:t>
            </a:r>
          </a:p>
          <a:p>
            <a:pPr>
              <a:buFont typeface="Arial" panose="020B0604020202020204" pitchFamily="34" charset="0"/>
              <a:buChar char="•"/>
            </a:pPr>
            <a:r>
              <a:rPr lang="en-US" dirty="0"/>
              <a:t>tenure </a:t>
            </a:r>
          </a:p>
          <a:p>
            <a:pPr>
              <a:buFont typeface="Arial" panose="020B0604020202020204" pitchFamily="34" charset="0"/>
              <a:buChar char="•"/>
            </a:pPr>
            <a:r>
              <a:rPr lang="en-US" dirty="0"/>
              <a:t>MonthlyCharges </a:t>
            </a:r>
          </a:p>
          <a:p>
            <a:pPr>
              <a:buFont typeface="Arial" panose="020B0604020202020204" pitchFamily="34" charset="0"/>
              <a:buChar char="•"/>
            </a:pPr>
            <a:r>
              <a:rPr lang="en-US" dirty="0"/>
              <a:t>TotalCharges </a:t>
            </a:r>
          </a:p>
          <a:p>
            <a:pPr>
              <a:buFont typeface="Arial" panose="020B0604020202020204" pitchFamily="34" charset="0"/>
              <a:buChar char="•"/>
            </a:pPr>
            <a:endParaRPr lang="en-US" dirty="0"/>
          </a:p>
          <a:p>
            <a:pPr>
              <a:buNone/>
            </a:pPr>
            <a:r>
              <a:rPr lang="en-US" dirty="0"/>
              <a:t>Result:</a:t>
            </a:r>
          </a:p>
          <a:p>
            <a:pPr>
              <a:buFont typeface="Arial" panose="020B0604020202020204" pitchFamily="34" charset="0"/>
              <a:buChar char="•"/>
            </a:pPr>
            <a:r>
              <a:rPr lang="en-US" dirty="0"/>
              <a:t>Significant differences between churned and retained customers. </a:t>
            </a:r>
          </a:p>
          <a:p>
            <a:pPr>
              <a:buFont typeface="Arial" panose="020B0604020202020204" pitchFamily="34" charset="0"/>
              <a:buChar char="•"/>
            </a:pPr>
            <a:endParaRPr lang="en-US" dirty="0"/>
          </a:p>
          <a:p>
            <a:pPr>
              <a:buNone/>
            </a:pPr>
            <a:r>
              <a:rPr lang="en-US" b="1" dirty="0"/>
              <a:t>Chi-Squared Tests </a:t>
            </a:r>
            <a:r>
              <a:rPr lang="en-US" dirty="0"/>
              <a:t>Applied on:</a:t>
            </a:r>
          </a:p>
          <a:p>
            <a:pPr>
              <a:buFont typeface="Arial" panose="020B0604020202020204" pitchFamily="34" charset="0"/>
              <a:buChar char="•"/>
            </a:pPr>
            <a:r>
              <a:rPr lang="en-US" dirty="0"/>
              <a:t>Contract type </a:t>
            </a:r>
          </a:p>
          <a:p>
            <a:pPr>
              <a:buFont typeface="Arial" panose="020B0604020202020204" pitchFamily="34" charset="0"/>
              <a:buChar char="•"/>
            </a:pPr>
            <a:r>
              <a:rPr lang="en-US" dirty="0"/>
              <a:t>Payment method </a:t>
            </a:r>
          </a:p>
          <a:p>
            <a:pPr>
              <a:buFont typeface="Arial" panose="020B0604020202020204" pitchFamily="34" charset="0"/>
              <a:buChar char="•"/>
            </a:pPr>
            <a:r>
              <a:rPr lang="en-US" dirty="0"/>
              <a:t>Internet service </a:t>
            </a:r>
          </a:p>
          <a:p>
            <a:pPr>
              <a:buFont typeface="Arial" panose="020B0604020202020204" pitchFamily="34" charset="0"/>
              <a:buChar char="•"/>
            </a:pPr>
            <a:r>
              <a:rPr lang="en-US" dirty="0"/>
              <a:t>Tech support </a:t>
            </a:r>
          </a:p>
          <a:p>
            <a:pPr>
              <a:buFont typeface="Arial" panose="020B0604020202020204" pitchFamily="34" charset="0"/>
              <a:buChar char="•"/>
            </a:pPr>
            <a:r>
              <a:rPr lang="en-US" dirty="0"/>
              <a:t>Online security </a:t>
            </a:r>
          </a:p>
          <a:p>
            <a:pPr>
              <a:buFont typeface="Arial" panose="020B0604020202020204" pitchFamily="34" charset="0"/>
              <a:buChar char="•"/>
            </a:pPr>
            <a:endParaRPr lang="en-US" dirty="0"/>
          </a:p>
          <a:p>
            <a:pPr>
              <a:buNone/>
            </a:pPr>
            <a:r>
              <a:rPr lang="en-US" dirty="0"/>
              <a:t>Result:</a:t>
            </a:r>
          </a:p>
          <a:p>
            <a:pPr>
              <a:buFont typeface="Arial" panose="020B0604020202020204" pitchFamily="34" charset="0"/>
              <a:buChar char="•"/>
            </a:pPr>
            <a:r>
              <a:rPr lang="en-US" dirty="0"/>
              <a:t>Strong statistical relationship with churn.</a:t>
            </a:r>
          </a:p>
        </p:txBody>
      </p:sp>
    </p:spTree>
    <p:extLst>
      <p:ext uri="{BB962C8B-B14F-4D97-AF65-F5344CB8AC3E}">
        <p14:creationId xmlns:p14="http://schemas.microsoft.com/office/powerpoint/2010/main" val="4060031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D99F7-4502-BA98-6666-79C80DF520E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4F0D230-827D-7D43-2750-70D76A364FE0}"/>
              </a:ext>
            </a:extLst>
          </p:cNvPr>
          <p:cNvSpPr/>
          <p:nvPr/>
        </p:nvSpPr>
        <p:spPr>
          <a:xfrm>
            <a:off x="362309" y="292930"/>
            <a:ext cx="11646522" cy="584775"/>
          </a:xfrm>
          <a:prstGeom prst="rect">
            <a:avLst/>
          </a:prstGeom>
        </p:spPr>
        <p:txBody>
          <a:bodyPr wrap="none">
            <a:spAutoFit/>
          </a:bodyPr>
          <a:lstStyle/>
          <a:p>
            <a:r>
              <a:rPr lang="en-US" altLang="en-US" sz="3200" dirty="0">
                <a:solidFill>
                  <a:srgbClr val="535353"/>
                </a:solidFill>
                <a:latin typeface="Tahoma" panose="020B0604030504040204" pitchFamily="34" charset="0"/>
                <a:ea typeface="Tahoma" panose="020B0604030504040204" pitchFamily="34" charset="0"/>
                <a:cs typeface="Tahoma" panose="020B0604030504040204" pitchFamily="34" charset="0"/>
              </a:rPr>
              <a:t>Milestone 2 : </a:t>
            </a:r>
            <a:r>
              <a:rPr lang="en-US" sz="3200" dirty="0">
                <a:solidFill>
                  <a:srgbClr val="535353"/>
                </a:solidFill>
                <a:latin typeface="Tahoma" panose="020B0604030504040204" pitchFamily="34" charset="0"/>
                <a:ea typeface="Tahoma" panose="020B0604030504040204" pitchFamily="34" charset="0"/>
                <a:cs typeface="Tahoma" panose="020B0604030504040204" pitchFamily="34" charset="0"/>
              </a:rPr>
              <a:t>Advanced Data Analysis and Feature Engineering </a:t>
            </a:r>
          </a:p>
        </p:txBody>
      </p:sp>
      <p:sp>
        <p:nvSpPr>
          <p:cNvPr id="3" name="TextBox 2">
            <a:extLst>
              <a:ext uri="{FF2B5EF4-FFF2-40B4-BE49-F238E27FC236}">
                <a16:creationId xmlns:a16="http://schemas.microsoft.com/office/drawing/2014/main" id="{38EA2360-150C-977B-1D4F-883DA5AFB5E2}"/>
              </a:ext>
            </a:extLst>
          </p:cNvPr>
          <p:cNvSpPr txBox="1"/>
          <p:nvPr/>
        </p:nvSpPr>
        <p:spPr>
          <a:xfrm>
            <a:off x="362309" y="1291926"/>
            <a:ext cx="6098874" cy="5078313"/>
          </a:xfrm>
          <a:prstGeom prst="rect">
            <a:avLst/>
          </a:prstGeom>
          <a:noFill/>
        </p:spPr>
        <p:txBody>
          <a:bodyPr wrap="square">
            <a:spAutoFit/>
          </a:bodyPr>
          <a:lstStyle/>
          <a:p>
            <a:pPr>
              <a:buNone/>
            </a:pPr>
            <a:r>
              <a:rPr lang="en-US" b="1" dirty="0"/>
              <a:t>New Engineered Features</a:t>
            </a:r>
          </a:p>
          <a:p>
            <a:pPr>
              <a:buNone/>
            </a:pPr>
            <a:r>
              <a:rPr lang="en-US" dirty="0"/>
              <a:t>Created:</a:t>
            </a:r>
          </a:p>
          <a:p>
            <a:pPr>
              <a:buFont typeface="Arial" panose="020B0604020202020204" pitchFamily="34" charset="0"/>
              <a:buChar char="•"/>
            </a:pPr>
            <a:r>
              <a:rPr lang="en-US" dirty="0"/>
              <a:t>Average Monthly Spending </a:t>
            </a:r>
          </a:p>
          <a:p>
            <a:pPr>
              <a:buFont typeface="Arial" panose="020B0604020202020204" pitchFamily="34" charset="0"/>
              <a:buChar char="•"/>
            </a:pPr>
            <a:r>
              <a:rPr lang="en-US" dirty="0"/>
              <a:t>Total Services </a:t>
            </a:r>
          </a:p>
          <a:p>
            <a:pPr>
              <a:buFont typeface="Arial" panose="020B0604020202020204" pitchFamily="34" charset="0"/>
              <a:buChar char="•"/>
            </a:pPr>
            <a:r>
              <a:rPr lang="en-US" dirty="0"/>
              <a:t>Charge Per Service </a:t>
            </a:r>
          </a:p>
          <a:p>
            <a:pPr>
              <a:buFont typeface="Arial" panose="020B0604020202020204" pitchFamily="34" charset="0"/>
              <a:buChar char="•"/>
            </a:pPr>
            <a:r>
              <a:rPr lang="en-US" dirty="0"/>
              <a:t>Long-Term Customer Flag </a:t>
            </a:r>
          </a:p>
          <a:p>
            <a:pPr>
              <a:buFont typeface="Arial" panose="020B0604020202020204" pitchFamily="34" charset="0"/>
              <a:buChar char="•"/>
            </a:pPr>
            <a:r>
              <a:rPr lang="en-US" dirty="0"/>
              <a:t>Tenure Groups </a:t>
            </a:r>
          </a:p>
          <a:p>
            <a:pPr>
              <a:buFont typeface="Arial" panose="020B0604020202020204" pitchFamily="34" charset="0"/>
              <a:buChar char="•"/>
            </a:pPr>
            <a:endParaRPr lang="en-US" dirty="0"/>
          </a:p>
          <a:p>
            <a:pPr>
              <a:buNone/>
            </a:pPr>
            <a:r>
              <a:rPr lang="en-US" b="1" dirty="0"/>
              <a:t>Data Preparation for ML</a:t>
            </a:r>
          </a:p>
          <a:p>
            <a:pPr>
              <a:buFont typeface="Arial" panose="020B0604020202020204" pitchFamily="34" charset="0"/>
              <a:buChar char="•"/>
            </a:pPr>
            <a:r>
              <a:rPr lang="en-US" dirty="0"/>
              <a:t>One-hot encoding for categorical variables </a:t>
            </a:r>
          </a:p>
          <a:p>
            <a:pPr>
              <a:buFont typeface="Arial" panose="020B0604020202020204" pitchFamily="34" charset="0"/>
              <a:buChar char="•"/>
            </a:pPr>
            <a:r>
              <a:rPr lang="en-US" dirty="0" err="1"/>
              <a:t>MinMaxScaler</a:t>
            </a:r>
            <a:r>
              <a:rPr lang="en-US" dirty="0"/>
              <a:t> normalization </a:t>
            </a:r>
          </a:p>
          <a:p>
            <a:pPr>
              <a:buFont typeface="Arial" panose="020B0604020202020204" pitchFamily="34" charset="0"/>
              <a:buChar char="•"/>
            </a:pPr>
            <a:r>
              <a:rPr lang="en-US" dirty="0"/>
              <a:t>Feature selection using: </a:t>
            </a:r>
          </a:p>
          <a:p>
            <a:pPr marL="742950" lvl="1" indent="-285750">
              <a:buFont typeface="Arial" panose="020B0604020202020204" pitchFamily="34" charset="0"/>
              <a:buChar char="•"/>
            </a:pPr>
            <a:r>
              <a:rPr lang="en-US" dirty="0"/>
              <a:t>Random Forest </a:t>
            </a:r>
          </a:p>
          <a:p>
            <a:pPr marL="742950" lvl="1" indent="-285750">
              <a:buFont typeface="Arial" panose="020B0604020202020204" pitchFamily="34" charset="0"/>
              <a:buChar char="•"/>
            </a:pPr>
            <a:r>
              <a:rPr lang="en-US" dirty="0"/>
              <a:t>RFE (Recursive Feature Elimination)</a:t>
            </a:r>
          </a:p>
          <a:p>
            <a:pPr marL="742950" lvl="1" indent="-285750">
              <a:buFont typeface="Arial" panose="020B0604020202020204" pitchFamily="34" charset="0"/>
              <a:buChar char="•"/>
            </a:pPr>
            <a:r>
              <a:rPr lang="en-US" dirty="0"/>
              <a:t> </a:t>
            </a:r>
          </a:p>
          <a:p>
            <a:pPr>
              <a:buNone/>
            </a:pPr>
            <a:r>
              <a:rPr lang="en-US" b="1" dirty="0"/>
              <a:t>Outcome</a:t>
            </a:r>
          </a:p>
          <a:p>
            <a:pPr>
              <a:buFont typeface="Arial" panose="020B0604020202020204" pitchFamily="34" charset="0"/>
              <a:buChar char="•"/>
            </a:pPr>
            <a:r>
              <a:rPr lang="en-US" dirty="0"/>
              <a:t>Fully machine-learning-ready dataset </a:t>
            </a:r>
          </a:p>
          <a:p>
            <a:pPr>
              <a:buFont typeface="Arial" panose="020B0604020202020204" pitchFamily="34" charset="0"/>
              <a:buChar char="•"/>
            </a:pPr>
            <a:r>
              <a:rPr lang="en-US" dirty="0"/>
              <a:t>Top 15 most significant features selected</a:t>
            </a:r>
          </a:p>
        </p:txBody>
      </p:sp>
    </p:spTree>
    <p:extLst>
      <p:ext uri="{BB962C8B-B14F-4D97-AF65-F5344CB8AC3E}">
        <p14:creationId xmlns:p14="http://schemas.microsoft.com/office/powerpoint/2010/main" val="1937966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7C1A2-2076-E3E5-FE5A-497CBCB0B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C4EDB-CEF1-76DE-5BE0-A8B6F1E9FDE1}"/>
              </a:ext>
            </a:extLst>
          </p:cNvPr>
          <p:cNvSpPr>
            <a:spLocks noGrp="1"/>
          </p:cNvSpPr>
          <p:nvPr>
            <p:ph type="title"/>
          </p:nvPr>
        </p:nvSpPr>
        <p:spPr/>
        <p:txBody>
          <a:bodyPr/>
          <a:lstStyle/>
          <a:p>
            <a:r>
              <a:rPr lang="en-US" dirty="0"/>
              <a:t>MILESTONE #3</a:t>
            </a:r>
          </a:p>
        </p:txBody>
      </p:sp>
      <p:sp>
        <p:nvSpPr>
          <p:cNvPr id="3" name="Content Placeholder 2">
            <a:extLst>
              <a:ext uri="{FF2B5EF4-FFF2-40B4-BE49-F238E27FC236}">
                <a16:creationId xmlns:a16="http://schemas.microsoft.com/office/drawing/2014/main" id="{4C39EF1A-97C3-0F9A-5B8A-25D53DB3FD33}"/>
              </a:ext>
            </a:extLst>
          </p:cNvPr>
          <p:cNvSpPr>
            <a:spLocks noGrp="1"/>
          </p:cNvSpPr>
          <p:nvPr>
            <p:ph idx="1"/>
          </p:nvPr>
        </p:nvSpPr>
        <p:spPr/>
        <p:txBody>
          <a:bodyPr/>
          <a:lstStyle/>
          <a:p>
            <a:r>
              <a:rPr lang="en-US" b="1" dirty="0"/>
              <a:t>Objectives:</a:t>
            </a:r>
            <a:endParaRPr lang="en-US" dirty="0"/>
          </a:p>
          <a:p>
            <a:r>
              <a:rPr lang="en-US" dirty="0"/>
              <a:t>• Build, train, and optimize machine learning models to predict churn.</a:t>
            </a:r>
          </a:p>
          <a:p>
            <a:r>
              <a:rPr lang="en-US" b="1" dirty="0"/>
              <a:t>Deliverables:</a:t>
            </a:r>
            <a:endParaRPr lang="en-US" dirty="0"/>
          </a:p>
          <a:p>
            <a:r>
              <a:rPr lang="en-US" dirty="0"/>
              <a:t>• Model Evaluation Report: A detailed report comparing model performance with evaluation metrics.</a:t>
            </a:r>
          </a:p>
          <a:p>
            <a:r>
              <a:rPr lang="en-US" dirty="0"/>
              <a:t>• Model Code: Python code used to train, optimize, and evaluate the models.</a:t>
            </a:r>
          </a:p>
          <a:p>
            <a:r>
              <a:rPr lang="en-US" dirty="0"/>
              <a:t>• Final Model: The best-performing churn prediction model, tuned and ready for deployment</a:t>
            </a:r>
          </a:p>
        </p:txBody>
      </p:sp>
    </p:spTree>
    <p:extLst>
      <p:ext uri="{BB962C8B-B14F-4D97-AF65-F5344CB8AC3E}">
        <p14:creationId xmlns:p14="http://schemas.microsoft.com/office/powerpoint/2010/main" val="3851379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DB005-E93D-63DA-2768-C77AD64DEB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A9B5A-0230-D893-7643-11BE4DC3E9E9}"/>
              </a:ext>
            </a:extLst>
          </p:cNvPr>
          <p:cNvSpPr>
            <a:spLocks noGrp="1"/>
          </p:cNvSpPr>
          <p:nvPr>
            <p:ph type="title"/>
          </p:nvPr>
        </p:nvSpPr>
        <p:spPr/>
        <p:txBody>
          <a:bodyPr/>
          <a:lstStyle/>
          <a:p>
            <a:r>
              <a:rPr lang="en-US" dirty="0"/>
              <a:t>MILESTONE #4</a:t>
            </a:r>
          </a:p>
        </p:txBody>
      </p:sp>
      <p:sp>
        <p:nvSpPr>
          <p:cNvPr id="3" name="Content Placeholder 2">
            <a:extLst>
              <a:ext uri="{FF2B5EF4-FFF2-40B4-BE49-F238E27FC236}">
                <a16:creationId xmlns:a16="http://schemas.microsoft.com/office/drawing/2014/main" id="{57B5E83E-C9CA-3B73-4A49-49A4B604315E}"/>
              </a:ext>
            </a:extLst>
          </p:cNvPr>
          <p:cNvSpPr>
            <a:spLocks noGrp="1"/>
          </p:cNvSpPr>
          <p:nvPr>
            <p:ph idx="1"/>
          </p:nvPr>
        </p:nvSpPr>
        <p:spPr/>
        <p:txBody>
          <a:bodyPr>
            <a:normAutofit fontScale="92500" lnSpcReduction="10000"/>
          </a:bodyPr>
          <a:lstStyle/>
          <a:p>
            <a:r>
              <a:rPr lang="en-US" b="1" dirty="0"/>
              <a:t>Milestone 4: </a:t>
            </a:r>
            <a:r>
              <a:rPr lang="en-US" b="1" dirty="0" err="1"/>
              <a:t>MLOps</a:t>
            </a:r>
            <a:r>
              <a:rPr lang="en-US" b="1" dirty="0"/>
              <a:t>, Deployment, and Monitoring</a:t>
            </a:r>
            <a:endParaRPr lang="en-US" dirty="0"/>
          </a:p>
          <a:p>
            <a:r>
              <a:rPr lang="en-US" b="1" dirty="0"/>
              <a:t>Objectives:</a:t>
            </a:r>
            <a:endParaRPr lang="en-US" dirty="0"/>
          </a:p>
          <a:p>
            <a:r>
              <a:rPr lang="en-US" dirty="0"/>
              <a:t>• Implement </a:t>
            </a:r>
            <a:r>
              <a:rPr lang="en-US" dirty="0" err="1"/>
              <a:t>MLOps</a:t>
            </a:r>
            <a:r>
              <a:rPr lang="en-US" dirty="0"/>
              <a:t> practices and deploy the churn prediction model for real-time or batch predictions.</a:t>
            </a:r>
          </a:p>
          <a:p>
            <a:r>
              <a:rPr lang="en-US" b="1" dirty="0"/>
              <a:t>Deliverables:</a:t>
            </a:r>
            <a:endParaRPr lang="en-US" dirty="0"/>
          </a:p>
          <a:p>
            <a:r>
              <a:rPr lang="en-US" dirty="0"/>
              <a:t>• Deployed Model: A fully functional API or cloud-deployed model that can make real-time churn predictions.</a:t>
            </a:r>
          </a:p>
          <a:p>
            <a:r>
              <a:rPr lang="en-US" dirty="0"/>
              <a:t>• </a:t>
            </a:r>
            <a:r>
              <a:rPr lang="en-US" dirty="0" err="1"/>
              <a:t>MLOps</a:t>
            </a:r>
            <a:r>
              <a:rPr lang="en-US" dirty="0"/>
              <a:t> Report: A report detailing the </a:t>
            </a:r>
            <a:r>
              <a:rPr lang="en-US" dirty="0" err="1"/>
              <a:t>MLOps</a:t>
            </a:r>
            <a:r>
              <a:rPr lang="en-US" dirty="0"/>
              <a:t> pipeline, experiment tracking, model deployment, and monitoring setup.</a:t>
            </a:r>
          </a:p>
          <a:p>
            <a:r>
              <a:rPr lang="en-US" dirty="0"/>
              <a:t>• Monitoring Setup: Documentation on how to track model performance and trigger updates or retraining</a:t>
            </a:r>
          </a:p>
        </p:txBody>
      </p:sp>
    </p:spTree>
    <p:extLst>
      <p:ext uri="{BB962C8B-B14F-4D97-AF65-F5344CB8AC3E}">
        <p14:creationId xmlns:p14="http://schemas.microsoft.com/office/powerpoint/2010/main" val="1824018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403EA-1E50-6CE6-34C8-625B86943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8994E-CBCF-4584-E2E9-AAE099DBC096}"/>
              </a:ext>
            </a:extLst>
          </p:cNvPr>
          <p:cNvSpPr>
            <a:spLocks noGrp="1"/>
          </p:cNvSpPr>
          <p:nvPr>
            <p:ph type="title"/>
          </p:nvPr>
        </p:nvSpPr>
        <p:spPr/>
        <p:txBody>
          <a:bodyPr/>
          <a:lstStyle/>
          <a:p>
            <a:r>
              <a:rPr lang="en-US" dirty="0"/>
              <a:t>MILESTONE #5</a:t>
            </a:r>
          </a:p>
        </p:txBody>
      </p:sp>
      <p:sp>
        <p:nvSpPr>
          <p:cNvPr id="3" name="Content Placeholder 2">
            <a:extLst>
              <a:ext uri="{FF2B5EF4-FFF2-40B4-BE49-F238E27FC236}">
                <a16:creationId xmlns:a16="http://schemas.microsoft.com/office/drawing/2014/main" id="{4FBFCBF5-494E-E99D-07E2-DB4C0EC5937F}"/>
              </a:ext>
            </a:extLst>
          </p:cNvPr>
          <p:cNvSpPr>
            <a:spLocks noGrp="1"/>
          </p:cNvSpPr>
          <p:nvPr>
            <p:ph idx="1"/>
          </p:nvPr>
        </p:nvSpPr>
        <p:spPr/>
        <p:txBody>
          <a:bodyPr>
            <a:normAutofit fontScale="92500"/>
          </a:bodyPr>
          <a:lstStyle/>
          <a:p>
            <a:r>
              <a:rPr lang="en-US" b="1" dirty="0"/>
              <a:t>Milestone 5: Final Documentation and Presentation</a:t>
            </a:r>
            <a:endParaRPr lang="en-US" dirty="0"/>
          </a:p>
          <a:p>
            <a:r>
              <a:rPr lang="en-US" b="1" dirty="0"/>
              <a:t>Objectives:</a:t>
            </a:r>
            <a:endParaRPr lang="en-US" dirty="0"/>
          </a:p>
          <a:p>
            <a:r>
              <a:rPr lang="en-US" dirty="0"/>
              <a:t>• Prepare final documentation and create a presentation for stakeholders that showcases the project's results and business impact.</a:t>
            </a:r>
          </a:p>
          <a:p>
            <a:r>
              <a:rPr lang="en-US" b="1" dirty="0"/>
              <a:t>Deliverables:</a:t>
            </a:r>
            <a:endParaRPr lang="en-US" dirty="0"/>
          </a:p>
          <a:p>
            <a:r>
              <a:rPr lang="en-US" dirty="0"/>
              <a:t>• Final Project Report: A detailed summary of the project’s process, from data collection to deployment, and the business impact of churn prediction.</a:t>
            </a:r>
          </a:p>
          <a:p>
            <a:r>
              <a:rPr lang="en-US" dirty="0"/>
              <a:t>• Final Presentation: A polished presentation for business stakeholders, explaining the model’s value and usage</a:t>
            </a:r>
          </a:p>
        </p:txBody>
      </p:sp>
    </p:spTree>
    <p:extLst>
      <p:ext uri="{BB962C8B-B14F-4D97-AF65-F5344CB8AC3E}">
        <p14:creationId xmlns:p14="http://schemas.microsoft.com/office/powerpoint/2010/main" val="205520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Placeholder 43">
            <a:extLst>
              <a:ext uri="{FF2B5EF4-FFF2-40B4-BE49-F238E27FC236}">
                <a16:creationId xmlns:a16="http://schemas.microsoft.com/office/drawing/2014/main" id="{17587D1B-4629-4E4C-8DD3-806F2BC46332}"/>
              </a:ext>
            </a:extLst>
          </p:cNvPr>
          <p:cNvPicPr>
            <a:picLocks noGrp="1" noChangeAspect="1"/>
          </p:cNvPicPr>
          <p:nvPr>
            <p:ph type="pic" sz="quarter" idx="10"/>
          </p:nvPr>
        </p:nvPicPr>
        <p:blipFill rotWithShape="1">
          <a:blip r:embed="rId2" cstate="hqprint">
            <a:extLst>
              <a:ext uri="{28A0092B-C50C-407E-A947-70E740481C1C}">
                <a14:useLocalDpi xmlns:a14="http://schemas.microsoft.com/office/drawing/2010/main"/>
              </a:ext>
            </a:extLst>
          </a:blip>
          <a:srcRect/>
          <a:stretch/>
        </p:blipFill>
        <p:spPr>
          <a:xfrm>
            <a:off x="1588" y="0"/>
            <a:ext cx="12188825" cy="3429000"/>
          </a:xfrm>
        </p:spPr>
      </p:pic>
      <p:sp>
        <p:nvSpPr>
          <p:cNvPr id="45" name="Rectangle 44">
            <a:extLst>
              <a:ext uri="{FF2B5EF4-FFF2-40B4-BE49-F238E27FC236}">
                <a16:creationId xmlns:a16="http://schemas.microsoft.com/office/drawing/2014/main" id="{CCCFD0A8-C5D2-B34A-9F96-2B7A7A7C947D}"/>
              </a:ext>
            </a:extLst>
          </p:cNvPr>
          <p:cNvSpPr/>
          <p:nvPr/>
        </p:nvSpPr>
        <p:spPr>
          <a:xfrm>
            <a:off x="1588" y="0"/>
            <a:ext cx="12188825" cy="3429000"/>
          </a:xfrm>
          <a:prstGeom prst="rect">
            <a:avLst/>
          </a:prstGeom>
          <a:solidFill>
            <a:schemeClr val="accent6">
              <a:lumMod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TextBox 5">
            <a:extLst>
              <a:ext uri="{FF2B5EF4-FFF2-40B4-BE49-F238E27FC236}">
                <a16:creationId xmlns:a16="http://schemas.microsoft.com/office/drawing/2014/main" id="{9248BD4A-F2AE-3C4F-8C1B-19494841AEC4}"/>
              </a:ext>
            </a:extLst>
          </p:cNvPr>
          <p:cNvSpPr txBox="1"/>
          <p:nvPr/>
        </p:nvSpPr>
        <p:spPr>
          <a:xfrm>
            <a:off x="0" y="994968"/>
            <a:ext cx="12190412" cy="2123658"/>
          </a:xfrm>
          <a:prstGeom prst="rect">
            <a:avLst/>
          </a:prstGeom>
          <a:noFill/>
        </p:spPr>
        <p:txBody>
          <a:bodyPr wrap="square" rtlCol="0">
            <a:spAutoFit/>
          </a:bodyPr>
          <a:lstStyle/>
          <a:p>
            <a:pPr algn="ctr"/>
            <a:r>
              <a:rPr lang="en-US" sz="6600" b="1" dirty="0">
                <a:solidFill>
                  <a:schemeClr val="bg1"/>
                </a:solidFill>
                <a:latin typeface="Poppins" pitchFamily="2" charset="77"/>
                <a:ea typeface="League Spartan" charset="0"/>
                <a:cs typeface="Poppins" pitchFamily="2" charset="77"/>
              </a:rPr>
              <a:t>Conclusion &amp; Recommendations</a:t>
            </a:r>
          </a:p>
        </p:txBody>
      </p:sp>
      <p:sp>
        <p:nvSpPr>
          <p:cNvPr id="8" name="Triangle 7">
            <a:extLst>
              <a:ext uri="{FF2B5EF4-FFF2-40B4-BE49-F238E27FC236}">
                <a16:creationId xmlns:a16="http://schemas.microsoft.com/office/drawing/2014/main" id="{A62B5974-184A-0F42-ACAC-B27F7CD2C6B1}"/>
              </a:ext>
            </a:extLst>
          </p:cNvPr>
          <p:cNvSpPr/>
          <p:nvPr/>
        </p:nvSpPr>
        <p:spPr>
          <a:xfrm rot="10800000">
            <a:off x="1381614" y="3007380"/>
            <a:ext cx="1322173" cy="1139805"/>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riangle 8">
            <a:extLst>
              <a:ext uri="{FF2B5EF4-FFF2-40B4-BE49-F238E27FC236}">
                <a16:creationId xmlns:a16="http://schemas.microsoft.com/office/drawing/2014/main" id="{8F5CF707-5998-0D4F-957D-AC47822309A0}"/>
              </a:ext>
            </a:extLst>
          </p:cNvPr>
          <p:cNvSpPr/>
          <p:nvPr/>
        </p:nvSpPr>
        <p:spPr>
          <a:xfrm rot="10800000">
            <a:off x="4083814" y="3007380"/>
            <a:ext cx="1322173" cy="1139805"/>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Triangle 9">
            <a:extLst>
              <a:ext uri="{FF2B5EF4-FFF2-40B4-BE49-F238E27FC236}">
                <a16:creationId xmlns:a16="http://schemas.microsoft.com/office/drawing/2014/main" id="{B3A3E237-5F1C-F343-AD3B-A6E44CE645B8}"/>
              </a:ext>
            </a:extLst>
          </p:cNvPr>
          <p:cNvSpPr/>
          <p:nvPr/>
        </p:nvSpPr>
        <p:spPr>
          <a:xfrm rot="10800000">
            <a:off x="6786013" y="3007380"/>
            <a:ext cx="1322173" cy="1139805"/>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Triangle 10">
            <a:extLst>
              <a:ext uri="{FF2B5EF4-FFF2-40B4-BE49-F238E27FC236}">
                <a16:creationId xmlns:a16="http://schemas.microsoft.com/office/drawing/2014/main" id="{2E6A4EFE-37E1-6A45-8E90-F93E94E0982C}"/>
              </a:ext>
            </a:extLst>
          </p:cNvPr>
          <p:cNvSpPr/>
          <p:nvPr/>
        </p:nvSpPr>
        <p:spPr>
          <a:xfrm rot="10800000">
            <a:off x="9488213" y="3007380"/>
            <a:ext cx="1322173" cy="113980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TextBox 11">
            <a:extLst>
              <a:ext uri="{FF2B5EF4-FFF2-40B4-BE49-F238E27FC236}">
                <a16:creationId xmlns:a16="http://schemas.microsoft.com/office/drawing/2014/main" id="{9BA586AE-EE05-8E4B-BE7E-CFD3B5049A1D}"/>
              </a:ext>
            </a:extLst>
          </p:cNvPr>
          <p:cNvSpPr txBox="1"/>
          <p:nvPr/>
        </p:nvSpPr>
        <p:spPr>
          <a:xfrm>
            <a:off x="1854989"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1</a:t>
            </a:r>
          </a:p>
        </p:txBody>
      </p:sp>
      <p:sp>
        <p:nvSpPr>
          <p:cNvPr id="13" name="TextBox 12">
            <a:extLst>
              <a:ext uri="{FF2B5EF4-FFF2-40B4-BE49-F238E27FC236}">
                <a16:creationId xmlns:a16="http://schemas.microsoft.com/office/drawing/2014/main" id="{B4AD8CBC-664F-0944-9F12-9B05130C05CD}"/>
              </a:ext>
            </a:extLst>
          </p:cNvPr>
          <p:cNvSpPr txBox="1"/>
          <p:nvPr/>
        </p:nvSpPr>
        <p:spPr>
          <a:xfrm>
            <a:off x="4557188"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2</a:t>
            </a:r>
          </a:p>
        </p:txBody>
      </p:sp>
      <p:sp>
        <p:nvSpPr>
          <p:cNvPr id="14" name="TextBox 13">
            <a:extLst>
              <a:ext uri="{FF2B5EF4-FFF2-40B4-BE49-F238E27FC236}">
                <a16:creationId xmlns:a16="http://schemas.microsoft.com/office/drawing/2014/main" id="{21F3C510-168E-2149-A827-45F2DEA04763}"/>
              </a:ext>
            </a:extLst>
          </p:cNvPr>
          <p:cNvSpPr txBox="1"/>
          <p:nvPr/>
        </p:nvSpPr>
        <p:spPr>
          <a:xfrm>
            <a:off x="7259388"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3</a:t>
            </a:r>
          </a:p>
        </p:txBody>
      </p:sp>
      <p:sp>
        <p:nvSpPr>
          <p:cNvPr id="16" name="TextBox 15">
            <a:extLst>
              <a:ext uri="{FF2B5EF4-FFF2-40B4-BE49-F238E27FC236}">
                <a16:creationId xmlns:a16="http://schemas.microsoft.com/office/drawing/2014/main" id="{FBCF2C2B-7716-2C4D-9693-0BB887A3BF94}"/>
              </a:ext>
            </a:extLst>
          </p:cNvPr>
          <p:cNvSpPr txBox="1"/>
          <p:nvPr/>
        </p:nvSpPr>
        <p:spPr>
          <a:xfrm>
            <a:off x="9961587"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4</a:t>
            </a:r>
          </a:p>
        </p:txBody>
      </p:sp>
      <p:sp>
        <p:nvSpPr>
          <p:cNvPr id="25" name="TextBox 24">
            <a:extLst>
              <a:ext uri="{FF2B5EF4-FFF2-40B4-BE49-F238E27FC236}">
                <a16:creationId xmlns:a16="http://schemas.microsoft.com/office/drawing/2014/main" id="{C94DE941-5BDA-4640-9E1C-AD3C1152A49D}"/>
              </a:ext>
            </a:extLst>
          </p:cNvPr>
          <p:cNvSpPr txBox="1"/>
          <p:nvPr/>
        </p:nvSpPr>
        <p:spPr>
          <a:xfrm>
            <a:off x="9046273" y="4381572"/>
            <a:ext cx="2206053" cy="584775"/>
          </a:xfrm>
          <a:prstGeom prst="rect">
            <a:avLst/>
          </a:prstGeom>
          <a:noFill/>
        </p:spPr>
        <p:txBody>
          <a:bodyPr wrap="none" rtlCol="0" anchor="b" anchorCtr="0">
            <a:spAutoFit/>
          </a:bodyPr>
          <a:lstStyle/>
          <a:p>
            <a:pPr algn="ctr"/>
            <a:r>
              <a:rPr lang="en-US" sz="1600" b="1" dirty="0">
                <a:latin typeface="Poppins" pitchFamily="2" charset="77"/>
                <a:ea typeface="League Spartan" charset="0"/>
                <a:cs typeface="Poppins" pitchFamily="2" charset="77"/>
              </a:rPr>
              <a:t>Conclusion &amp; </a:t>
            </a:r>
          </a:p>
          <a:p>
            <a:pPr algn="ctr"/>
            <a:r>
              <a:rPr lang="en-US" sz="1600" b="1" dirty="0">
                <a:latin typeface="Poppins" pitchFamily="2" charset="77"/>
                <a:ea typeface="League Spartan" charset="0"/>
                <a:cs typeface="Poppins" pitchFamily="2" charset="77"/>
              </a:rPr>
              <a:t>Recommendations</a:t>
            </a:r>
          </a:p>
        </p:txBody>
      </p:sp>
    </p:spTree>
    <p:extLst>
      <p:ext uri="{BB962C8B-B14F-4D97-AF65-F5344CB8AC3E}">
        <p14:creationId xmlns:p14="http://schemas.microsoft.com/office/powerpoint/2010/main" val="3114716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2FAFCB-35A8-4882-81A9-A807B6012E44}"/>
              </a:ext>
            </a:extLst>
          </p:cNvPr>
          <p:cNvSpPr/>
          <p:nvPr/>
        </p:nvSpPr>
        <p:spPr>
          <a:xfrm>
            <a:off x="601214" y="4723058"/>
            <a:ext cx="6096000" cy="3416320"/>
          </a:xfrm>
          <a:prstGeom prst="rect">
            <a:avLst/>
          </a:prstGeom>
        </p:spPr>
        <p:txBody>
          <a:bodyPr>
            <a:spAutoFit/>
          </a:bodyPr>
          <a:lstStyle/>
          <a:p>
            <a:endParaRPr lang="en-US" dirty="0">
              <a:solidFill>
                <a:srgbClr val="404040"/>
              </a:solidFill>
              <a:latin typeface="Inter"/>
            </a:endParaRPr>
          </a:p>
          <a:p>
            <a:endParaRPr lang="en-US" dirty="0">
              <a:solidFill>
                <a:srgbClr val="404040"/>
              </a:solidFill>
              <a:latin typeface="Inter"/>
            </a:endParaRPr>
          </a:p>
          <a:p>
            <a:endParaRPr lang="en-US" dirty="0">
              <a:solidFill>
                <a:srgbClr val="404040"/>
              </a:solidFill>
              <a:latin typeface="Inter"/>
            </a:endParaRPr>
          </a:p>
          <a:p>
            <a:endParaRPr lang="en-US" dirty="0"/>
          </a:p>
          <a:p>
            <a:endParaRPr lang="en-US" dirty="0"/>
          </a:p>
          <a:p>
            <a:br>
              <a:rPr lang="en-US" dirty="0"/>
            </a:br>
            <a:endParaRPr lang="en-US" dirty="0"/>
          </a:p>
          <a:p>
            <a:br>
              <a:rPr lang="en-US" dirty="0"/>
            </a:br>
            <a:endParaRPr lang="en-US" dirty="0">
              <a:solidFill>
                <a:srgbClr val="404040"/>
              </a:solidFill>
              <a:latin typeface="Inter"/>
            </a:endParaRPr>
          </a:p>
          <a:p>
            <a:pPr lvl="1"/>
            <a:endParaRPr lang="en-US" dirty="0">
              <a:solidFill>
                <a:srgbClr val="404040"/>
              </a:solidFill>
              <a:latin typeface="Inter"/>
            </a:endParaRPr>
          </a:p>
          <a:p>
            <a:br>
              <a:rPr lang="en-US" dirty="0"/>
            </a:br>
            <a:endParaRPr lang="en-US" dirty="0"/>
          </a:p>
        </p:txBody>
      </p:sp>
      <p:graphicFrame>
        <p:nvGraphicFramePr>
          <p:cNvPr id="3" name="Table 2">
            <a:extLst>
              <a:ext uri="{FF2B5EF4-FFF2-40B4-BE49-F238E27FC236}">
                <a16:creationId xmlns:a16="http://schemas.microsoft.com/office/drawing/2014/main" id="{CF3A1D76-39ED-4A6C-BC4E-2D7610D7487D}"/>
              </a:ext>
            </a:extLst>
          </p:cNvPr>
          <p:cNvGraphicFramePr>
            <a:graphicFrameLocks noGrp="1"/>
          </p:cNvGraphicFramePr>
          <p:nvPr>
            <p:extLst>
              <p:ext uri="{D42A27DB-BD31-4B8C-83A1-F6EECF244321}">
                <p14:modId xmlns:p14="http://schemas.microsoft.com/office/powerpoint/2010/main" val="518345823"/>
              </p:ext>
            </p:extLst>
          </p:nvPr>
        </p:nvGraphicFramePr>
        <p:xfrm>
          <a:off x="307916" y="871673"/>
          <a:ext cx="11579285" cy="5577840"/>
        </p:xfrm>
        <a:graphic>
          <a:graphicData uri="http://schemas.openxmlformats.org/drawingml/2006/table">
            <a:tbl>
              <a:tblPr firstRow="1" bandRow="1">
                <a:tableStyleId>{5C22544A-7EE6-4342-B048-85BDC9FD1C3A}</a:tableStyleId>
              </a:tblPr>
              <a:tblGrid>
                <a:gridCol w="685745">
                  <a:extLst>
                    <a:ext uri="{9D8B030D-6E8A-4147-A177-3AD203B41FA5}">
                      <a16:colId xmlns:a16="http://schemas.microsoft.com/office/drawing/2014/main" val="3459839568"/>
                    </a:ext>
                  </a:extLst>
                </a:gridCol>
                <a:gridCol w="5446770">
                  <a:extLst>
                    <a:ext uri="{9D8B030D-6E8A-4147-A177-3AD203B41FA5}">
                      <a16:colId xmlns:a16="http://schemas.microsoft.com/office/drawing/2014/main" val="4257283205"/>
                    </a:ext>
                  </a:extLst>
                </a:gridCol>
                <a:gridCol w="5446770">
                  <a:extLst>
                    <a:ext uri="{9D8B030D-6E8A-4147-A177-3AD203B41FA5}">
                      <a16:colId xmlns:a16="http://schemas.microsoft.com/office/drawing/2014/main" val="2453746681"/>
                    </a:ext>
                  </a:extLst>
                </a:gridCol>
              </a:tblGrid>
              <a:tr h="333037">
                <a:tc>
                  <a:txBody>
                    <a:bodyPr/>
                    <a:lstStyle/>
                    <a:p>
                      <a:pPr algn="ctr"/>
                      <a:r>
                        <a:rPr lang="en-US" dirty="0"/>
                        <a:t>#</a:t>
                      </a:r>
                    </a:p>
                  </a:txBody>
                  <a:tcPr anchor="ctr"/>
                </a:tc>
                <a:tc>
                  <a:txBody>
                    <a:bodyPr/>
                    <a:lstStyle/>
                    <a:p>
                      <a:pPr algn="ctr"/>
                      <a:r>
                        <a:rPr lang="en-US" dirty="0"/>
                        <a:t>Conclusion</a:t>
                      </a:r>
                    </a:p>
                  </a:txBody>
                  <a:tcPr/>
                </a:tc>
                <a:tc>
                  <a:txBody>
                    <a:bodyPr/>
                    <a:lstStyle/>
                    <a:p>
                      <a:pPr algn="ctr"/>
                      <a:r>
                        <a:rPr lang="en-US" dirty="0"/>
                        <a:t>Recommendation</a:t>
                      </a:r>
                    </a:p>
                  </a:txBody>
                  <a:tcPr/>
                </a:tc>
                <a:extLst>
                  <a:ext uri="{0D108BD9-81ED-4DB2-BD59-A6C34878D82A}">
                    <a16:rowId xmlns:a16="http://schemas.microsoft.com/office/drawing/2014/main" val="3124972220"/>
                  </a:ext>
                </a:extLst>
              </a:tr>
              <a:tr h="832593">
                <a:tc>
                  <a:txBody>
                    <a:bodyPr/>
                    <a:lstStyle/>
                    <a:p>
                      <a:pPr algn="ctr"/>
                      <a:r>
                        <a:rPr lang="en-US" dirty="0">
                          <a:solidFill>
                            <a:schemeClr val="tx1"/>
                          </a:solidFill>
                        </a:rPr>
                        <a:t>1</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Inter"/>
                        </a:rPr>
                        <a:t>The churn rates between males and females are nearly identical, suggesting that gender may not be a significant factor influencing churn in this dataset.</a:t>
                      </a:r>
                    </a:p>
                  </a:txBody>
                  <a:tcPr/>
                </a:tc>
                <a:tc>
                  <a:txBody>
                    <a:bodyPr/>
                    <a:lstStyle/>
                    <a:p>
                      <a:pPr algn="just"/>
                      <a:r>
                        <a:rPr lang="en-US" dirty="0">
                          <a:solidFill>
                            <a:schemeClr val="tx1"/>
                          </a:solidFill>
                        </a:rPr>
                        <a:t>Retention strategies should target both genders with the same interest.</a:t>
                      </a:r>
                    </a:p>
                  </a:txBody>
                  <a:tcPr/>
                </a:tc>
                <a:extLst>
                  <a:ext uri="{0D108BD9-81ED-4DB2-BD59-A6C34878D82A}">
                    <a16:rowId xmlns:a16="http://schemas.microsoft.com/office/drawing/2014/main" val="2826631713"/>
                  </a:ext>
                </a:extLst>
              </a:tr>
              <a:tr h="582815">
                <a:tc>
                  <a:txBody>
                    <a:bodyPr/>
                    <a:lstStyle/>
                    <a:p>
                      <a:pPr algn="ctr"/>
                      <a:r>
                        <a:rPr lang="en-US" dirty="0">
                          <a:solidFill>
                            <a:schemeClr val="tx1"/>
                          </a:solidFill>
                        </a:rPr>
                        <a:t>2</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Inter"/>
                        </a:rPr>
                        <a:t>The presence of a partner appears to be associated with higher customer retention.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Targeted retention strategies for customers without partners could help reduce overall churn rates.</a:t>
                      </a:r>
                    </a:p>
                  </a:txBody>
                  <a:tcPr/>
                </a:tc>
                <a:extLst>
                  <a:ext uri="{0D108BD9-81ED-4DB2-BD59-A6C34878D82A}">
                    <a16:rowId xmlns:a16="http://schemas.microsoft.com/office/drawing/2014/main" val="673466352"/>
                  </a:ext>
                </a:extLst>
              </a:tr>
              <a:tr h="582815">
                <a:tc>
                  <a:txBody>
                    <a:bodyPr/>
                    <a:lstStyle/>
                    <a:p>
                      <a:pPr algn="ctr"/>
                      <a:r>
                        <a:rPr lang="en-US" dirty="0">
                          <a:solidFill>
                            <a:schemeClr val="tx1"/>
                          </a:solidFill>
                        </a:rPr>
                        <a:t>3</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Inter"/>
                        </a:rPr>
                        <a:t>The presence of dependents appears to be associated with higher customer retention.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Inter"/>
                        </a:rPr>
                        <a:t>Targeted retention strategies for customers without dependents could help reduce overall churn rates.</a:t>
                      </a:r>
                    </a:p>
                  </a:txBody>
                  <a:tcPr/>
                </a:tc>
                <a:extLst>
                  <a:ext uri="{0D108BD9-81ED-4DB2-BD59-A6C34878D82A}">
                    <a16:rowId xmlns:a16="http://schemas.microsoft.com/office/drawing/2014/main" val="3422821442"/>
                  </a:ext>
                </a:extLst>
              </a:tr>
              <a:tr h="832593">
                <a:tc>
                  <a:txBody>
                    <a:bodyPr/>
                    <a:lstStyle/>
                    <a:p>
                      <a:pPr algn="ctr"/>
                      <a:r>
                        <a:rPr lang="en-US" dirty="0">
                          <a:solidFill>
                            <a:schemeClr val="tx1"/>
                          </a:solidFill>
                        </a:rPr>
                        <a:t>4</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The presence of phone service (regardless of multiple or single lines) is associated with slightly better retention compared to those without phone service.</a:t>
                      </a:r>
                    </a:p>
                  </a:txBody>
                  <a:tcPr/>
                </a:tc>
                <a:tc>
                  <a:txBody>
                    <a:bodyPr/>
                    <a:lstStyle/>
                    <a:p>
                      <a:pPr algn="just"/>
                      <a:r>
                        <a:rPr lang="en-US" dirty="0">
                          <a:solidFill>
                            <a:schemeClr val="tx1"/>
                          </a:solidFill>
                        </a:rPr>
                        <a:t>The marketing team should implement new campaigns to encourage customers to get phone services and to encourage other customers to get multiples lines.</a:t>
                      </a:r>
                    </a:p>
                  </a:txBody>
                  <a:tcPr/>
                </a:tc>
                <a:extLst>
                  <a:ext uri="{0D108BD9-81ED-4DB2-BD59-A6C34878D82A}">
                    <a16:rowId xmlns:a16="http://schemas.microsoft.com/office/drawing/2014/main" val="5946287"/>
                  </a:ext>
                </a:extLst>
              </a:tr>
              <a:tr h="832593">
                <a:tc>
                  <a:txBody>
                    <a:bodyPr/>
                    <a:lstStyle/>
                    <a:p>
                      <a:pPr algn="ctr"/>
                      <a:r>
                        <a:rPr lang="en-US" dirty="0">
                          <a:solidFill>
                            <a:schemeClr val="tx1"/>
                          </a:solidFill>
                        </a:rPr>
                        <a:t>5</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The type of internet service significantly impacts churn behavior, with fiber optic </a:t>
                      </a:r>
                      <a:r>
                        <a:rPr lang="en-US" dirty="0">
                          <a:solidFill>
                            <a:schemeClr val="tx1"/>
                          </a:solidFill>
                          <a:latin typeface="Inter"/>
                        </a:rPr>
                        <a:t>customers</a:t>
                      </a:r>
                      <a:r>
                        <a:rPr lang="en-US" sz="1800" b="0" i="0" kern="1200" dirty="0">
                          <a:solidFill>
                            <a:schemeClr val="tx1"/>
                          </a:solidFill>
                          <a:effectLst/>
                          <a:latin typeface="+mn-lt"/>
                          <a:ea typeface="+mn-ea"/>
                          <a:cs typeface="+mn-cs"/>
                        </a:rPr>
                        <a:t> being more likely to churn. </a:t>
                      </a:r>
                      <a:endParaRPr lang="en-US" dirty="0">
                        <a:solidFill>
                          <a:schemeClr val="tx1"/>
                        </a:solidFill>
                      </a:endParaRPr>
                    </a:p>
                  </a:txBody>
                  <a:tcPr/>
                </a:tc>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tx1"/>
                          </a:solidFill>
                          <a:effectLst/>
                          <a:latin typeface="+mn-lt"/>
                          <a:ea typeface="+mn-ea"/>
                          <a:cs typeface="+mn-cs"/>
                        </a:rPr>
                        <a:t>Implement targeted retention strategies for fiber optic customers.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Improve service quality for fiber optic </a:t>
                      </a:r>
                      <a:r>
                        <a:rPr lang="en-US" sz="1800" b="0" i="0" kern="1200" dirty="0">
                          <a:solidFill>
                            <a:schemeClr val="tx1"/>
                          </a:solidFill>
                          <a:effectLst/>
                          <a:latin typeface="+mn-lt"/>
                          <a:ea typeface="+mn-ea"/>
                          <a:cs typeface="+mn-cs"/>
                        </a:rPr>
                        <a:t>customers</a:t>
                      </a:r>
                      <a:r>
                        <a:rPr lang="en-US" b="0" dirty="0"/>
                        <a:t> to reduce dissatisfaction</a:t>
                      </a:r>
                      <a:r>
                        <a:rPr lang="en-US" dirty="0"/>
                        <a:t>.</a:t>
                      </a:r>
                    </a:p>
                  </a:txBody>
                  <a:tcPr/>
                </a:tc>
                <a:extLst>
                  <a:ext uri="{0D108BD9-81ED-4DB2-BD59-A6C34878D82A}">
                    <a16:rowId xmlns:a16="http://schemas.microsoft.com/office/drawing/2014/main" val="3102786945"/>
                  </a:ext>
                </a:extLst>
              </a:tr>
              <a:tr h="832593">
                <a:tc>
                  <a:txBody>
                    <a:bodyPr/>
                    <a:lstStyle/>
                    <a:p>
                      <a:pPr algn="ctr"/>
                      <a:r>
                        <a:rPr lang="en-US" dirty="0">
                          <a:solidFill>
                            <a:schemeClr val="tx1"/>
                          </a:solidFill>
                        </a:rPr>
                        <a:t>6</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Only 29% of the customers have online security, indicating a relatively low adoption rate among those with internet service.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This suggests a need for increased awareness or incentives to adopt security measures among internet customers.</a:t>
                      </a:r>
                    </a:p>
                  </a:txBody>
                  <a:tcPr/>
                </a:tc>
                <a:extLst>
                  <a:ext uri="{0D108BD9-81ED-4DB2-BD59-A6C34878D82A}">
                    <a16:rowId xmlns:a16="http://schemas.microsoft.com/office/drawing/2014/main" val="3321386610"/>
                  </a:ext>
                </a:extLst>
              </a:tr>
            </a:tbl>
          </a:graphicData>
        </a:graphic>
      </p:graphicFrame>
      <p:sp>
        <p:nvSpPr>
          <p:cNvPr id="4" name="TextBox 3">
            <a:extLst>
              <a:ext uri="{FF2B5EF4-FFF2-40B4-BE49-F238E27FC236}">
                <a16:creationId xmlns:a16="http://schemas.microsoft.com/office/drawing/2014/main" id="{8ED2A1EE-29B5-4E0D-8795-B839D755DB7A}"/>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Conclusion &amp; Recommendations</a:t>
            </a:r>
          </a:p>
        </p:txBody>
      </p:sp>
    </p:spTree>
    <p:extLst>
      <p:ext uri="{BB962C8B-B14F-4D97-AF65-F5344CB8AC3E}">
        <p14:creationId xmlns:p14="http://schemas.microsoft.com/office/powerpoint/2010/main" val="4106955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2FAFCB-35A8-4882-81A9-A807B6012E44}"/>
              </a:ext>
            </a:extLst>
          </p:cNvPr>
          <p:cNvSpPr/>
          <p:nvPr/>
        </p:nvSpPr>
        <p:spPr>
          <a:xfrm>
            <a:off x="601214" y="4723058"/>
            <a:ext cx="6096000" cy="3416320"/>
          </a:xfrm>
          <a:prstGeom prst="rect">
            <a:avLst/>
          </a:prstGeom>
        </p:spPr>
        <p:txBody>
          <a:bodyPr>
            <a:spAutoFit/>
          </a:bodyPr>
          <a:lstStyle/>
          <a:p>
            <a:endParaRPr lang="en-US" dirty="0">
              <a:solidFill>
                <a:srgbClr val="404040"/>
              </a:solidFill>
              <a:latin typeface="Inter"/>
            </a:endParaRPr>
          </a:p>
          <a:p>
            <a:endParaRPr lang="en-US" dirty="0">
              <a:solidFill>
                <a:srgbClr val="404040"/>
              </a:solidFill>
              <a:latin typeface="Inter"/>
            </a:endParaRPr>
          </a:p>
          <a:p>
            <a:endParaRPr lang="en-US" dirty="0">
              <a:solidFill>
                <a:srgbClr val="404040"/>
              </a:solidFill>
              <a:latin typeface="Inter"/>
            </a:endParaRPr>
          </a:p>
          <a:p>
            <a:endParaRPr lang="en-US" dirty="0"/>
          </a:p>
          <a:p>
            <a:endParaRPr lang="en-US" dirty="0"/>
          </a:p>
          <a:p>
            <a:br>
              <a:rPr lang="en-US" dirty="0"/>
            </a:br>
            <a:endParaRPr lang="en-US" dirty="0"/>
          </a:p>
          <a:p>
            <a:br>
              <a:rPr lang="en-US" dirty="0"/>
            </a:br>
            <a:endParaRPr lang="en-US" dirty="0">
              <a:solidFill>
                <a:srgbClr val="404040"/>
              </a:solidFill>
              <a:latin typeface="Inter"/>
            </a:endParaRPr>
          </a:p>
          <a:p>
            <a:pPr lvl="1"/>
            <a:endParaRPr lang="en-US" dirty="0">
              <a:solidFill>
                <a:srgbClr val="404040"/>
              </a:solidFill>
              <a:latin typeface="Inter"/>
            </a:endParaRPr>
          </a:p>
          <a:p>
            <a:br>
              <a:rPr lang="en-US" dirty="0"/>
            </a:br>
            <a:endParaRPr lang="en-US" dirty="0"/>
          </a:p>
        </p:txBody>
      </p:sp>
      <p:graphicFrame>
        <p:nvGraphicFramePr>
          <p:cNvPr id="4" name="Table 3">
            <a:extLst>
              <a:ext uri="{FF2B5EF4-FFF2-40B4-BE49-F238E27FC236}">
                <a16:creationId xmlns:a16="http://schemas.microsoft.com/office/drawing/2014/main" id="{1DFE2B05-07A2-47B3-9B68-D454C6F9C870}"/>
              </a:ext>
            </a:extLst>
          </p:cNvPr>
          <p:cNvGraphicFramePr>
            <a:graphicFrameLocks noGrp="1"/>
          </p:cNvGraphicFramePr>
          <p:nvPr>
            <p:extLst>
              <p:ext uri="{D42A27DB-BD31-4B8C-83A1-F6EECF244321}">
                <p14:modId xmlns:p14="http://schemas.microsoft.com/office/powerpoint/2010/main" val="883594238"/>
              </p:ext>
            </p:extLst>
          </p:nvPr>
        </p:nvGraphicFramePr>
        <p:xfrm>
          <a:off x="307916" y="871673"/>
          <a:ext cx="11579285" cy="5212080"/>
        </p:xfrm>
        <a:graphic>
          <a:graphicData uri="http://schemas.openxmlformats.org/drawingml/2006/table">
            <a:tbl>
              <a:tblPr firstRow="1" bandRow="1">
                <a:tableStyleId>{5C22544A-7EE6-4342-B048-85BDC9FD1C3A}</a:tableStyleId>
              </a:tblPr>
              <a:tblGrid>
                <a:gridCol w="685745">
                  <a:extLst>
                    <a:ext uri="{9D8B030D-6E8A-4147-A177-3AD203B41FA5}">
                      <a16:colId xmlns:a16="http://schemas.microsoft.com/office/drawing/2014/main" val="3459839568"/>
                    </a:ext>
                  </a:extLst>
                </a:gridCol>
                <a:gridCol w="5446770">
                  <a:extLst>
                    <a:ext uri="{9D8B030D-6E8A-4147-A177-3AD203B41FA5}">
                      <a16:colId xmlns:a16="http://schemas.microsoft.com/office/drawing/2014/main" val="4257283205"/>
                    </a:ext>
                  </a:extLst>
                </a:gridCol>
                <a:gridCol w="5446770">
                  <a:extLst>
                    <a:ext uri="{9D8B030D-6E8A-4147-A177-3AD203B41FA5}">
                      <a16:colId xmlns:a16="http://schemas.microsoft.com/office/drawing/2014/main" val="2453746681"/>
                    </a:ext>
                  </a:extLst>
                </a:gridCol>
              </a:tblGrid>
              <a:tr h="333037">
                <a:tc>
                  <a:txBody>
                    <a:bodyPr/>
                    <a:lstStyle/>
                    <a:p>
                      <a:pPr algn="ctr"/>
                      <a:r>
                        <a:rPr lang="en-US" dirty="0"/>
                        <a:t>#</a:t>
                      </a:r>
                    </a:p>
                  </a:txBody>
                  <a:tcPr anchor="ctr"/>
                </a:tc>
                <a:tc>
                  <a:txBody>
                    <a:bodyPr/>
                    <a:lstStyle/>
                    <a:p>
                      <a:pPr algn="ctr"/>
                      <a:r>
                        <a:rPr lang="en-US" dirty="0"/>
                        <a:t>Conclusion</a:t>
                      </a:r>
                    </a:p>
                  </a:txBody>
                  <a:tcPr/>
                </a:tc>
                <a:tc>
                  <a:txBody>
                    <a:bodyPr/>
                    <a:lstStyle/>
                    <a:p>
                      <a:pPr algn="ctr"/>
                      <a:r>
                        <a:rPr lang="en-US" dirty="0"/>
                        <a:t>Recommendation</a:t>
                      </a:r>
                    </a:p>
                  </a:txBody>
                  <a:tcPr/>
                </a:tc>
                <a:extLst>
                  <a:ext uri="{0D108BD9-81ED-4DB2-BD59-A6C34878D82A}">
                    <a16:rowId xmlns:a16="http://schemas.microsoft.com/office/drawing/2014/main" val="3124972220"/>
                  </a:ext>
                </a:extLst>
              </a:tr>
              <a:tr h="832593">
                <a:tc>
                  <a:txBody>
                    <a:bodyPr/>
                    <a:lstStyle/>
                    <a:p>
                      <a:pPr algn="ctr"/>
                      <a:r>
                        <a:rPr lang="en-US" dirty="0">
                          <a:solidFill>
                            <a:schemeClr val="tx1"/>
                          </a:solidFill>
                        </a:rPr>
                        <a:t>7</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Customers with online security exhibit a lower churn rate (15%), indicating better retention compared to Customers without online security.</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This suggests that enhancing online security measures could improve customer retention.</a:t>
                      </a:r>
                    </a:p>
                  </a:txBody>
                  <a:tcPr/>
                </a:tc>
                <a:extLst>
                  <a:ext uri="{0D108BD9-81ED-4DB2-BD59-A6C34878D82A}">
                    <a16:rowId xmlns:a16="http://schemas.microsoft.com/office/drawing/2014/main" val="2826631713"/>
                  </a:ext>
                </a:extLst>
              </a:tr>
              <a:tr h="582815">
                <a:tc>
                  <a:txBody>
                    <a:bodyPr/>
                    <a:lstStyle/>
                    <a:p>
                      <a:pPr algn="ctr"/>
                      <a:r>
                        <a:rPr lang="en-US" dirty="0">
                          <a:solidFill>
                            <a:schemeClr val="tx1"/>
                          </a:solidFill>
                        </a:rPr>
                        <a:t>8</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low adoption of online backup suggests potential risks and a need for increased awareness or incentives to adopt backup solutions among internet users.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This suggests that promoting online backup solutions could improve customer retention.</a:t>
                      </a:r>
                    </a:p>
                  </a:txBody>
                  <a:tcPr/>
                </a:tc>
                <a:extLst>
                  <a:ext uri="{0D108BD9-81ED-4DB2-BD59-A6C34878D82A}">
                    <a16:rowId xmlns:a16="http://schemas.microsoft.com/office/drawing/2014/main" val="673466352"/>
                  </a:ext>
                </a:extLst>
              </a:tr>
              <a:tr h="582815">
                <a:tc>
                  <a:txBody>
                    <a:bodyPr/>
                    <a:lstStyle/>
                    <a:p>
                      <a:pPr algn="ctr"/>
                      <a:r>
                        <a:rPr lang="en-US" dirty="0">
                          <a:solidFill>
                            <a:schemeClr val="tx1"/>
                          </a:solidFill>
                        </a:rPr>
                        <a:t>9</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low adoption of device protection suggests potential risks and a need for increased awareness or incentives to adopt protection.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This suggests that promoting device protection solutions could improve customer retention.</a:t>
                      </a:r>
                    </a:p>
                  </a:txBody>
                  <a:tcPr/>
                </a:tc>
                <a:extLst>
                  <a:ext uri="{0D108BD9-81ED-4DB2-BD59-A6C34878D82A}">
                    <a16:rowId xmlns:a16="http://schemas.microsoft.com/office/drawing/2014/main" val="3422821442"/>
                  </a:ext>
                </a:extLst>
              </a:tr>
              <a:tr h="832593">
                <a:tc>
                  <a:txBody>
                    <a:bodyPr/>
                    <a:lstStyle/>
                    <a:p>
                      <a:pPr algn="ctr"/>
                      <a:r>
                        <a:rPr lang="en-US" dirty="0">
                          <a:solidFill>
                            <a:schemeClr val="tx1"/>
                          </a:solidFill>
                        </a:rPr>
                        <a:t>10</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low adoption of tech support suggests potential challenges and a need for increased awareness or incentives to adopt tech support services among internet users.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We recommend promoting tech support services for customers as it could significantly improve customer retention.</a:t>
                      </a:r>
                    </a:p>
                    <a:p>
                      <a:pPr algn="just"/>
                      <a:endParaRPr lang="en-US" dirty="0">
                        <a:solidFill>
                          <a:schemeClr val="tx1"/>
                        </a:solidFill>
                      </a:endParaRPr>
                    </a:p>
                  </a:txBody>
                  <a:tcPr/>
                </a:tc>
                <a:extLst>
                  <a:ext uri="{0D108BD9-81ED-4DB2-BD59-A6C34878D82A}">
                    <a16:rowId xmlns:a16="http://schemas.microsoft.com/office/drawing/2014/main" val="5946287"/>
                  </a:ext>
                </a:extLst>
              </a:tr>
              <a:tr h="832593">
                <a:tc>
                  <a:txBody>
                    <a:bodyPr/>
                    <a:lstStyle/>
                    <a:p>
                      <a:pPr algn="ctr"/>
                      <a:r>
                        <a:rPr lang="en-US" dirty="0">
                          <a:solidFill>
                            <a:schemeClr val="tx1"/>
                          </a:solidFill>
                        </a:rPr>
                        <a:t>11</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presence of streaming movies is associated with slightly lower churn rates.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We recommend adjusting new pricing models for streaming movies services.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b="0" i="0" kern="1200" dirty="0">
                        <a:solidFill>
                          <a:schemeClr val="tx1"/>
                        </a:solidFill>
                        <a:effectLst/>
                        <a:latin typeface="+mn-lt"/>
                        <a:ea typeface="+mn-ea"/>
                        <a:cs typeface="+mn-cs"/>
                      </a:endParaRPr>
                    </a:p>
                  </a:txBody>
                  <a:tcPr/>
                </a:tc>
                <a:extLst>
                  <a:ext uri="{0D108BD9-81ED-4DB2-BD59-A6C34878D82A}">
                    <a16:rowId xmlns:a16="http://schemas.microsoft.com/office/drawing/2014/main" val="3102786945"/>
                  </a:ext>
                </a:extLst>
              </a:tr>
            </a:tbl>
          </a:graphicData>
        </a:graphic>
      </p:graphicFrame>
      <p:sp>
        <p:nvSpPr>
          <p:cNvPr id="5" name="TextBox 4">
            <a:extLst>
              <a:ext uri="{FF2B5EF4-FFF2-40B4-BE49-F238E27FC236}">
                <a16:creationId xmlns:a16="http://schemas.microsoft.com/office/drawing/2014/main" id="{2F7C9F3C-9F53-4682-8A20-45C44D72EF6C}"/>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Conclusion &amp; Recommendations</a:t>
            </a:r>
          </a:p>
        </p:txBody>
      </p:sp>
    </p:spTree>
    <p:extLst>
      <p:ext uri="{BB962C8B-B14F-4D97-AF65-F5344CB8AC3E}">
        <p14:creationId xmlns:p14="http://schemas.microsoft.com/office/powerpoint/2010/main" val="782490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2FAFCB-35A8-4882-81A9-A807B6012E44}"/>
              </a:ext>
            </a:extLst>
          </p:cNvPr>
          <p:cNvSpPr/>
          <p:nvPr/>
        </p:nvSpPr>
        <p:spPr>
          <a:xfrm>
            <a:off x="601214" y="4723058"/>
            <a:ext cx="6096000" cy="3416320"/>
          </a:xfrm>
          <a:prstGeom prst="rect">
            <a:avLst/>
          </a:prstGeom>
        </p:spPr>
        <p:txBody>
          <a:bodyPr>
            <a:spAutoFit/>
          </a:bodyPr>
          <a:lstStyle/>
          <a:p>
            <a:endParaRPr lang="en-US" dirty="0">
              <a:solidFill>
                <a:srgbClr val="404040"/>
              </a:solidFill>
              <a:latin typeface="Inter"/>
            </a:endParaRPr>
          </a:p>
          <a:p>
            <a:endParaRPr lang="en-US" dirty="0">
              <a:solidFill>
                <a:srgbClr val="404040"/>
              </a:solidFill>
              <a:latin typeface="Inter"/>
            </a:endParaRPr>
          </a:p>
          <a:p>
            <a:endParaRPr lang="en-US" dirty="0">
              <a:solidFill>
                <a:srgbClr val="404040"/>
              </a:solidFill>
              <a:latin typeface="Inter"/>
            </a:endParaRPr>
          </a:p>
          <a:p>
            <a:endParaRPr lang="en-US" dirty="0"/>
          </a:p>
          <a:p>
            <a:endParaRPr lang="en-US" dirty="0"/>
          </a:p>
          <a:p>
            <a:br>
              <a:rPr lang="en-US" dirty="0"/>
            </a:br>
            <a:endParaRPr lang="en-US" dirty="0"/>
          </a:p>
          <a:p>
            <a:br>
              <a:rPr lang="en-US" dirty="0"/>
            </a:br>
            <a:endParaRPr lang="en-US" dirty="0">
              <a:solidFill>
                <a:srgbClr val="404040"/>
              </a:solidFill>
              <a:latin typeface="Inter"/>
            </a:endParaRPr>
          </a:p>
          <a:p>
            <a:pPr lvl="1"/>
            <a:endParaRPr lang="en-US" dirty="0">
              <a:solidFill>
                <a:srgbClr val="404040"/>
              </a:solidFill>
              <a:latin typeface="Inter"/>
            </a:endParaRPr>
          </a:p>
          <a:p>
            <a:br>
              <a:rPr lang="en-US" dirty="0"/>
            </a:br>
            <a:endParaRPr lang="en-US" dirty="0"/>
          </a:p>
        </p:txBody>
      </p:sp>
      <p:graphicFrame>
        <p:nvGraphicFramePr>
          <p:cNvPr id="5" name="Table 4">
            <a:extLst>
              <a:ext uri="{FF2B5EF4-FFF2-40B4-BE49-F238E27FC236}">
                <a16:creationId xmlns:a16="http://schemas.microsoft.com/office/drawing/2014/main" id="{71386D88-793A-401A-9EB7-C8E7E90AC98B}"/>
              </a:ext>
            </a:extLst>
          </p:cNvPr>
          <p:cNvGraphicFramePr>
            <a:graphicFrameLocks noGrp="1"/>
          </p:cNvGraphicFramePr>
          <p:nvPr>
            <p:extLst>
              <p:ext uri="{D42A27DB-BD31-4B8C-83A1-F6EECF244321}">
                <p14:modId xmlns:p14="http://schemas.microsoft.com/office/powerpoint/2010/main" val="3273090796"/>
              </p:ext>
            </p:extLst>
          </p:nvPr>
        </p:nvGraphicFramePr>
        <p:xfrm>
          <a:off x="307916" y="871673"/>
          <a:ext cx="11579285" cy="4754880"/>
        </p:xfrm>
        <a:graphic>
          <a:graphicData uri="http://schemas.openxmlformats.org/drawingml/2006/table">
            <a:tbl>
              <a:tblPr firstRow="1" bandRow="1">
                <a:tableStyleId>{5C22544A-7EE6-4342-B048-85BDC9FD1C3A}</a:tableStyleId>
              </a:tblPr>
              <a:tblGrid>
                <a:gridCol w="685745">
                  <a:extLst>
                    <a:ext uri="{9D8B030D-6E8A-4147-A177-3AD203B41FA5}">
                      <a16:colId xmlns:a16="http://schemas.microsoft.com/office/drawing/2014/main" val="3459839568"/>
                    </a:ext>
                  </a:extLst>
                </a:gridCol>
                <a:gridCol w="5446770">
                  <a:extLst>
                    <a:ext uri="{9D8B030D-6E8A-4147-A177-3AD203B41FA5}">
                      <a16:colId xmlns:a16="http://schemas.microsoft.com/office/drawing/2014/main" val="4257283205"/>
                    </a:ext>
                  </a:extLst>
                </a:gridCol>
                <a:gridCol w="5446770">
                  <a:extLst>
                    <a:ext uri="{9D8B030D-6E8A-4147-A177-3AD203B41FA5}">
                      <a16:colId xmlns:a16="http://schemas.microsoft.com/office/drawing/2014/main" val="2453746681"/>
                    </a:ext>
                  </a:extLst>
                </a:gridCol>
              </a:tblGrid>
              <a:tr h="167876">
                <a:tc>
                  <a:txBody>
                    <a:bodyPr/>
                    <a:lstStyle/>
                    <a:p>
                      <a:pPr algn="ctr"/>
                      <a:r>
                        <a:rPr lang="en-US" dirty="0"/>
                        <a:t>#</a:t>
                      </a:r>
                    </a:p>
                  </a:txBody>
                  <a:tcPr anchor="ctr"/>
                </a:tc>
                <a:tc>
                  <a:txBody>
                    <a:bodyPr/>
                    <a:lstStyle/>
                    <a:p>
                      <a:pPr algn="ctr"/>
                      <a:r>
                        <a:rPr lang="en-US" dirty="0"/>
                        <a:t>Conclusion</a:t>
                      </a:r>
                    </a:p>
                  </a:txBody>
                  <a:tcPr/>
                </a:tc>
                <a:tc>
                  <a:txBody>
                    <a:bodyPr/>
                    <a:lstStyle/>
                    <a:p>
                      <a:pPr algn="ctr"/>
                      <a:r>
                        <a:rPr lang="en-US" dirty="0"/>
                        <a:t>Recommendation</a:t>
                      </a:r>
                    </a:p>
                  </a:txBody>
                  <a:tcPr/>
                </a:tc>
                <a:extLst>
                  <a:ext uri="{0D108BD9-81ED-4DB2-BD59-A6C34878D82A}">
                    <a16:rowId xmlns:a16="http://schemas.microsoft.com/office/drawing/2014/main" val="3124972220"/>
                  </a:ext>
                </a:extLst>
              </a:tr>
              <a:tr h="419689">
                <a:tc>
                  <a:txBody>
                    <a:bodyPr/>
                    <a:lstStyle/>
                    <a:p>
                      <a:pPr algn="ctr"/>
                      <a:r>
                        <a:rPr lang="en-US" dirty="0">
                          <a:solidFill>
                            <a:schemeClr val="tx1"/>
                          </a:solidFill>
                        </a:rPr>
                        <a:t>12</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high prevalence of month-to-month contracts suggests a need to focus on retention strategies for this group, as they may be more likely to churn compared to those with longer-term contracts.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We recommend encouraging customers to switch to longer-term contracts as it could significantly reduce churn rates and improve customer retention.</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b="0" i="0" kern="1200" dirty="0">
                        <a:solidFill>
                          <a:schemeClr val="dk1"/>
                        </a:solidFill>
                        <a:effectLst/>
                        <a:latin typeface="+mn-lt"/>
                        <a:ea typeface="+mn-ea"/>
                        <a:cs typeface="+mn-cs"/>
                      </a:endParaRPr>
                    </a:p>
                  </a:txBody>
                  <a:tcPr/>
                </a:tc>
                <a:extLst>
                  <a:ext uri="{0D108BD9-81ED-4DB2-BD59-A6C34878D82A}">
                    <a16:rowId xmlns:a16="http://schemas.microsoft.com/office/drawing/2014/main" val="2826631713"/>
                  </a:ext>
                </a:extLst>
              </a:tr>
              <a:tr h="419689">
                <a:tc>
                  <a:txBody>
                    <a:bodyPr/>
                    <a:lstStyle/>
                    <a:p>
                      <a:pPr algn="ctr"/>
                      <a:r>
                        <a:rPr lang="en-US" dirty="0">
                          <a:solidFill>
                            <a:schemeClr val="tx1"/>
                          </a:solidFill>
                        </a:rPr>
                        <a:t>13</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high adoption of paperless billing suggests that digital communication channels are widely accepted and could be leveraged for further customer engagement and retention strategies.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We recommend migrating paper billing services to be paperless to maintain the same experience for the majority of customers.</a:t>
                      </a:r>
                    </a:p>
                  </a:txBody>
                  <a:tcPr/>
                </a:tc>
                <a:extLst>
                  <a:ext uri="{0D108BD9-81ED-4DB2-BD59-A6C34878D82A}">
                    <a16:rowId xmlns:a16="http://schemas.microsoft.com/office/drawing/2014/main" val="673466352"/>
                  </a:ext>
                </a:extLst>
              </a:tr>
              <a:tr h="545596">
                <a:tc>
                  <a:txBody>
                    <a:bodyPr/>
                    <a:lstStyle/>
                    <a:p>
                      <a:pPr algn="ctr"/>
                      <a:r>
                        <a:rPr lang="en-US" dirty="0">
                          <a:solidFill>
                            <a:schemeClr val="tx1"/>
                          </a:solidFill>
                        </a:rPr>
                        <a:t>14</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relationship between tenure and churn rate highlights the importance of customer retention strategies, particularly for newer customers.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dk1"/>
                          </a:solidFill>
                          <a:effectLst/>
                          <a:latin typeface="+mn-lt"/>
                          <a:ea typeface="+mn-ea"/>
                          <a:cs typeface="+mn-cs"/>
                        </a:rPr>
                        <a:t>Investigate the reasons behind higher churn rates among customers with shorter tenures (e.g., onboarding process, initial customer experience).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dk1"/>
                          </a:solidFill>
                          <a:effectLst/>
                          <a:latin typeface="+mn-lt"/>
                          <a:ea typeface="+mn-ea"/>
                          <a:cs typeface="+mn-cs"/>
                        </a:rPr>
                        <a:t>Develop loyalty programs and engagement strategies to improve retention for newer customers.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Encourage longer contract commitments by offering discounts or loyalty benefits.</a:t>
                      </a:r>
                    </a:p>
                  </a:txBody>
                  <a:tcPr/>
                </a:tc>
                <a:extLst>
                  <a:ext uri="{0D108BD9-81ED-4DB2-BD59-A6C34878D82A}">
                    <a16:rowId xmlns:a16="http://schemas.microsoft.com/office/drawing/2014/main" val="5946287"/>
                  </a:ext>
                </a:extLst>
              </a:tr>
            </a:tbl>
          </a:graphicData>
        </a:graphic>
      </p:graphicFrame>
      <p:sp>
        <p:nvSpPr>
          <p:cNvPr id="6" name="TextBox 5">
            <a:extLst>
              <a:ext uri="{FF2B5EF4-FFF2-40B4-BE49-F238E27FC236}">
                <a16:creationId xmlns:a16="http://schemas.microsoft.com/office/drawing/2014/main" id="{AF878E34-CB0B-422B-B232-7B812E2CD338}"/>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Conclusion &amp; Recommendations</a:t>
            </a:r>
          </a:p>
        </p:txBody>
      </p:sp>
    </p:spTree>
    <p:extLst>
      <p:ext uri="{BB962C8B-B14F-4D97-AF65-F5344CB8AC3E}">
        <p14:creationId xmlns:p14="http://schemas.microsoft.com/office/powerpoint/2010/main" val="3341448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2FAFCB-35A8-4882-81A9-A807B6012E44}"/>
              </a:ext>
            </a:extLst>
          </p:cNvPr>
          <p:cNvSpPr/>
          <p:nvPr/>
        </p:nvSpPr>
        <p:spPr>
          <a:xfrm>
            <a:off x="601214" y="4723058"/>
            <a:ext cx="6096000" cy="3416320"/>
          </a:xfrm>
          <a:prstGeom prst="rect">
            <a:avLst/>
          </a:prstGeom>
        </p:spPr>
        <p:txBody>
          <a:bodyPr>
            <a:spAutoFit/>
          </a:bodyPr>
          <a:lstStyle/>
          <a:p>
            <a:endParaRPr lang="en-US" dirty="0">
              <a:solidFill>
                <a:srgbClr val="404040"/>
              </a:solidFill>
              <a:latin typeface="Inter"/>
            </a:endParaRPr>
          </a:p>
          <a:p>
            <a:endParaRPr lang="en-US" dirty="0">
              <a:solidFill>
                <a:srgbClr val="404040"/>
              </a:solidFill>
              <a:latin typeface="Inter"/>
            </a:endParaRPr>
          </a:p>
          <a:p>
            <a:endParaRPr lang="en-US" dirty="0">
              <a:solidFill>
                <a:srgbClr val="404040"/>
              </a:solidFill>
              <a:latin typeface="Inter"/>
            </a:endParaRPr>
          </a:p>
          <a:p>
            <a:endParaRPr lang="en-US" dirty="0"/>
          </a:p>
          <a:p>
            <a:endParaRPr lang="en-US" dirty="0"/>
          </a:p>
          <a:p>
            <a:br>
              <a:rPr lang="en-US" dirty="0"/>
            </a:br>
            <a:endParaRPr lang="en-US" dirty="0"/>
          </a:p>
          <a:p>
            <a:br>
              <a:rPr lang="en-US" dirty="0"/>
            </a:br>
            <a:endParaRPr lang="en-US" dirty="0">
              <a:solidFill>
                <a:srgbClr val="404040"/>
              </a:solidFill>
              <a:latin typeface="Inter"/>
            </a:endParaRPr>
          </a:p>
          <a:p>
            <a:pPr lvl="1"/>
            <a:endParaRPr lang="en-US" dirty="0">
              <a:solidFill>
                <a:srgbClr val="404040"/>
              </a:solidFill>
              <a:latin typeface="Inter"/>
            </a:endParaRPr>
          </a:p>
          <a:p>
            <a:br>
              <a:rPr lang="en-US" dirty="0"/>
            </a:br>
            <a:endParaRPr lang="en-US" dirty="0"/>
          </a:p>
        </p:txBody>
      </p:sp>
      <p:graphicFrame>
        <p:nvGraphicFramePr>
          <p:cNvPr id="5" name="Table 4">
            <a:extLst>
              <a:ext uri="{FF2B5EF4-FFF2-40B4-BE49-F238E27FC236}">
                <a16:creationId xmlns:a16="http://schemas.microsoft.com/office/drawing/2014/main" id="{71386D88-793A-401A-9EB7-C8E7E90AC98B}"/>
              </a:ext>
            </a:extLst>
          </p:cNvPr>
          <p:cNvGraphicFramePr>
            <a:graphicFrameLocks noGrp="1"/>
          </p:cNvGraphicFramePr>
          <p:nvPr>
            <p:extLst>
              <p:ext uri="{D42A27DB-BD31-4B8C-83A1-F6EECF244321}">
                <p14:modId xmlns:p14="http://schemas.microsoft.com/office/powerpoint/2010/main" val="31650866"/>
              </p:ext>
            </p:extLst>
          </p:nvPr>
        </p:nvGraphicFramePr>
        <p:xfrm>
          <a:off x="307916" y="871673"/>
          <a:ext cx="11579285" cy="2468880"/>
        </p:xfrm>
        <a:graphic>
          <a:graphicData uri="http://schemas.openxmlformats.org/drawingml/2006/table">
            <a:tbl>
              <a:tblPr firstRow="1" bandRow="1">
                <a:tableStyleId>{5C22544A-7EE6-4342-B048-85BDC9FD1C3A}</a:tableStyleId>
              </a:tblPr>
              <a:tblGrid>
                <a:gridCol w="685745">
                  <a:extLst>
                    <a:ext uri="{9D8B030D-6E8A-4147-A177-3AD203B41FA5}">
                      <a16:colId xmlns:a16="http://schemas.microsoft.com/office/drawing/2014/main" val="3459839568"/>
                    </a:ext>
                  </a:extLst>
                </a:gridCol>
                <a:gridCol w="5446770">
                  <a:extLst>
                    <a:ext uri="{9D8B030D-6E8A-4147-A177-3AD203B41FA5}">
                      <a16:colId xmlns:a16="http://schemas.microsoft.com/office/drawing/2014/main" val="4257283205"/>
                    </a:ext>
                  </a:extLst>
                </a:gridCol>
                <a:gridCol w="5446770">
                  <a:extLst>
                    <a:ext uri="{9D8B030D-6E8A-4147-A177-3AD203B41FA5}">
                      <a16:colId xmlns:a16="http://schemas.microsoft.com/office/drawing/2014/main" val="2453746681"/>
                    </a:ext>
                  </a:extLst>
                </a:gridCol>
              </a:tblGrid>
              <a:tr h="167876">
                <a:tc>
                  <a:txBody>
                    <a:bodyPr/>
                    <a:lstStyle/>
                    <a:p>
                      <a:pPr algn="ctr"/>
                      <a:r>
                        <a:rPr lang="en-US" dirty="0"/>
                        <a:t>#</a:t>
                      </a:r>
                    </a:p>
                  </a:txBody>
                  <a:tcPr anchor="ctr"/>
                </a:tc>
                <a:tc>
                  <a:txBody>
                    <a:bodyPr/>
                    <a:lstStyle/>
                    <a:p>
                      <a:pPr algn="ctr"/>
                      <a:r>
                        <a:rPr lang="en-US" dirty="0"/>
                        <a:t>Conclusion</a:t>
                      </a:r>
                    </a:p>
                  </a:txBody>
                  <a:tcPr/>
                </a:tc>
                <a:tc>
                  <a:txBody>
                    <a:bodyPr/>
                    <a:lstStyle/>
                    <a:p>
                      <a:pPr algn="ctr"/>
                      <a:r>
                        <a:rPr lang="en-US" dirty="0"/>
                        <a:t>Recommendation</a:t>
                      </a:r>
                    </a:p>
                  </a:txBody>
                  <a:tcPr/>
                </a:tc>
                <a:extLst>
                  <a:ext uri="{0D108BD9-81ED-4DB2-BD59-A6C34878D82A}">
                    <a16:rowId xmlns:a16="http://schemas.microsoft.com/office/drawing/2014/main" val="3124972220"/>
                  </a:ext>
                </a:extLst>
              </a:tr>
              <a:tr h="419689">
                <a:tc>
                  <a:txBody>
                    <a:bodyPr/>
                    <a:lstStyle/>
                    <a:p>
                      <a:pPr algn="ctr"/>
                      <a:r>
                        <a:rPr lang="en-US" dirty="0">
                          <a:solidFill>
                            <a:schemeClr val="tx1"/>
                          </a:solidFill>
                        </a:rPr>
                        <a:t>15</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diversity in payment methods suggests that customers have varied preferences, and understanding these preferences can help in tailoring payment-related services and communications.</a:t>
                      </a:r>
                    </a:p>
                  </a:txBody>
                  <a:tcPr/>
                </a:tc>
                <a:tc>
                  <a:txBody>
                    <a:bodyPr/>
                    <a:lstStyle/>
                    <a:p>
                      <a:pPr>
                        <a:buFont typeface="Arial" panose="020B0604020202020204" pitchFamily="34" charset="0"/>
                        <a:buNone/>
                      </a:pPr>
                      <a:r>
                        <a:rPr lang="en-US" b="0" dirty="0"/>
                        <a:t>Provide incentives for electronic check users to switch to more stable payment methods.</a:t>
                      </a:r>
                    </a:p>
                  </a:txBody>
                  <a:tcPr/>
                </a:tc>
                <a:extLst>
                  <a:ext uri="{0D108BD9-81ED-4DB2-BD59-A6C34878D82A}">
                    <a16:rowId xmlns:a16="http://schemas.microsoft.com/office/drawing/2014/main" val="3422821442"/>
                  </a:ext>
                </a:extLst>
              </a:tr>
              <a:tr h="545596">
                <a:tc>
                  <a:txBody>
                    <a:bodyPr/>
                    <a:lstStyle/>
                    <a:p>
                      <a:pPr algn="ctr"/>
                      <a:r>
                        <a:rPr lang="en-US" dirty="0">
                          <a:solidFill>
                            <a:schemeClr val="tx1"/>
                          </a:solidFill>
                        </a:rPr>
                        <a:t>16</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There are higher churn rates among customers with no </a:t>
                      </a:r>
                      <a:r>
                        <a:rPr lang="en-US" b="0" dirty="0"/>
                        <a:t>value-added services (security, backup, tech support) compared to other customers with such services.</a:t>
                      </a:r>
                      <a:endParaRPr lang="en-US" sz="1800" b="0"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dirty="0"/>
                        <a:t>Promote value-added services (security, backup, tech support) to increase retention.</a:t>
                      </a:r>
                    </a:p>
                  </a:txBody>
                  <a:tcPr/>
                </a:tc>
                <a:extLst>
                  <a:ext uri="{0D108BD9-81ED-4DB2-BD59-A6C34878D82A}">
                    <a16:rowId xmlns:a16="http://schemas.microsoft.com/office/drawing/2014/main" val="5946287"/>
                  </a:ext>
                </a:extLst>
              </a:tr>
            </a:tbl>
          </a:graphicData>
        </a:graphic>
      </p:graphicFrame>
      <p:sp>
        <p:nvSpPr>
          <p:cNvPr id="6" name="TextBox 5">
            <a:extLst>
              <a:ext uri="{FF2B5EF4-FFF2-40B4-BE49-F238E27FC236}">
                <a16:creationId xmlns:a16="http://schemas.microsoft.com/office/drawing/2014/main" id="{AF878E34-CB0B-422B-B232-7B812E2CD338}"/>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Conclusion &amp; Recommendations</a:t>
            </a:r>
          </a:p>
        </p:txBody>
      </p:sp>
    </p:spTree>
    <p:extLst>
      <p:ext uri="{BB962C8B-B14F-4D97-AF65-F5344CB8AC3E}">
        <p14:creationId xmlns:p14="http://schemas.microsoft.com/office/powerpoint/2010/main" val="23582248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Placeholder 43">
            <a:extLst>
              <a:ext uri="{FF2B5EF4-FFF2-40B4-BE49-F238E27FC236}">
                <a16:creationId xmlns:a16="http://schemas.microsoft.com/office/drawing/2014/main" id="{17587D1B-4629-4E4C-8DD3-806F2BC46332}"/>
              </a:ext>
            </a:extLst>
          </p:cNvPr>
          <p:cNvPicPr>
            <a:picLocks noGrp="1" noChangeAspect="1"/>
          </p:cNvPicPr>
          <p:nvPr>
            <p:ph type="pic" sz="quarter" idx="10"/>
          </p:nvPr>
        </p:nvPicPr>
        <p:blipFill rotWithShape="1">
          <a:blip r:embed="rId2" cstate="hqprint">
            <a:extLst>
              <a:ext uri="{28A0092B-C50C-407E-A947-70E740481C1C}">
                <a14:useLocalDpi xmlns:a14="http://schemas.microsoft.com/office/drawing/2010/main"/>
              </a:ext>
            </a:extLst>
          </a:blip>
          <a:srcRect/>
          <a:stretch/>
        </p:blipFill>
        <p:spPr>
          <a:xfrm>
            <a:off x="1588" y="0"/>
            <a:ext cx="12188825" cy="3429000"/>
          </a:xfrm>
        </p:spPr>
      </p:pic>
      <p:sp>
        <p:nvSpPr>
          <p:cNvPr id="45" name="Rectangle 44">
            <a:extLst>
              <a:ext uri="{FF2B5EF4-FFF2-40B4-BE49-F238E27FC236}">
                <a16:creationId xmlns:a16="http://schemas.microsoft.com/office/drawing/2014/main" id="{CCCFD0A8-C5D2-B34A-9F96-2B7A7A7C947D}"/>
              </a:ext>
            </a:extLst>
          </p:cNvPr>
          <p:cNvSpPr/>
          <p:nvPr/>
        </p:nvSpPr>
        <p:spPr>
          <a:xfrm>
            <a:off x="1588" y="0"/>
            <a:ext cx="12188825" cy="3429000"/>
          </a:xfrm>
          <a:prstGeom prst="rect">
            <a:avLst/>
          </a:prstGeom>
          <a:solidFill>
            <a:schemeClr val="accent6">
              <a:lumMod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TextBox 5">
            <a:extLst>
              <a:ext uri="{FF2B5EF4-FFF2-40B4-BE49-F238E27FC236}">
                <a16:creationId xmlns:a16="http://schemas.microsoft.com/office/drawing/2014/main" id="{9248BD4A-F2AE-3C4F-8C1B-19494841AEC4}"/>
              </a:ext>
            </a:extLst>
          </p:cNvPr>
          <p:cNvSpPr txBox="1"/>
          <p:nvPr/>
        </p:nvSpPr>
        <p:spPr>
          <a:xfrm>
            <a:off x="0" y="994968"/>
            <a:ext cx="12190412" cy="1107996"/>
          </a:xfrm>
          <a:prstGeom prst="rect">
            <a:avLst/>
          </a:prstGeom>
          <a:noFill/>
        </p:spPr>
        <p:txBody>
          <a:bodyPr wrap="square" rtlCol="0">
            <a:spAutoFit/>
          </a:bodyPr>
          <a:lstStyle/>
          <a:p>
            <a:pPr algn="ctr"/>
            <a:r>
              <a:rPr lang="en-US" sz="6600" b="1" dirty="0">
                <a:solidFill>
                  <a:schemeClr val="bg1"/>
                </a:solidFill>
                <a:latin typeface="Poppins" pitchFamily="2" charset="77"/>
                <a:ea typeface="League Spartan" charset="0"/>
                <a:cs typeface="Poppins" pitchFamily="2" charset="77"/>
              </a:rPr>
              <a:t>Action Plan</a:t>
            </a:r>
          </a:p>
        </p:txBody>
      </p:sp>
      <p:sp>
        <p:nvSpPr>
          <p:cNvPr id="8" name="Triangle 7">
            <a:extLst>
              <a:ext uri="{FF2B5EF4-FFF2-40B4-BE49-F238E27FC236}">
                <a16:creationId xmlns:a16="http://schemas.microsoft.com/office/drawing/2014/main" id="{A62B5974-184A-0F42-ACAC-B27F7CD2C6B1}"/>
              </a:ext>
            </a:extLst>
          </p:cNvPr>
          <p:cNvSpPr/>
          <p:nvPr/>
        </p:nvSpPr>
        <p:spPr>
          <a:xfrm rot="10800000">
            <a:off x="1381614" y="3007380"/>
            <a:ext cx="1322173" cy="1139805"/>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riangle 8">
            <a:extLst>
              <a:ext uri="{FF2B5EF4-FFF2-40B4-BE49-F238E27FC236}">
                <a16:creationId xmlns:a16="http://schemas.microsoft.com/office/drawing/2014/main" id="{8F5CF707-5998-0D4F-957D-AC47822309A0}"/>
              </a:ext>
            </a:extLst>
          </p:cNvPr>
          <p:cNvSpPr/>
          <p:nvPr/>
        </p:nvSpPr>
        <p:spPr>
          <a:xfrm rot="10800000">
            <a:off x="4083814" y="3007380"/>
            <a:ext cx="1322173" cy="1139805"/>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Triangle 9">
            <a:extLst>
              <a:ext uri="{FF2B5EF4-FFF2-40B4-BE49-F238E27FC236}">
                <a16:creationId xmlns:a16="http://schemas.microsoft.com/office/drawing/2014/main" id="{B3A3E237-5F1C-F343-AD3B-A6E44CE645B8}"/>
              </a:ext>
            </a:extLst>
          </p:cNvPr>
          <p:cNvSpPr/>
          <p:nvPr/>
        </p:nvSpPr>
        <p:spPr>
          <a:xfrm rot="10800000">
            <a:off x="6786013" y="3007380"/>
            <a:ext cx="1322173" cy="1139805"/>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Triangle 10">
            <a:extLst>
              <a:ext uri="{FF2B5EF4-FFF2-40B4-BE49-F238E27FC236}">
                <a16:creationId xmlns:a16="http://schemas.microsoft.com/office/drawing/2014/main" id="{2E6A4EFE-37E1-6A45-8E90-F93E94E0982C}"/>
              </a:ext>
            </a:extLst>
          </p:cNvPr>
          <p:cNvSpPr/>
          <p:nvPr/>
        </p:nvSpPr>
        <p:spPr>
          <a:xfrm rot="10800000">
            <a:off x="9488213" y="3007380"/>
            <a:ext cx="1322173" cy="113980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TextBox 11">
            <a:extLst>
              <a:ext uri="{FF2B5EF4-FFF2-40B4-BE49-F238E27FC236}">
                <a16:creationId xmlns:a16="http://schemas.microsoft.com/office/drawing/2014/main" id="{9BA586AE-EE05-8E4B-BE7E-CFD3B5049A1D}"/>
              </a:ext>
            </a:extLst>
          </p:cNvPr>
          <p:cNvSpPr txBox="1"/>
          <p:nvPr/>
        </p:nvSpPr>
        <p:spPr>
          <a:xfrm>
            <a:off x="1854989"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1</a:t>
            </a:r>
          </a:p>
        </p:txBody>
      </p:sp>
      <p:sp>
        <p:nvSpPr>
          <p:cNvPr id="13" name="TextBox 12">
            <a:extLst>
              <a:ext uri="{FF2B5EF4-FFF2-40B4-BE49-F238E27FC236}">
                <a16:creationId xmlns:a16="http://schemas.microsoft.com/office/drawing/2014/main" id="{B4AD8CBC-664F-0944-9F12-9B05130C05CD}"/>
              </a:ext>
            </a:extLst>
          </p:cNvPr>
          <p:cNvSpPr txBox="1"/>
          <p:nvPr/>
        </p:nvSpPr>
        <p:spPr>
          <a:xfrm>
            <a:off x="4557188"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2</a:t>
            </a:r>
          </a:p>
        </p:txBody>
      </p:sp>
      <p:sp>
        <p:nvSpPr>
          <p:cNvPr id="14" name="TextBox 13">
            <a:extLst>
              <a:ext uri="{FF2B5EF4-FFF2-40B4-BE49-F238E27FC236}">
                <a16:creationId xmlns:a16="http://schemas.microsoft.com/office/drawing/2014/main" id="{21F3C510-168E-2149-A827-45F2DEA04763}"/>
              </a:ext>
            </a:extLst>
          </p:cNvPr>
          <p:cNvSpPr txBox="1"/>
          <p:nvPr/>
        </p:nvSpPr>
        <p:spPr>
          <a:xfrm>
            <a:off x="7259388"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3</a:t>
            </a:r>
          </a:p>
        </p:txBody>
      </p:sp>
      <p:sp>
        <p:nvSpPr>
          <p:cNvPr id="16" name="TextBox 15">
            <a:extLst>
              <a:ext uri="{FF2B5EF4-FFF2-40B4-BE49-F238E27FC236}">
                <a16:creationId xmlns:a16="http://schemas.microsoft.com/office/drawing/2014/main" id="{FBCF2C2B-7716-2C4D-9693-0BB887A3BF94}"/>
              </a:ext>
            </a:extLst>
          </p:cNvPr>
          <p:cNvSpPr txBox="1"/>
          <p:nvPr/>
        </p:nvSpPr>
        <p:spPr>
          <a:xfrm>
            <a:off x="9961587" y="3152001"/>
            <a:ext cx="375424" cy="553998"/>
          </a:xfrm>
          <a:prstGeom prst="rect">
            <a:avLst/>
          </a:prstGeom>
          <a:noFill/>
        </p:spPr>
        <p:txBody>
          <a:bodyPr wrap="none" rtlCol="0" anchor="ctr" anchorCtr="0">
            <a:spAutoFit/>
          </a:bodyPr>
          <a:lstStyle/>
          <a:p>
            <a:pPr algn="ctr"/>
            <a:r>
              <a:rPr lang="en-US" sz="3000" b="1" dirty="0">
                <a:solidFill>
                  <a:schemeClr val="bg1"/>
                </a:solidFill>
                <a:latin typeface="Poppins" pitchFamily="2" charset="77"/>
                <a:ea typeface="League Spartan" charset="0"/>
                <a:cs typeface="Poppins" pitchFamily="2" charset="77"/>
              </a:rPr>
              <a:t>4</a:t>
            </a:r>
          </a:p>
        </p:txBody>
      </p:sp>
    </p:spTree>
    <p:extLst>
      <p:ext uri="{BB962C8B-B14F-4D97-AF65-F5344CB8AC3E}">
        <p14:creationId xmlns:p14="http://schemas.microsoft.com/office/powerpoint/2010/main" val="807998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979C00-C05E-4AC6-AD04-B25D37A123CF}"/>
              </a:ext>
            </a:extLst>
          </p:cNvPr>
          <p:cNvSpPr/>
          <p:nvPr/>
        </p:nvSpPr>
        <p:spPr>
          <a:xfrm>
            <a:off x="1137795" y="1341344"/>
            <a:ext cx="9890270" cy="1231106"/>
          </a:xfrm>
          <a:prstGeom prst="rect">
            <a:avLst/>
          </a:prstGeom>
        </p:spPr>
        <p:txBody>
          <a:bodyPr wrap="square">
            <a:spAutoFit/>
          </a:bodyPr>
          <a:lstStyle/>
          <a:p>
            <a:r>
              <a:rPr lang="en-US" sz="2000" b="1" dirty="0"/>
              <a:t>Objective:</a:t>
            </a:r>
          </a:p>
          <a:p>
            <a:endParaRPr lang="en-US" b="1" dirty="0"/>
          </a:p>
          <a:p>
            <a:r>
              <a:rPr lang="en-US" dirty="0"/>
              <a:t>Reduce customer churn by identifying key drivers, improving customer experience, and increasing retention through data-driven strategies.</a:t>
            </a:r>
          </a:p>
        </p:txBody>
      </p:sp>
      <p:sp>
        <p:nvSpPr>
          <p:cNvPr id="5" name="Rectangle 4">
            <a:extLst>
              <a:ext uri="{FF2B5EF4-FFF2-40B4-BE49-F238E27FC236}">
                <a16:creationId xmlns:a16="http://schemas.microsoft.com/office/drawing/2014/main" id="{106F9898-0CD3-485C-A438-A9E55122F967}"/>
              </a:ext>
            </a:extLst>
          </p:cNvPr>
          <p:cNvSpPr/>
          <p:nvPr/>
        </p:nvSpPr>
        <p:spPr>
          <a:xfrm>
            <a:off x="1503919" y="218123"/>
            <a:ext cx="9524146" cy="646331"/>
          </a:xfrm>
          <a:prstGeom prst="rect">
            <a:avLst/>
          </a:prstGeom>
        </p:spPr>
        <p:txBody>
          <a:bodyPr wrap="none">
            <a:spAutoFit/>
          </a:bodyPr>
          <a:lstStyle/>
          <a:p>
            <a:r>
              <a:rPr lang="en-US" sz="3600" dirty="0">
                <a:latin typeface="Lato-Light"/>
              </a:rPr>
              <a:t>Action Plan to Improve Customer Churn Rates</a:t>
            </a:r>
          </a:p>
        </p:txBody>
      </p:sp>
      <p:pic>
        <p:nvPicPr>
          <p:cNvPr id="7" name="Graphic 6" descr="Bullseye">
            <a:extLst>
              <a:ext uri="{FF2B5EF4-FFF2-40B4-BE49-F238E27FC236}">
                <a16:creationId xmlns:a16="http://schemas.microsoft.com/office/drawing/2014/main" id="{37B3DE60-C664-407E-B155-7959100BAA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2101" y="1185062"/>
            <a:ext cx="646331" cy="646331"/>
          </a:xfrm>
          <a:prstGeom prst="rect">
            <a:avLst/>
          </a:prstGeom>
        </p:spPr>
      </p:pic>
      <p:graphicFrame>
        <p:nvGraphicFramePr>
          <p:cNvPr id="8" name="Diagram 7">
            <a:extLst>
              <a:ext uri="{FF2B5EF4-FFF2-40B4-BE49-F238E27FC236}">
                <a16:creationId xmlns:a16="http://schemas.microsoft.com/office/drawing/2014/main" id="{5B290984-E1EF-4E0B-BBF5-165A986BC0C2}"/>
              </a:ext>
            </a:extLst>
          </p:cNvPr>
          <p:cNvGraphicFramePr/>
          <p:nvPr>
            <p:extLst>
              <p:ext uri="{D42A27DB-BD31-4B8C-83A1-F6EECF244321}">
                <p14:modId xmlns:p14="http://schemas.microsoft.com/office/powerpoint/2010/main" val="3700674815"/>
              </p:ext>
            </p:extLst>
          </p:nvPr>
        </p:nvGraphicFramePr>
        <p:xfrm>
          <a:off x="2418999" y="2761136"/>
          <a:ext cx="6557577" cy="38756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Rectangle 8">
            <a:extLst>
              <a:ext uri="{FF2B5EF4-FFF2-40B4-BE49-F238E27FC236}">
                <a16:creationId xmlns:a16="http://schemas.microsoft.com/office/drawing/2014/main" id="{29EC3062-9655-402A-8FDD-3DFD351A8B54}"/>
              </a:ext>
            </a:extLst>
          </p:cNvPr>
          <p:cNvSpPr/>
          <p:nvPr/>
        </p:nvSpPr>
        <p:spPr>
          <a:xfrm>
            <a:off x="1234457" y="4496370"/>
            <a:ext cx="942887" cy="400110"/>
          </a:xfrm>
          <a:prstGeom prst="rect">
            <a:avLst/>
          </a:prstGeom>
        </p:spPr>
        <p:txBody>
          <a:bodyPr wrap="none">
            <a:spAutoFit/>
          </a:bodyPr>
          <a:lstStyle/>
          <a:p>
            <a:r>
              <a:rPr lang="en-US" sz="2000" b="1" dirty="0"/>
              <a:t>Actions</a:t>
            </a:r>
          </a:p>
        </p:txBody>
      </p:sp>
      <p:pic>
        <p:nvPicPr>
          <p:cNvPr id="11" name="Graphic 10" descr="Clapper board">
            <a:extLst>
              <a:ext uri="{FF2B5EF4-FFF2-40B4-BE49-F238E27FC236}">
                <a16:creationId xmlns:a16="http://schemas.microsoft.com/office/drawing/2014/main" id="{4D3E13BF-63D6-460C-8953-633872C6276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2100" y="4339941"/>
            <a:ext cx="646331" cy="646331"/>
          </a:xfrm>
          <a:prstGeom prst="rect">
            <a:avLst/>
          </a:prstGeom>
        </p:spPr>
      </p:pic>
    </p:spTree>
    <p:extLst>
      <p:ext uri="{BB962C8B-B14F-4D97-AF65-F5344CB8AC3E}">
        <p14:creationId xmlns:p14="http://schemas.microsoft.com/office/powerpoint/2010/main" val="14856922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39135E-D85E-46FF-B1F8-63EB7D11B976}"/>
              </a:ext>
            </a:extLst>
          </p:cNvPr>
          <p:cNvSpPr/>
          <p:nvPr/>
        </p:nvSpPr>
        <p:spPr>
          <a:xfrm>
            <a:off x="295111" y="948798"/>
            <a:ext cx="10271185" cy="2400657"/>
          </a:xfrm>
          <a:prstGeom prst="rect">
            <a:avLst/>
          </a:prstGeom>
        </p:spPr>
        <p:txBody>
          <a:bodyPr wrap="square">
            <a:spAutoFit/>
          </a:bodyPr>
          <a:lstStyle/>
          <a:p>
            <a:r>
              <a:rPr lang="en-US" sz="2400" dirty="0">
                <a:latin typeface="Lato-Light"/>
              </a:rPr>
              <a:t>1. Improve Customer Satisfaction &amp; Engagement</a:t>
            </a:r>
          </a:p>
          <a:p>
            <a:endParaRPr lang="en-US" b="1" dirty="0">
              <a:latin typeface="Lato-Light"/>
            </a:endParaRPr>
          </a:p>
          <a:p>
            <a:r>
              <a:rPr lang="en-US" b="1" dirty="0">
                <a:latin typeface="Lato-Light"/>
              </a:rPr>
              <a:t>Action Steps:</a:t>
            </a:r>
            <a:endParaRPr lang="en-US" dirty="0">
              <a:latin typeface="Lato-Light"/>
            </a:endParaRPr>
          </a:p>
          <a:p>
            <a:pPr>
              <a:buFont typeface="Arial" panose="020B0604020202020204" pitchFamily="34" charset="0"/>
              <a:buChar char="•"/>
            </a:pPr>
            <a:r>
              <a:rPr lang="en-US" dirty="0">
                <a:latin typeface="Lato-Light"/>
              </a:rPr>
              <a:t>Conduct customer satisfaction surveys and analyze feedback.</a:t>
            </a:r>
          </a:p>
          <a:p>
            <a:pPr>
              <a:buFont typeface="Arial" panose="020B0604020202020204" pitchFamily="34" charset="0"/>
              <a:buChar char="•"/>
            </a:pPr>
            <a:r>
              <a:rPr lang="en-US" dirty="0">
                <a:latin typeface="Lato-Light"/>
              </a:rPr>
              <a:t>Improve customer technical support responsiveness, reducing complaint resolution time.</a:t>
            </a:r>
          </a:p>
          <a:p>
            <a:pPr>
              <a:buFont typeface="Arial" panose="020B0604020202020204" pitchFamily="34" charset="0"/>
              <a:buChar char="•"/>
            </a:pPr>
            <a:endParaRPr lang="en-US" dirty="0">
              <a:latin typeface="Lato-Light"/>
            </a:endParaRPr>
          </a:p>
          <a:p>
            <a:r>
              <a:rPr lang="en-US" b="1" dirty="0">
                <a:latin typeface="Lato-Light"/>
              </a:rPr>
              <a:t>Expected Outcome:</a:t>
            </a:r>
            <a:br>
              <a:rPr lang="en-US" dirty="0">
                <a:latin typeface="Lato-Light"/>
              </a:rPr>
            </a:br>
            <a:r>
              <a:rPr lang="en-US" dirty="0">
                <a:latin typeface="Lato-Light"/>
              </a:rPr>
              <a:t>Stronger relationships with customers, reducing dissatisfaction-driven churn.</a:t>
            </a:r>
          </a:p>
        </p:txBody>
      </p:sp>
      <p:sp>
        <p:nvSpPr>
          <p:cNvPr id="5" name="Rectangle 4">
            <a:extLst>
              <a:ext uri="{FF2B5EF4-FFF2-40B4-BE49-F238E27FC236}">
                <a16:creationId xmlns:a16="http://schemas.microsoft.com/office/drawing/2014/main" id="{7797B77B-9556-47EF-9CB0-B78799F9B5DA}"/>
              </a:ext>
            </a:extLst>
          </p:cNvPr>
          <p:cNvSpPr/>
          <p:nvPr/>
        </p:nvSpPr>
        <p:spPr>
          <a:xfrm>
            <a:off x="295111" y="3740235"/>
            <a:ext cx="9970323" cy="2677656"/>
          </a:xfrm>
          <a:prstGeom prst="rect">
            <a:avLst/>
          </a:prstGeom>
        </p:spPr>
        <p:txBody>
          <a:bodyPr wrap="square">
            <a:spAutoFit/>
          </a:bodyPr>
          <a:lstStyle/>
          <a:p>
            <a:r>
              <a:rPr lang="en-US" sz="2400" dirty="0">
                <a:latin typeface="Lato-Light"/>
              </a:rPr>
              <a:t>2 Optimize Pricing &amp; Service Offerings</a:t>
            </a:r>
          </a:p>
          <a:p>
            <a:endParaRPr lang="en-US" b="1" dirty="0">
              <a:latin typeface="Lato-Light"/>
            </a:endParaRPr>
          </a:p>
          <a:p>
            <a:r>
              <a:rPr lang="en-US" b="1" dirty="0">
                <a:latin typeface="Lato-Light"/>
              </a:rPr>
              <a:t>Action Steps:</a:t>
            </a:r>
            <a:endParaRPr lang="en-US" dirty="0">
              <a:latin typeface="Lato-Light"/>
            </a:endParaRPr>
          </a:p>
          <a:p>
            <a:pPr>
              <a:buFont typeface="Arial" panose="020B0604020202020204" pitchFamily="34" charset="0"/>
              <a:buChar char="•"/>
            </a:pPr>
            <a:r>
              <a:rPr lang="en-US" dirty="0">
                <a:latin typeface="Lato-Light"/>
              </a:rPr>
              <a:t>Create more new pricing models.</a:t>
            </a:r>
          </a:p>
          <a:p>
            <a:pPr>
              <a:buFont typeface="Arial" panose="020B0604020202020204" pitchFamily="34" charset="0"/>
              <a:buChar char="•"/>
            </a:pPr>
            <a:r>
              <a:rPr lang="en-US" dirty="0">
                <a:latin typeface="Lato-Light"/>
              </a:rPr>
              <a:t>Offer discounts or loyalty programs to customers at risk of churning.</a:t>
            </a:r>
          </a:p>
          <a:p>
            <a:pPr>
              <a:buFont typeface="Arial" panose="020B0604020202020204" pitchFamily="34" charset="0"/>
              <a:buChar char="•"/>
            </a:pPr>
            <a:r>
              <a:rPr lang="en-US" dirty="0">
                <a:latin typeface="Lato-Light"/>
              </a:rPr>
              <a:t>Introduce flexible contract options (e.g., month-to-month vs. long-term).</a:t>
            </a:r>
          </a:p>
          <a:p>
            <a:pPr>
              <a:buFont typeface="Arial" panose="020B0604020202020204" pitchFamily="34" charset="0"/>
              <a:buChar char="•"/>
            </a:pPr>
            <a:endParaRPr lang="en-US" dirty="0">
              <a:latin typeface="Lato-Light"/>
            </a:endParaRPr>
          </a:p>
          <a:p>
            <a:r>
              <a:rPr lang="en-US" b="1" dirty="0">
                <a:latin typeface="Lato-Light"/>
              </a:rPr>
              <a:t>Expected Outcome:</a:t>
            </a:r>
            <a:br>
              <a:rPr lang="en-US" dirty="0">
                <a:latin typeface="Lato-Light"/>
              </a:rPr>
            </a:br>
            <a:r>
              <a:rPr lang="en-US" dirty="0">
                <a:latin typeface="Lato-Light"/>
              </a:rPr>
              <a:t>A competitive pricing strategy that retains price-sensitive customers.</a:t>
            </a:r>
          </a:p>
        </p:txBody>
      </p:sp>
      <p:cxnSp>
        <p:nvCxnSpPr>
          <p:cNvPr id="6" name="Straight Connector 5">
            <a:extLst>
              <a:ext uri="{FF2B5EF4-FFF2-40B4-BE49-F238E27FC236}">
                <a16:creationId xmlns:a16="http://schemas.microsoft.com/office/drawing/2014/main" id="{902D3772-EDF8-4A69-9976-5BF942F864AF}"/>
              </a:ext>
            </a:extLst>
          </p:cNvPr>
          <p:cNvCxnSpPr>
            <a:cxnSpLocks/>
          </p:cNvCxnSpPr>
          <p:nvPr/>
        </p:nvCxnSpPr>
        <p:spPr>
          <a:xfrm>
            <a:off x="4011283" y="3567058"/>
            <a:ext cx="4169434" cy="18517"/>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7A252351-08C7-4230-8C36-6276B821A478}"/>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Actions</a:t>
            </a:r>
          </a:p>
        </p:txBody>
      </p:sp>
    </p:spTree>
    <p:extLst>
      <p:ext uri="{BB962C8B-B14F-4D97-AF65-F5344CB8AC3E}">
        <p14:creationId xmlns:p14="http://schemas.microsoft.com/office/powerpoint/2010/main" val="1612770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02D3772-EDF8-4A69-9976-5BF942F864AF}"/>
              </a:ext>
            </a:extLst>
          </p:cNvPr>
          <p:cNvCxnSpPr>
            <a:cxnSpLocks/>
          </p:cNvCxnSpPr>
          <p:nvPr/>
        </p:nvCxnSpPr>
        <p:spPr>
          <a:xfrm>
            <a:off x="4011283" y="4015636"/>
            <a:ext cx="4169434" cy="18517"/>
          </a:xfrm>
          <a:prstGeom prst="line">
            <a:avLst/>
          </a:prstGeom>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31A78624-6CA0-4558-A294-DD04835A6759}"/>
              </a:ext>
            </a:extLst>
          </p:cNvPr>
          <p:cNvSpPr/>
          <p:nvPr/>
        </p:nvSpPr>
        <p:spPr>
          <a:xfrm>
            <a:off x="295111" y="1023496"/>
            <a:ext cx="11488572" cy="2769989"/>
          </a:xfrm>
          <a:prstGeom prst="rect">
            <a:avLst/>
          </a:prstGeom>
        </p:spPr>
        <p:txBody>
          <a:bodyPr wrap="square">
            <a:spAutoFit/>
          </a:bodyPr>
          <a:lstStyle/>
          <a:p>
            <a:r>
              <a:rPr lang="en-US" sz="2400" dirty="0">
                <a:latin typeface="Lato-Light"/>
              </a:rPr>
              <a:t>3. Strengthen Retention Strategies</a:t>
            </a:r>
          </a:p>
          <a:p>
            <a:endParaRPr lang="en-US" sz="2400" b="1" dirty="0">
              <a:latin typeface="Lato-Light"/>
            </a:endParaRPr>
          </a:p>
          <a:p>
            <a:r>
              <a:rPr lang="en-US" b="1" dirty="0">
                <a:latin typeface="Lato-Light"/>
              </a:rPr>
              <a:t>Action Steps:</a:t>
            </a:r>
            <a:endParaRPr lang="en-US" dirty="0">
              <a:latin typeface="Lato-Light"/>
            </a:endParaRPr>
          </a:p>
          <a:p>
            <a:pPr>
              <a:buFont typeface="Arial" panose="020B0604020202020204" pitchFamily="34" charset="0"/>
              <a:buChar char="•"/>
            </a:pPr>
            <a:r>
              <a:rPr lang="en-US" dirty="0">
                <a:latin typeface="Lato-Light"/>
              </a:rPr>
              <a:t>Implement a proactive retention program targeting customers with high churn probability.</a:t>
            </a:r>
          </a:p>
          <a:p>
            <a:pPr>
              <a:buFont typeface="Arial" panose="020B0604020202020204" pitchFamily="34" charset="0"/>
              <a:buChar char="•"/>
            </a:pPr>
            <a:r>
              <a:rPr lang="en-US" dirty="0">
                <a:latin typeface="Lato-Light"/>
              </a:rPr>
              <a:t>Launch exclusive offers for long-term customers, such as free service upgrades.</a:t>
            </a:r>
          </a:p>
          <a:p>
            <a:pPr>
              <a:buFont typeface="Arial" panose="020B0604020202020204" pitchFamily="34" charset="0"/>
              <a:buChar char="•"/>
            </a:pPr>
            <a:r>
              <a:rPr lang="en-US" dirty="0">
                <a:latin typeface="Lato-Light"/>
              </a:rPr>
              <a:t>Monitor early warning signs (e.g., reduced usage, late payments) and reach out before customers leave.</a:t>
            </a:r>
          </a:p>
          <a:p>
            <a:pPr>
              <a:buFont typeface="Arial" panose="020B0604020202020204" pitchFamily="34" charset="0"/>
              <a:buChar char="•"/>
            </a:pPr>
            <a:endParaRPr lang="en-US" dirty="0">
              <a:latin typeface="Lato-Light"/>
            </a:endParaRPr>
          </a:p>
          <a:p>
            <a:r>
              <a:rPr lang="en-US" b="1" dirty="0">
                <a:latin typeface="Lato-Light"/>
              </a:rPr>
              <a:t>Expected Outcome:</a:t>
            </a:r>
            <a:br>
              <a:rPr lang="en-US" dirty="0">
                <a:latin typeface="Lato-Light"/>
              </a:rPr>
            </a:br>
            <a:r>
              <a:rPr lang="en-US" dirty="0">
                <a:latin typeface="Lato-Light"/>
              </a:rPr>
              <a:t>Increased retention of high-value customers through proactive engagement.</a:t>
            </a:r>
          </a:p>
        </p:txBody>
      </p:sp>
      <p:sp>
        <p:nvSpPr>
          <p:cNvPr id="7" name="Rectangle 6">
            <a:extLst>
              <a:ext uri="{FF2B5EF4-FFF2-40B4-BE49-F238E27FC236}">
                <a16:creationId xmlns:a16="http://schemas.microsoft.com/office/drawing/2014/main" id="{E5054ED5-B55E-435D-8430-483CB8FB0D71}"/>
              </a:ext>
            </a:extLst>
          </p:cNvPr>
          <p:cNvSpPr/>
          <p:nvPr/>
        </p:nvSpPr>
        <p:spPr>
          <a:xfrm>
            <a:off x="295111" y="4213167"/>
            <a:ext cx="11488572" cy="2400657"/>
          </a:xfrm>
          <a:prstGeom prst="rect">
            <a:avLst/>
          </a:prstGeom>
        </p:spPr>
        <p:txBody>
          <a:bodyPr wrap="square">
            <a:spAutoFit/>
          </a:bodyPr>
          <a:lstStyle/>
          <a:p>
            <a:r>
              <a:rPr lang="en-US" sz="2400" dirty="0">
                <a:latin typeface="Lato-Light"/>
              </a:rPr>
              <a:t>4. Enhance Customer Onboarding</a:t>
            </a:r>
          </a:p>
          <a:p>
            <a:endParaRPr lang="en-US" b="1" dirty="0">
              <a:latin typeface="Lato-Light"/>
            </a:endParaRPr>
          </a:p>
          <a:p>
            <a:r>
              <a:rPr lang="en-US" b="1" dirty="0">
                <a:latin typeface="Lato-Light"/>
              </a:rPr>
              <a:t>Action Steps:</a:t>
            </a:r>
            <a:endParaRPr lang="en-US" dirty="0">
              <a:latin typeface="Lato-Light"/>
            </a:endParaRPr>
          </a:p>
          <a:p>
            <a:pPr>
              <a:buFont typeface="Arial" panose="020B0604020202020204" pitchFamily="34" charset="0"/>
              <a:buChar char="•"/>
            </a:pPr>
            <a:r>
              <a:rPr lang="en-US" dirty="0">
                <a:latin typeface="Lato-Light"/>
              </a:rPr>
              <a:t>Improve the onboarding process and make it easy with clear instructions and tutorials for new customers.</a:t>
            </a:r>
          </a:p>
          <a:p>
            <a:pPr>
              <a:buFont typeface="Arial" panose="020B0604020202020204" pitchFamily="34" charset="0"/>
              <a:buChar char="•"/>
            </a:pPr>
            <a:r>
              <a:rPr lang="en-US" dirty="0">
                <a:latin typeface="Lato-Light"/>
              </a:rPr>
              <a:t>Conduct welcome calls or emails to ensure customers are fully aware of available services.</a:t>
            </a:r>
          </a:p>
          <a:p>
            <a:pPr>
              <a:buFont typeface="Arial" panose="020B0604020202020204" pitchFamily="34" charset="0"/>
              <a:buChar char="•"/>
            </a:pPr>
            <a:endParaRPr lang="en-US" dirty="0">
              <a:latin typeface="Lato-Light"/>
            </a:endParaRPr>
          </a:p>
          <a:p>
            <a:r>
              <a:rPr lang="en-US" b="1" dirty="0">
                <a:latin typeface="Lato-Light"/>
              </a:rPr>
              <a:t>Expected Outcome:</a:t>
            </a:r>
            <a:br>
              <a:rPr lang="en-US" dirty="0">
                <a:latin typeface="Lato-Light"/>
              </a:rPr>
            </a:br>
            <a:r>
              <a:rPr lang="en-US" dirty="0">
                <a:latin typeface="Lato-Light"/>
              </a:rPr>
              <a:t>Higher initial engagement, reducing early-stage churn and increased tenure durations.</a:t>
            </a:r>
          </a:p>
        </p:txBody>
      </p:sp>
      <p:sp>
        <p:nvSpPr>
          <p:cNvPr id="8" name="TextBox 7">
            <a:extLst>
              <a:ext uri="{FF2B5EF4-FFF2-40B4-BE49-F238E27FC236}">
                <a16:creationId xmlns:a16="http://schemas.microsoft.com/office/drawing/2014/main" id="{F82C8C49-EEAD-46F6-B90F-AC035EFA5652}"/>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Actions</a:t>
            </a:r>
          </a:p>
        </p:txBody>
      </p:sp>
    </p:spTree>
    <p:extLst>
      <p:ext uri="{BB962C8B-B14F-4D97-AF65-F5344CB8AC3E}">
        <p14:creationId xmlns:p14="http://schemas.microsoft.com/office/powerpoint/2010/main" val="30287591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02D3772-EDF8-4A69-9976-5BF942F864AF}"/>
              </a:ext>
            </a:extLst>
          </p:cNvPr>
          <p:cNvCxnSpPr>
            <a:cxnSpLocks/>
          </p:cNvCxnSpPr>
          <p:nvPr/>
        </p:nvCxnSpPr>
        <p:spPr>
          <a:xfrm>
            <a:off x="4011283" y="3998383"/>
            <a:ext cx="4169434" cy="18517"/>
          </a:xfrm>
          <a:prstGeom prst="line">
            <a:avLst/>
          </a:prstGeom>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31A78624-6CA0-4558-A294-DD04835A6759}"/>
              </a:ext>
            </a:extLst>
          </p:cNvPr>
          <p:cNvSpPr/>
          <p:nvPr/>
        </p:nvSpPr>
        <p:spPr>
          <a:xfrm>
            <a:off x="295111" y="1023496"/>
            <a:ext cx="11488572" cy="2708434"/>
          </a:xfrm>
          <a:prstGeom prst="rect">
            <a:avLst/>
          </a:prstGeom>
        </p:spPr>
        <p:txBody>
          <a:bodyPr wrap="square">
            <a:spAutoFit/>
          </a:bodyPr>
          <a:lstStyle/>
          <a:p>
            <a:r>
              <a:rPr lang="en-US" sz="2400" dirty="0">
                <a:latin typeface="Lato-Light"/>
              </a:rPr>
              <a:t>5. Improve Service Quality &amp; Offer Additional Value</a:t>
            </a:r>
          </a:p>
          <a:p>
            <a:endParaRPr lang="en-US" sz="2000" b="1" dirty="0">
              <a:latin typeface="Lato-Light"/>
            </a:endParaRPr>
          </a:p>
          <a:p>
            <a:r>
              <a:rPr lang="en-US" b="1" dirty="0">
                <a:latin typeface="Lato-Light"/>
              </a:rPr>
              <a:t>Action Steps:</a:t>
            </a:r>
            <a:endParaRPr lang="en-US" dirty="0">
              <a:latin typeface="Lato-Light"/>
            </a:endParaRPr>
          </a:p>
          <a:p>
            <a:pPr marL="285750" indent="-285750">
              <a:buFont typeface="Arial" panose="020B0604020202020204" pitchFamily="34" charset="0"/>
              <a:buChar char="•"/>
            </a:pPr>
            <a:r>
              <a:rPr lang="en-US" dirty="0">
                <a:latin typeface="Lato-Light"/>
              </a:rPr>
              <a:t>Analyze service performance metrics (e.g., downtime, speed, quality issues).</a:t>
            </a:r>
          </a:p>
          <a:p>
            <a:pPr marL="285750" indent="-285750">
              <a:buFont typeface="Arial" panose="020B0604020202020204" pitchFamily="34" charset="0"/>
              <a:buChar char="•"/>
            </a:pPr>
            <a:r>
              <a:rPr lang="en-US" dirty="0">
                <a:latin typeface="Lato-Light"/>
              </a:rPr>
              <a:t>Invest in infrastructure improvements for better reliability.</a:t>
            </a:r>
          </a:p>
          <a:p>
            <a:pPr marL="285750" indent="-285750">
              <a:buFont typeface="Arial" panose="020B0604020202020204" pitchFamily="34" charset="0"/>
              <a:buChar char="•"/>
            </a:pPr>
            <a:r>
              <a:rPr lang="en-US" dirty="0">
                <a:latin typeface="Lato-Light"/>
              </a:rPr>
              <a:t>Introduce value-added services such as premium support or exclusive content.</a:t>
            </a:r>
          </a:p>
          <a:p>
            <a:pPr marL="285750" indent="-285750">
              <a:buFont typeface="Arial" panose="020B0604020202020204" pitchFamily="34" charset="0"/>
              <a:buChar char="•"/>
            </a:pPr>
            <a:endParaRPr lang="en-US" dirty="0">
              <a:latin typeface="Lato-Light"/>
            </a:endParaRPr>
          </a:p>
          <a:p>
            <a:r>
              <a:rPr lang="en-US" b="1" dirty="0">
                <a:latin typeface="Lato-Light"/>
              </a:rPr>
              <a:t>Expected Outcome:</a:t>
            </a:r>
            <a:br>
              <a:rPr lang="en-US" dirty="0">
                <a:latin typeface="Lato-Light"/>
              </a:rPr>
            </a:br>
            <a:r>
              <a:rPr lang="en-US" dirty="0">
                <a:latin typeface="Lato-Light"/>
              </a:rPr>
              <a:t>Enhanced customer satisfaction, making customers less likely to switch to competitors.</a:t>
            </a:r>
          </a:p>
        </p:txBody>
      </p:sp>
      <p:sp>
        <p:nvSpPr>
          <p:cNvPr id="7" name="Rectangle 6">
            <a:extLst>
              <a:ext uri="{FF2B5EF4-FFF2-40B4-BE49-F238E27FC236}">
                <a16:creationId xmlns:a16="http://schemas.microsoft.com/office/drawing/2014/main" id="{E5054ED5-B55E-435D-8430-483CB8FB0D71}"/>
              </a:ext>
            </a:extLst>
          </p:cNvPr>
          <p:cNvSpPr/>
          <p:nvPr/>
        </p:nvSpPr>
        <p:spPr>
          <a:xfrm>
            <a:off x="295111" y="4213167"/>
            <a:ext cx="11488572" cy="2492990"/>
          </a:xfrm>
          <a:prstGeom prst="rect">
            <a:avLst/>
          </a:prstGeom>
        </p:spPr>
        <p:txBody>
          <a:bodyPr wrap="square">
            <a:spAutoFit/>
          </a:bodyPr>
          <a:lstStyle/>
          <a:p>
            <a:r>
              <a:rPr lang="en-US" sz="2400" dirty="0">
                <a:latin typeface="Lato-Light"/>
              </a:rPr>
              <a:t>6. Leverage Data &amp; Predictive Analytics</a:t>
            </a:r>
          </a:p>
          <a:p>
            <a:endParaRPr lang="en-US" sz="2400" b="1" dirty="0"/>
          </a:p>
          <a:p>
            <a:r>
              <a:rPr lang="en-US" b="1" dirty="0">
                <a:latin typeface="Lato-Light"/>
              </a:rPr>
              <a:t>Action Steps:</a:t>
            </a:r>
            <a:endParaRPr lang="en-US" dirty="0">
              <a:latin typeface="Lato-Light"/>
            </a:endParaRPr>
          </a:p>
          <a:p>
            <a:pPr marL="285750" indent="-285750">
              <a:buFont typeface="Arial" panose="020B0604020202020204" pitchFamily="34" charset="0"/>
              <a:buChar char="•"/>
            </a:pPr>
            <a:r>
              <a:rPr lang="en-US" dirty="0">
                <a:latin typeface="Lato-Light"/>
              </a:rPr>
              <a:t>Continuously monitor churn trends using dashboards in Power BI or other analytics tools.</a:t>
            </a:r>
          </a:p>
          <a:p>
            <a:pPr marL="285750" indent="-285750">
              <a:buFont typeface="Arial" panose="020B0604020202020204" pitchFamily="34" charset="0"/>
              <a:buChar char="•"/>
            </a:pPr>
            <a:r>
              <a:rPr lang="en-US" dirty="0">
                <a:latin typeface="Lato-Light"/>
              </a:rPr>
              <a:t>Use machine learning models to predict churn and take early action.</a:t>
            </a:r>
          </a:p>
          <a:p>
            <a:endParaRPr lang="en-US" dirty="0">
              <a:latin typeface="Lato-Light"/>
            </a:endParaRPr>
          </a:p>
          <a:p>
            <a:r>
              <a:rPr lang="en-US" b="1" dirty="0">
                <a:latin typeface="Lato-Light"/>
              </a:rPr>
              <a:t>Expected Outcome:</a:t>
            </a:r>
            <a:br>
              <a:rPr lang="en-US" dirty="0">
                <a:latin typeface="Lato-Light"/>
              </a:rPr>
            </a:br>
            <a:r>
              <a:rPr lang="en-US" dirty="0">
                <a:latin typeface="Lato-Light"/>
              </a:rPr>
              <a:t>A data-driven approach to churn management, allowing for quick and effective interventions.</a:t>
            </a:r>
          </a:p>
        </p:txBody>
      </p:sp>
      <p:sp>
        <p:nvSpPr>
          <p:cNvPr id="8" name="TextBox 7">
            <a:extLst>
              <a:ext uri="{FF2B5EF4-FFF2-40B4-BE49-F238E27FC236}">
                <a16:creationId xmlns:a16="http://schemas.microsoft.com/office/drawing/2014/main" id="{A0D73F36-A713-498F-B2C4-325024D45F50}"/>
              </a:ext>
            </a:extLst>
          </p:cNvPr>
          <p:cNvSpPr txBox="1"/>
          <p:nvPr/>
        </p:nvSpPr>
        <p:spPr>
          <a:xfrm>
            <a:off x="3049465" y="144660"/>
            <a:ext cx="6093069" cy="510778"/>
          </a:xfrm>
          <a:prstGeom prst="roundRect">
            <a:avLst/>
          </a:prstGeom>
          <a:solidFill>
            <a:schemeClr val="bg1">
              <a:lumMod val="85000"/>
            </a:schemeClr>
          </a:solidFill>
          <a:ln>
            <a:solidFill>
              <a:schemeClr val="tx1"/>
            </a:solidFill>
          </a:ln>
        </p:spPr>
        <p:txBody>
          <a:bodyPr wrap="square" rtlCol="0" anchor="b" anchorCtr="0">
            <a:spAutoFit/>
          </a:bodyPr>
          <a:lstStyle/>
          <a:p>
            <a:pPr algn="ctr"/>
            <a:r>
              <a:rPr lang="en-US" sz="2400" b="1" dirty="0">
                <a:latin typeface="Poppins" pitchFamily="2" charset="77"/>
                <a:ea typeface="League Spartan" charset="0"/>
                <a:cs typeface="Poppins" pitchFamily="2" charset="77"/>
              </a:rPr>
              <a:t>Actions</a:t>
            </a:r>
          </a:p>
        </p:txBody>
      </p:sp>
    </p:spTree>
    <p:extLst>
      <p:ext uri="{BB962C8B-B14F-4D97-AF65-F5344CB8AC3E}">
        <p14:creationId xmlns:p14="http://schemas.microsoft.com/office/powerpoint/2010/main" val="15837406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D1B7D-1240-2E47-39A9-08C5E158D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9A375B-9224-4449-FF57-9FA6C54F1310}"/>
              </a:ext>
            </a:extLst>
          </p:cNvPr>
          <p:cNvSpPr>
            <a:spLocks noGrp="1"/>
          </p:cNvSpPr>
          <p:nvPr>
            <p:ph type="title"/>
          </p:nvPr>
        </p:nvSpPr>
        <p:spPr/>
        <p:txBody>
          <a:bodyPr/>
          <a:lstStyle/>
          <a:p>
            <a:r>
              <a:rPr lang="en-US" dirty="0"/>
              <a:t>KEY INSIGHTS/ CONCLUSIONS</a:t>
            </a:r>
          </a:p>
        </p:txBody>
      </p:sp>
      <p:sp>
        <p:nvSpPr>
          <p:cNvPr id="3" name="Content Placeholder 2">
            <a:extLst>
              <a:ext uri="{FF2B5EF4-FFF2-40B4-BE49-F238E27FC236}">
                <a16:creationId xmlns:a16="http://schemas.microsoft.com/office/drawing/2014/main" id="{4F68DF5C-2367-3F56-A4C9-72A6C325827A}"/>
              </a:ext>
            </a:extLst>
          </p:cNvPr>
          <p:cNvSpPr>
            <a:spLocks noGrp="1"/>
          </p:cNvSpPr>
          <p:nvPr>
            <p:ph idx="1"/>
          </p:nvPr>
        </p:nvSpPr>
        <p:spPr/>
        <p:txBody>
          <a:bodyPr/>
          <a:lstStyle/>
          <a:p>
            <a:r>
              <a:rPr lang="en-US" dirty="0"/>
              <a:t>The Customer Churn Prediction and Analysis project aims to build a machine learning model that identifies customers at risk of leaving, helping businesses take action to retain them. This step-by-step process focuses on data exploration, feature engineering, model development, deployment, and continuous monitoring to ensure that the churn prediction system remains effective over time.</a:t>
            </a:r>
          </a:p>
          <a:p>
            <a:endParaRPr lang="en-US" dirty="0"/>
          </a:p>
        </p:txBody>
      </p:sp>
    </p:spTree>
    <p:extLst>
      <p:ext uri="{BB962C8B-B14F-4D97-AF65-F5344CB8AC3E}">
        <p14:creationId xmlns:p14="http://schemas.microsoft.com/office/powerpoint/2010/main" val="1241294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Placeholder 43">
            <a:extLst>
              <a:ext uri="{FF2B5EF4-FFF2-40B4-BE49-F238E27FC236}">
                <a16:creationId xmlns:a16="http://schemas.microsoft.com/office/drawing/2014/main" id="{17587D1B-4629-4E4C-8DD3-806F2BC46332}"/>
              </a:ext>
            </a:extLst>
          </p:cNvPr>
          <p:cNvPicPr>
            <a:picLocks noGrp="1" noChangeAspect="1"/>
          </p:cNvPicPr>
          <p:nvPr>
            <p:ph type="pic" sz="quarter" idx="10"/>
          </p:nvPr>
        </p:nvPicPr>
        <p:blipFill rotWithShape="1">
          <a:blip r:embed="rId2" cstate="hqprint">
            <a:extLst>
              <a:ext uri="{28A0092B-C50C-407E-A947-70E740481C1C}">
                <a14:useLocalDpi xmlns:a14="http://schemas.microsoft.com/office/drawing/2010/main"/>
              </a:ext>
            </a:extLst>
          </a:blip>
          <a:srcRect/>
          <a:stretch/>
        </p:blipFill>
        <p:spPr>
          <a:xfrm>
            <a:off x="1588" y="0"/>
            <a:ext cx="12188825" cy="3429000"/>
          </a:xfrm>
        </p:spPr>
      </p:pic>
      <p:sp>
        <p:nvSpPr>
          <p:cNvPr id="6" name="TextBox 5">
            <a:extLst>
              <a:ext uri="{FF2B5EF4-FFF2-40B4-BE49-F238E27FC236}">
                <a16:creationId xmlns:a16="http://schemas.microsoft.com/office/drawing/2014/main" id="{9248BD4A-F2AE-3C4F-8C1B-19494841AEC4}"/>
              </a:ext>
            </a:extLst>
          </p:cNvPr>
          <p:cNvSpPr txBox="1"/>
          <p:nvPr/>
        </p:nvSpPr>
        <p:spPr>
          <a:xfrm>
            <a:off x="1588" y="4566306"/>
            <a:ext cx="12190412" cy="1107996"/>
          </a:xfrm>
          <a:prstGeom prst="rect">
            <a:avLst/>
          </a:prstGeom>
          <a:noFill/>
        </p:spPr>
        <p:txBody>
          <a:bodyPr wrap="square" rtlCol="0">
            <a:spAutoFit/>
          </a:bodyPr>
          <a:lstStyle/>
          <a:p>
            <a:pPr algn="ctr"/>
            <a:r>
              <a:rPr lang="en-US" sz="6600" b="1" dirty="0">
                <a:latin typeface="Poppins" pitchFamily="2" charset="77"/>
                <a:ea typeface="League Spartan" charset="0"/>
                <a:cs typeface="Poppins" pitchFamily="2" charset="77"/>
              </a:rPr>
              <a:t>Thank You</a:t>
            </a:r>
          </a:p>
        </p:txBody>
      </p:sp>
    </p:spTree>
    <p:extLst>
      <p:ext uri="{BB962C8B-B14F-4D97-AF65-F5344CB8AC3E}">
        <p14:creationId xmlns:p14="http://schemas.microsoft.com/office/powerpoint/2010/main" val="1402833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1263</TotalTime>
  <Words>2347</Words>
  <Application>Microsoft Office PowerPoint</Application>
  <PresentationFormat>Widescreen</PresentationFormat>
  <Paragraphs>363</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Calibri Light</vt:lpstr>
      <vt:lpstr>Inter</vt:lpstr>
      <vt:lpstr>Lato-Light</vt:lpstr>
      <vt:lpstr>Poppins</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MILESTONE #3</vt:lpstr>
      <vt:lpstr>MILESTONE #4</vt:lpstr>
      <vt:lpstr>MILESTONE #5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INSIGHTS/ CONCLUSIONS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Esmaiel</dc:creator>
  <cp:lastModifiedBy>mohamed rabie</cp:lastModifiedBy>
  <cp:revision>154</cp:revision>
  <dcterms:created xsi:type="dcterms:W3CDTF">2025-02-27T10:56:25Z</dcterms:created>
  <dcterms:modified xsi:type="dcterms:W3CDTF">2026-05-21T15:27:07Z</dcterms:modified>
</cp:coreProperties>
</file>